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4" r:id="rId7"/>
    <p:sldId id="263" r:id="rId8"/>
    <p:sldId id="276" r:id="rId9"/>
    <p:sldId id="264" r:id="rId10"/>
    <p:sldId id="265" r:id="rId11"/>
    <p:sldId id="266" r:id="rId12"/>
    <p:sldId id="267" r:id="rId13"/>
    <p:sldId id="268" r:id="rId14"/>
    <p:sldId id="269" r:id="rId15"/>
    <p:sldId id="270" r:id="rId16"/>
    <p:sldId id="271" r:id="rId17"/>
    <p:sldId id="272" r:id="rId18"/>
    <p:sldId id="275"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494" autoAdjust="0"/>
  </p:normalViewPr>
  <p:slideViewPr>
    <p:cSldViewPr snapToGrid="0" snapToObjects="1">
      <p:cViewPr varScale="1">
        <p:scale>
          <a:sx n="82" d="100"/>
          <a:sy n="82" d="100"/>
        </p:scale>
        <p:origin x="6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88BE4-86B7-4444-86B3-A5D7C1EE4C96}" type="datetimeFigureOut">
              <a:rPr lang="en-GB" smtClean="0"/>
              <a:t>08/10/2026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003F3C-5518-4DCB-9012-B948ED31D7FB}" type="slidenum">
              <a:rPr lang="en-GB" smtClean="0"/>
              <a:t>‹#›</a:t>
            </a:fld>
            <a:endParaRPr lang="en-GB"/>
          </a:p>
        </p:txBody>
      </p:sp>
    </p:spTree>
    <p:extLst>
      <p:ext uri="{BB962C8B-B14F-4D97-AF65-F5344CB8AC3E}">
        <p14:creationId xmlns:p14="http://schemas.microsoft.com/office/powerpoint/2010/main" val="347055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VO:</a:t>
            </a:r>
            <a:br>
              <a:rPr lang="en-GB" dirty="0"/>
            </a:br>
            <a:r>
              <a:rPr lang="en-GB" dirty="0"/>
              <a:t>“</a:t>
            </a:r>
            <a:r>
              <a:rPr lang="hi-IN" dirty="0"/>
              <a:t>अब आपकी बारी है। पहले इकाइयाँ, फिर दहाइयाँ हटाइए और सही नाव चुनिए।”</a:t>
            </a:r>
          </a:p>
          <a:p>
            <a:r>
              <a:rPr lang="en-GB" b="1" dirty="0"/>
              <a:t>(Number sentence: 55 – 43 = ?     ----    79 – 42 = ?     ----      65 – 23 = ?) </a:t>
            </a:r>
          </a:p>
          <a:p>
            <a:r>
              <a:rPr lang="en-GB" b="1" dirty="0"/>
              <a:t>Action:</a:t>
            </a:r>
            <a:br>
              <a:rPr lang="en-GB" dirty="0"/>
            </a:br>
            <a:r>
              <a:rPr lang="en-GB" dirty="0"/>
              <a:t>Child removes blocks → selects correct boat → remaining blocks auto-load → boat moves.</a:t>
            </a:r>
          </a:p>
          <a:p>
            <a:r>
              <a:rPr lang="en-GB" b="1" dirty="0"/>
              <a:t>Correct VO:</a:t>
            </a:r>
            <a:br>
              <a:rPr lang="en-GB" dirty="0"/>
            </a:br>
            <a:r>
              <a:rPr lang="en-GB" dirty="0"/>
              <a:t>“</a:t>
            </a:r>
            <a:r>
              <a:rPr lang="hi-IN" dirty="0"/>
              <a:t>बहुत बढ़िया! </a:t>
            </a:r>
            <a:r>
              <a:rPr lang="hi-IN"/>
              <a:t>आपने सही नाव चुनी।”</a:t>
            </a:r>
            <a:endParaRPr lang="en-GB" dirty="0"/>
          </a:p>
          <a:p>
            <a:r>
              <a:rPr lang="en-GB" b="1" dirty="0"/>
              <a:t>Wrong VO:</a:t>
            </a:r>
            <a:br>
              <a:rPr lang="en-GB" dirty="0"/>
            </a:br>
            <a:r>
              <a:rPr lang="en-GB" dirty="0"/>
              <a:t>In first wrong attempt: “</a:t>
            </a:r>
            <a:r>
              <a:rPr lang="hi-IN" dirty="0"/>
              <a:t>फिर से सोचिए। बचे हुए ब्लॉक्स गिनिए।”</a:t>
            </a:r>
          </a:p>
          <a:p>
            <a:r>
              <a:rPr lang="en-GB" dirty="0"/>
              <a:t>In second wrong attempt: “ </a:t>
            </a:r>
            <a:r>
              <a:rPr lang="hi-IN" dirty="0"/>
              <a:t>सही नाव यह है।”</a:t>
            </a:r>
            <a:endParaRPr lang="en-GB" dirty="0"/>
          </a:p>
        </p:txBody>
      </p:sp>
      <p:sp>
        <p:nvSpPr>
          <p:cNvPr id="4" name="Slide Number Placeholder 3"/>
          <p:cNvSpPr>
            <a:spLocks noGrp="1"/>
          </p:cNvSpPr>
          <p:nvPr>
            <p:ph type="sldNum" sz="quarter" idx="5"/>
          </p:nvPr>
        </p:nvSpPr>
        <p:spPr/>
        <p:txBody>
          <a:bodyPr/>
          <a:lstStyle/>
          <a:p>
            <a:fld id="{58003F3C-5518-4DCB-9012-B948ED31D7FB}" type="slidenum">
              <a:rPr lang="en-GB" smtClean="0"/>
              <a:t>18</a:t>
            </a:fld>
            <a:endParaRPr lang="en-GB"/>
          </a:p>
        </p:txBody>
      </p:sp>
    </p:spTree>
    <p:extLst>
      <p:ext uri="{BB962C8B-B14F-4D97-AF65-F5344CB8AC3E}">
        <p14:creationId xmlns:p14="http://schemas.microsoft.com/office/powerpoint/2010/main" val="1630180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MTG2A01_L04_S01 — दहाई और इकाई से घटाइए</a:t>
            </a:r>
          </a:p>
          <a:p>
            <a:pPr algn="ctr"/>
            <a:r>
              <a:rPr sz="1800">
                <a:solidFill>
                  <a:srgbClr val="5A6678"/>
                </a:solidFill>
              </a:rPr>
              <a:t>Page-by-page review · 16 pages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911535" cy="822960"/>
          </a:xfrm>
          <a:prstGeom prst="rect">
            <a:avLst/>
          </a:prstGeom>
          <a:noFill/>
        </p:spPr>
        <p:txBody>
          <a:bodyPr wrap="none">
            <a:spAutoFit/>
          </a:bodyPr>
          <a:lstStyle/>
          <a:p>
            <a:r>
              <a:rPr sz="2800" b="1">
                <a:solidFill>
                  <a:srgbClr val="0B3D8C"/>
                </a:solidFill>
              </a:rPr>
              <a:t>Overall recommendations &amp; open questions</a:t>
            </a:r>
          </a:p>
        </p:txBody>
      </p:sp>
      <p:sp>
        <p:nvSpPr>
          <p:cNvPr id="3" name="TextBox 2"/>
          <p:cNvSpPr txBox="1"/>
          <p:nvPr/>
        </p:nvSpPr>
        <p:spPr>
          <a:xfrm>
            <a:off x="822960" y="1463040"/>
            <a:ext cx="10545775" cy="4937760"/>
          </a:xfrm>
          <a:prstGeom prst="rect">
            <a:avLst/>
          </a:prstGeom>
          <a:noFill/>
        </p:spPr>
        <p:txBody>
          <a:bodyPr wrap="square">
            <a:spAutoFit/>
          </a:bodyPr>
          <a:lstStyle/>
          <a:p>
            <a:pPr>
              <a:spcAft>
                <a:spcPts val="800"/>
              </a:spcAft>
            </a:pPr>
            <a:r>
              <a:rPr sz="1700">
                <a:solidFill>
                  <a:srgbClr val="1B2A44"/>
                </a:solidFill>
              </a:rPr>
              <a:t>• WHAT IT TEACHES — subtracting a 2-digit number from a 2-digit number horizontally, with NO regrouping, using NCERT Grade-2 base-ten blocks: a दहाई is a ten-rod, an इकाई is a single cube. The rule the game drills: दहाई दहाई से, इकाई इकाई से.</a:t>
            </a:r>
          </a:p>
          <a:p>
            <a:pPr>
              <a:spcAft>
                <a:spcPts val="800"/>
              </a:spcAft>
            </a:pPr>
            <a:r>
              <a:rPr sz="1700">
                <a:solidFill>
                  <a:srgbClr val="1B2A44"/>
                </a:solidFill>
              </a:rPr>
              <a:t>• HOW IT IS SHAPED — 3 phases. Phase 1 the game teaches by itself and the child only watches (the shop story from SME pathway 2, told in blocks: 57, take 23, 34 left). Phase 2 the child does it with support. Phase 3 the child works alone with a hint ladder that always ends in a reveal. No score, no timer.</a:t>
            </a:r>
          </a:p>
          <a:p>
            <a:pPr>
              <a:spcAft>
                <a:spcPts val="800"/>
              </a:spcAft>
            </a:pPr>
            <a:r>
              <a:rPr sz="1700">
                <a:solidFill>
                  <a:srgbClr val="1B2A44"/>
                </a:solidFill>
              </a:rPr>
              <a:t>• SIX PROBLEMS, none repeated — teach 57-23=34 · guided 68-25=43 · practice 79-34=45, 86-52=34, 45-12=33, 96-41=55. Each one is finished across TWO screens (the इकाई column, then the दहाई column) and the horizontal sentence is shown and spoken every time.</a:t>
            </a:r>
          </a:p>
          <a:p>
            <a:pPr>
              <a:spcAft>
                <a:spcPts val="800"/>
              </a:spcAft>
            </a:pPr>
            <a:r>
              <a:rPr sz="1700">
                <a:solidFill>
                  <a:srgbClr val="1B2A44"/>
                </a:solidFill>
              </a:rPr>
              <a:t>• FOUR DIFFERENT HAND ACTIONS across 11 test screens, no family over 27% — tap-each-leftover-into-the-tray (ENACT ×3), BUILD the rods that remain (PRODUCE ×3), count-then-record the digit by dragging (DRAG ×3, both drag modes), and pick-the-group (PICK ×2).</a:t>
            </a:r>
          </a:p>
          <a:p>
            <a:pPr>
              <a:spcAft>
                <a:spcPts val="800"/>
              </a:spcAft>
            </a:pPr>
            <a:r>
              <a:rPr sz="1700">
                <a:solidFill>
                  <a:srgbClr val="1B2A44"/>
                </a:solidFill>
              </a:rPr>
              <a:t>• WHY IT WORKS COLUMN BY COLUMN — the row's own pre-skills are 'subtract 1-digit numbers' and 'compose/decompose numbers'. Every screen is therefore exactly one 1-digit subtraction in one place-value column, and the answer is composed back from दहाई + इकाई. It also keeps this skill strictly no-regrouping, which is what separates it from its sibling MTG2A01_L04_S02 (with borrow).</a:t>
            </a:r>
          </a:p>
          <a:p>
            <a:pPr>
              <a:spcAft>
                <a:spcPts val="800"/>
              </a:spcAft>
            </a:pPr>
            <a:r>
              <a:rPr sz="1700">
                <a:solidFill>
                  <a:srgbClr val="1B2A44"/>
                </a:solidFill>
              </a:rPr>
              <a:t>• ✅ FIXED BEFORE YOU SAW IT (self-review pass): the landing title showed only 'घटाओ' (the engine strips text after a ':') and was informal तुम in an आप game — retitled; the collecting tray was rendering as a raw 🧺 emoji — real tray art supplied; and the first cut of the story scenes had the leftmost rod clipped by the picture frame — recomposed with a safe margin.</a:t>
            </a:r>
          </a:p>
          <a:p>
            <a:pPr>
              <a:spcAft>
                <a:spcPts val="800"/>
              </a:spcAft>
            </a:pPr>
            <a:r>
              <a:rPr sz="1700">
                <a:solidFill>
                  <a:srgbClr val="1B2A44"/>
                </a:solidFill>
              </a:rPr>
              <a:t>• ℹ THE STORY PICTURES ARE COMPOSED, NOT AI-DRAWN — they are assembled pixel-by-pixel from the same rod and cube art the interactive screens use. Image models do not reliably draw an exact count, and in this lesson the count is the content, so 5 rods + 7 cubes is guaranteed, not hoped for.</a:t>
            </a:r>
          </a:p>
          <a:p>
            <a:pPr>
              <a:spcAft>
                <a:spcPts val="800"/>
              </a:spcAft>
            </a:pPr>
            <a:r>
              <a:rPr sz="1700">
                <a:solidFill>
                  <a:srgbClr val="1B2A44"/>
                </a:solidFill>
              </a:rPr>
              <a:t>• TWO THINGS THE KIT WOULD NOT LET ME FIX — (a) there is NO take-away/place-value mechanic in this kit: nothing renders rods and cubes together and nothing lets a child REMOVE blocks and watch the remainder compose, so the take-away is enacted in the Phase-1 story art and narrated on the interactive screens while the child handles the REMAINDER; (b) the BUILD screens say 'डालो' (informal) on the chip while the game is polite आप — hardcoded in the shared engine. The engine is read-only in this kit, so both are written up as engine tickets. Proposed mechanic SUBTRACT_BLOCKS is spec'd in the build script header — it would put a whole 2-digit subtraction on ONE enacted screen.</a:t>
            </a:r>
          </a:p>
          <a:p>
            <a:pPr>
              <a:spcAft>
                <a:spcPts val="800"/>
              </a:spcAft>
            </a:pPr>
            <a:r>
              <a:rPr sz="1700">
                <a:solidFill>
                  <a:srgbClr val="1B2A44"/>
                </a:solidFill>
              </a:rPr>
              <a:t>• ❓ FOR YOU TO DECIDE — (1) are दहाई / इकाई the words your Grade 2 classrooms use, or do you prefer 'दस का बंडल / इकाई'? (2) the shop framing is SME pathway 2 but the manipulative is blocks, per your instruction — is dropping the pencils right? (3) is six problems the right amount, or would you ramp further (e.g. to 98-76)?</a:t>
            </a:r>
          </a:p>
          <a:p>
            <a:pPr>
              <a:spcAft>
                <a:spcPts val="800"/>
              </a:spcAft>
            </a:pPr>
            <a:r>
              <a:rPr sz="1700">
                <a:solidFill>
                  <a:srgbClr val="1B2A44"/>
                </a:solidFill>
              </a:rPr>
              <a:t>• कान से जाँचें / EAR-CHECK — all 60 Hindi lines are machine-generated (voice: Kore). One clip needs a specific listen: 'पाँच' (vo_num_5) — the TTS refuses that bare word, so it was cut out of a carrier phrase. Please confirm it sounds clean, and listen to the rest before this reaches children.</a:t>
            </a:r>
          </a:p>
          <a:p>
            <a:pPr>
              <a:spcAft>
                <a:spcPts val="800"/>
              </a:spcAft>
            </a:pPr>
            <a:r>
              <a:rPr sz="1700">
                <a:solidFill>
                  <a:srgbClr val="1B2A44"/>
                </a:solidFill>
              </a:rPr>
              <a:t>• REGISTER — polite आप throughout (देखिए, डालिए, बनाइए, गिनिए, रखिए), matching the kit's standard phase-change lines. Shown text always equals the spoken 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2"/>
          <a:stretch>
            <a:fillRect/>
          </a:stretch>
        </p:blipFill>
        <p:spPr>
          <a:xfrm>
            <a:off x="365760" y="731520"/>
            <a:ext cx="7680960" cy="4310096"/>
          </a:xfrm>
          <a:prstGeom prst="rect">
            <a:avLst/>
          </a:prstGeom>
        </p:spPr>
      </p:pic>
      <p:sp>
        <p:nvSpPr>
          <p:cNvPr id="6" name="TextBox 5"/>
          <p:cNvSpPr txBox="1"/>
          <p:nvPr/>
        </p:nvSpPr>
        <p:spPr>
          <a:xfrm>
            <a:off x="8229600" y="731520"/>
            <a:ext cx="3593592" cy="984885"/>
          </a:xfrm>
          <a:prstGeom prst="rect">
            <a:avLst/>
          </a:prstGeom>
          <a:noFill/>
        </p:spPr>
        <p:txBody>
          <a:bodyPr wrap="square">
            <a:spAutoFit/>
          </a:bodyPr>
          <a:lstStyle/>
          <a:p>
            <a:r>
              <a:rPr sz="1700" b="1" dirty="0">
                <a:solidFill>
                  <a:srgbClr val="0B3D8C"/>
                </a:solidFill>
              </a:rPr>
              <a:t>Recommendations</a:t>
            </a:r>
          </a:p>
          <a:p>
            <a:endParaRPr lang="en-US" sz="1300" b="0" i="0" dirty="0">
              <a:solidFill>
                <a:srgbClr val="1B2A44"/>
              </a:solidFill>
            </a:endParaRPr>
          </a:p>
          <a:p>
            <a:r>
              <a:rPr lang="en-US" sz="1300" b="1" i="0" dirty="0">
                <a:solidFill>
                  <a:srgbClr val="1B2A44"/>
                </a:solidFill>
              </a:rPr>
              <a:t>VO: </a:t>
            </a:r>
            <a:r>
              <a:rPr lang="en-US" sz="1400" b="1" dirty="0">
                <a:solidFill>
                  <a:srgbClr val="1B2A44"/>
                </a:solidFill>
              </a:rPr>
              <a:t> </a:t>
            </a:r>
            <a:r>
              <a:rPr lang="hi-IN" sz="1400" dirty="0">
                <a:solidFill>
                  <a:srgbClr val="1B2A44"/>
                </a:solidFill>
              </a:rPr>
              <a:t>नमस्ते दोस्त! मैं हूँ स्विफ्टी! आज हम संख्याओं को घटाना सीखेंगे।</a:t>
            </a:r>
          </a:p>
        </p:txBody>
      </p:sp>
      <p:sp>
        <p:nvSpPr>
          <p:cNvPr id="4" name="Rectangle: Rounded Corners 7"/>
          <p:cNvSpPr/>
          <p:nvPr/>
        </p:nvSpPr>
        <p:spPr>
          <a:xfrm>
            <a:off x="2646293" y="2402290"/>
            <a:ext cx="3119894" cy="84943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3600" b="1" dirty="0"/>
              <a:t>20  −  10  =  ?</a:t>
            </a:r>
            <a:endParaRPr lang="en-IN" sz="3600" b="1" dirty="0"/>
          </a:p>
        </p:txBody>
      </p:sp>
      <p:sp>
        <p:nvSpPr>
          <p:cNvPr id="8" name="Rectangle: Rounded Corners 7">
            <a:extLst>
              <a:ext uri="{FF2B5EF4-FFF2-40B4-BE49-F238E27FC236}">
                <a16:creationId xmlns:a16="http://schemas.microsoft.com/office/drawing/2014/main" id="{CDC923F4-E48B-5AE1-94BD-CDA0B9C4D44C}"/>
              </a:ext>
            </a:extLst>
          </p:cNvPr>
          <p:cNvSpPr/>
          <p:nvPr/>
        </p:nvSpPr>
        <p:spPr>
          <a:xfrm>
            <a:off x="2117531" y="1850043"/>
            <a:ext cx="4374709" cy="49730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hi-IN" sz="3600" b="1" dirty="0">
                <a:solidFill>
                  <a:srgbClr val="1B2A44"/>
                </a:solidFill>
              </a:rPr>
              <a:t>संख्याओं का घटाव</a:t>
            </a:r>
            <a:endParaRPr lang="en-IN" sz="36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02_STORY_SCENE.png</a:t>
            </a:r>
          </a:p>
        </p:txBody>
      </p:sp>
      <p:pic>
        <p:nvPicPr>
          <p:cNvPr id="3" name="Picture 2" descr="02_STORY_SCENE.png"/>
          <p:cNvPicPr>
            <a:picLocks noChangeAspect="1"/>
          </p:cNvPicPr>
          <p:nvPr/>
        </p:nvPicPr>
        <p:blipFill>
          <a:blip r:embed="rId2"/>
          <a:stretch>
            <a:fillRect/>
          </a:stretch>
        </p:blipFill>
        <p:spPr>
          <a:xfrm>
            <a:off x="365760" y="685800"/>
            <a:ext cx="1956816" cy="1098048"/>
          </a:xfrm>
          <a:prstGeom prst="rect">
            <a:avLst/>
          </a:prstGeom>
        </p:spPr>
      </p:pic>
      <p:sp>
        <p:nvSpPr>
          <p:cNvPr id="5" name="Rounded Rectangle 4"/>
          <p:cNvSpPr/>
          <p:nvPr/>
        </p:nvSpPr>
        <p:spPr>
          <a:xfrm>
            <a:off x="822960" y="1920240"/>
            <a:ext cx="6400800" cy="3017520"/>
          </a:xfrm>
          <a:prstGeom prst="roundRect">
            <a:avLst>
              <a:gd name="adj" fmla="val 5000"/>
            </a:avLst>
          </a:prstGeom>
          <a:solidFill>
            <a:srgbClr val="F2F6FB"/>
          </a:solidFill>
          <a:ln w="5080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189643" y="2011680"/>
            <a:ext cx="1667443" cy="461665"/>
          </a:xfrm>
          <a:prstGeom prst="rect">
            <a:avLst/>
          </a:prstGeom>
          <a:noFill/>
        </p:spPr>
        <p:txBody>
          <a:bodyPr wrap="none">
            <a:spAutoFit/>
          </a:bodyPr>
          <a:lstStyle/>
          <a:p>
            <a:pPr algn="ctr"/>
            <a:r>
              <a:rPr lang="hi-IN" sz="2400" b="1" dirty="0">
                <a:solidFill>
                  <a:srgbClr val="0B3D8C"/>
                </a:solidFill>
              </a:rPr>
              <a:t>कितने बचे?</a:t>
            </a:r>
          </a:p>
        </p:txBody>
      </p:sp>
      <p:sp>
        <p:nvSpPr>
          <p:cNvPr id="10" name="Rectangle: Rounded Corners 6"/>
          <p:cNvSpPr/>
          <p:nvPr/>
        </p:nvSpPr>
        <p:spPr>
          <a:xfrm>
            <a:off x="1985839"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25</a:t>
            </a:r>
            <a:endParaRPr lang="en-IN" sz="4000" b="1" dirty="0"/>
          </a:p>
        </p:txBody>
      </p:sp>
      <p:sp>
        <p:nvSpPr>
          <p:cNvPr id="11" name="TextBox 11"/>
          <p:cNvSpPr txBox="1"/>
          <p:nvPr/>
        </p:nvSpPr>
        <p:spPr>
          <a:xfrm>
            <a:off x="3161511" y="3015468"/>
            <a:ext cx="372969"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2" name="Rectangle: Rounded Corners 6"/>
          <p:cNvSpPr/>
          <p:nvPr/>
        </p:nvSpPr>
        <p:spPr>
          <a:xfrm>
            <a:off x="3642689"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13</a:t>
            </a:r>
            <a:endParaRPr lang="en-IN" sz="4000" b="1" dirty="0"/>
          </a:p>
        </p:txBody>
      </p:sp>
      <p:sp>
        <p:nvSpPr>
          <p:cNvPr id="13" name="TextBox 11"/>
          <p:cNvSpPr txBox="1"/>
          <p:nvPr/>
        </p:nvSpPr>
        <p:spPr>
          <a:xfrm>
            <a:off x="4853147" y="3025406"/>
            <a:ext cx="372969"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Rectangle: Rounded Corners 6"/>
          <p:cNvSpPr/>
          <p:nvPr/>
        </p:nvSpPr>
        <p:spPr>
          <a:xfrm>
            <a:off x="5369112"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a:t>
            </a:r>
            <a:endParaRPr lang="en-IN" sz="4000" b="1" dirty="0"/>
          </a:p>
        </p:txBody>
      </p:sp>
      <p:sp>
        <p:nvSpPr>
          <p:cNvPr id="15" name="TextBox 14"/>
          <p:cNvSpPr txBox="1"/>
          <p:nvPr/>
        </p:nvSpPr>
        <p:spPr>
          <a:xfrm>
            <a:off x="8229600" y="731520"/>
            <a:ext cx="3593592" cy="2954655"/>
          </a:xfrm>
          <a:prstGeom prst="rect">
            <a:avLst/>
          </a:prstGeom>
          <a:noFill/>
        </p:spPr>
        <p:txBody>
          <a:bodyPr wrap="square">
            <a:spAutoFit/>
          </a:bodyPr>
          <a:lstStyle/>
          <a:p>
            <a:r>
              <a:rPr sz="1700" b="1" dirty="0">
                <a:solidFill>
                  <a:srgbClr val="0B3D8C"/>
                </a:solidFill>
              </a:rPr>
              <a:t>Recommendations</a:t>
            </a:r>
          </a:p>
          <a:p>
            <a:r>
              <a:rPr lang="en-US" sz="1300" b="1" i="0" dirty="0">
                <a:solidFill>
                  <a:srgbClr val="1B2A44"/>
                </a:solidFill>
              </a:rPr>
              <a:t>Text: </a:t>
            </a:r>
            <a:r>
              <a:rPr lang="hi-IN" sz="1300" b="1" i="0" dirty="0">
                <a:solidFill>
                  <a:srgbClr val="1B2A44"/>
                </a:solidFill>
              </a:rPr>
              <a:t>कितने बचे</a:t>
            </a:r>
            <a:r>
              <a:rPr lang="hi-IN" sz="1300" b="0" i="0" dirty="0">
                <a:solidFill>
                  <a:srgbClr val="1B2A44"/>
                </a:solidFill>
              </a:rPr>
              <a:t>?</a:t>
            </a:r>
          </a:p>
          <a:p>
            <a:endParaRPr lang="hi-IN" sz="1300" b="0" i="0" dirty="0">
              <a:solidFill>
                <a:srgbClr val="1B2A44"/>
              </a:solidFill>
            </a:endParaRPr>
          </a:p>
          <a:p>
            <a:r>
              <a:rPr lang="en-US" sz="1300" b="1" i="0" dirty="0">
                <a:solidFill>
                  <a:srgbClr val="1B2A44"/>
                </a:solidFill>
              </a:rPr>
              <a:t>VO-</a:t>
            </a:r>
            <a:endParaRPr lang="en-US" sz="1300" b="1" dirty="0">
              <a:solidFill>
                <a:srgbClr val="1B2A44"/>
              </a:solidFill>
            </a:endParaRPr>
          </a:p>
          <a:p>
            <a:r>
              <a:rPr lang="hi-IN" sz="1300" b="1" dirty="0">
                <a:solidFill>
                  <a:srgbClr val="1B2A44"/>
                </a:solidFill>
              </a:rPr>
              <a:t>मीरा के पास कुल पच्चीस ब्लॉकस हैं, उनमे से 13 ब्लॉकस मीरा ने अमन को दिए है। मीरा के पास </a:t>
            </a:r>
          </a:p>
          <a:p>
            <a:endParaRPr lang="hi-IN" sz="1300" b="1" dirty="0">
              <a:solidFill>
                <a:srgbClr val="1B2A44"/>
              </a:solidFill>
            </a:endParaRPr>
          </a:p>
          <a:p>
            <a:r>
              <a:rPr lang="hi-IN" sz="1300" b="1" dirty="0">
                <a:solidFill>
                  <a:srgbClr val="1B2A44"/>
                </a:solidFill>
              </a:rPr>
              <a:t>चलिए, पता करते है, मीरा के पास अब कितने ब्लॉक्स बचे है? </a:t>
            </a:r>
            <a:endParaRPr lang="en-US" sz="1300" b="1" dirty="0">
              <a:solidFill>
                <a:srgbClr val="1B2A44"/>
              </a:solidFill>
            </a:endParaRPr>
          </a:p>
          <a:p>
            <a:r>
              <a:rPr lang="hi-IN" sz="1300" b="1" dirty="0">
                <a:solidFill>
                  <a:srgbClr val="1B2A44"/>
                </a:solidFill>
              </a:rPr>
              <a:t>इसके लिए हम सीखते है, पच्चीस मे से तेरह घटाने पर कितने बचते है?</a:t>
            </a:r>
            <a:endParaRPr lang="en-US" sz="1300" b="1" dirty="0">
              <a:solidFill>
                <a:srgbClr val="1B2A44"/>
              </a:solidFill>
            </a:endParaRPr>
          </a:p>
          <a:p>
            <a:endParaRPr lang="hi-IN" sz="1300" b="1" dirty="0">
              <a:solidFill>
                <a:srgbClr val="1B2A44"/>
              </a:solidFill>
            </a:endParaRPr>
          </a:p>
          <a:p>
            <a:endParaRPr lang="hi-IN" sz="1300" b="0" i="0" dirty="0">
              <a:solidFill>
                <a:srgbClr val="1B2A44"/>
              </a:solidFill>
            </a:endParaRPr>
          </a:p>
          <a:p>
            <a:r>
              <a:rPr lang="en-US" sz="1300" dirty="0">
                <a:solidFill>
                  <a:srgbClr val="1B2A44"/>
                </a:solidFill>
              </a:rPr>
              <a:t>Sync the numbers and signs with the VO</a:t>
            </a:r>
            <a:r>
              <a:rPr lang="hi-IN" sz="1300" dirty="0">
                <a:solidFill>
                  <a:srgbClr val="1B2A44"/>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3 · 03_STORY_SCENE.png</a:t>
            </a:r>
          </a:p>
        </p:txBody>
      </p:sp>
      <p:pic>
        <p:nvPicPr>
          <p:cNvPr id="3" name="Picture 2" descr="03_STORY_SCENE.png"/>
          <p:cNvPicPr>
            <a:picLocks noChangeAspect="1"/>
          </p:cNvPicPr>
          <p:nvPr/>
        </p:nvPicPr>
        <p:blipFill>
          <a:blip r:embed="rId2"/>
          <a:stretch>
            <a:fillRect/>
          </a:stretch>
        </p:blipFill>
        <p:spPr>
          <a:xfrm>
            <a:off x="3291840" y="91440"/>
            <a:ext cx="1627632" cy="913329"/>
          </a:xfrm>
          <a:prstGeom prst="rect">
            <a:avLst/>
          </a:prstGeom>
        </p:spPr>
      </p:pic>
      <p:sp>
        <p:nvSpPr>
          <p:cNvPr id="5" name="Rectangle: Rounded Corners 6"/>
          <p:cNvSpPr/>
          <p:nvPr/>
        </p:nvSpPr>
        <p:spPr>
          <a:xfrm>
            <a:off x="1564885" y="4352544"/>
            <a:ext cx="1583029"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25</a:t>
            </a:r>
            <a:r>
              <a:rPr lang="en-US" b="1" dirty="0"/>
              <a:t> – 13 = ?</a:t>
            </a:r>
            <a:endParaRPr lang="en-IN" b="1" dirty="0"/>
          </a:p>
        </p:txBody>
      </p:sp>
      <p:cxnSp>
        <p:nvCxnSpPr>
          <p:cNvPr id="31" name="Connector 30"/>
          <p:cNvCxnSpPr>
            <a:cxnSpLocks/>
          </p:cNvCxnSpPr>
          <p:nvPr/>
        </p:nvCxnSpPr>
        <p:spPr>
          <a:xfrm>
            <a:off x="3487114" y="5668286"/>
            <a:ext cx="849130" cy="0"/>
          </a:xfrm>
          <a:prstGeom prst="line">
            <a:avLst/>
          </a:prstGeom>
          <a:ln w="28575">
            <a:solidFill>
              <a:srgbClr val="4F81BD"/>
            </a:solidFill>
            <a:tailEnd type="triangle"/>
          </a:ln>
        </p:spPr>
        <p:style>
          <a:lnRef idx="2">
            <a:schemeClr val="accent1"/>
          </a:lnRef>
          <a:fillRef idx="0">
            <a:schemeClr val="accent1"/>
          </a:fillRef>
          <a:effectRef idx="1">
            <a:schemeClr val="accent1"/>
          </a:effectRef>
          <a:fontRef idx="minor">
            <a:schemeClr val="tx1"/>
          </a:fontRef>
        </p:style>
      </p:cxnSp>
      <p:pic>
        <p:nvPicPr>
          <p:cNvPr id="43" name="Picture 9"/>
          <p:cNvPicPr>
            <a:picLocks noChangeAspect="1"/>
          </p:cNvPicPr>
          <p:nvPr/>
        </p:nvPicPr>
        <p:blipFill>
          <a:blip r:embed="rId3"/>
          <a:srcRect/>
          <a:stretch>
            <a:fillRect/>
          </a:stretch>
        </p:blipFill>
        <p:spPr>
          <a:xfrm>
            <a:off x="1293100" y="3462836"/>
            <a:ext cx="1086002" cy="523948"/>
          </a:xfrm>
          <a:prstGeom prst="rect">
            <a:avLst/>
          </a:prstGeom>
        </p:spPr>
      </p:pic>
      <p:pic>
        <p:nvPicPr>
          <p:cNvPr id="44" name="Picture 16"/>
          <p:cNvPicPr>
            <a:picLocks noChangeAspect="1"/>
          </p:cNvPicPr>
          <p:nvPr/>
        </p:nvPicPr>
        <p:blipFill>
          <a:blip r:embed="rId4"/>
          <a:stretch>
            <a:fillRect/>
          </a:stretch>
        </p:blipFill>
        <p:spPr>
          <a:xfrm>
            <a:off x="2845746" y="3429000"/>
            <a:ext cx="1373908" cy="523948"/>
          </a:xfrm>
          <a:prstGeom prst="rect">
            <a:avLst/>
          </a:prstGeom>
        </p:spPr>
      </p:pic>
      <p:sp>
        <p:nvSpPr>
          <p:cNvPr id="45" name="TextBox 44"/>
          <p:cNvSpPr txBox="1"/>
          <p:nvPr/>
        </p:nvSpPr>
        <p:spPr>
          <a:xfrm>
            <a:off x="7667301" y="129540"/>
            <a:ext cx="4526280" cy="6355586"/>
          </a:xfrm>
          <a:prstGeom prst="rect">
            <a:avLst/>
          </a:prstGeom>
          <a:noFill/>
        </p:spPr>
        <p:txBody>
          <a:bodyPr wrap="square">
            <a:spAutoFit/>
          </a:bodyPr>
          <a:lstStyle/>
          <a:p>
            <a:r>
              <a:rPr sz="1500" b="1" dirty="0">
                <a:solidFill>
                  <a:srgbClr val="0B3D8C"/>
                </a:solidFill>
              </a:rPr>
              <a:t>Recommendations</a:t>
            </a:r>
          </a:p>
          <a:p>
            <a:r>
              <a:rPr lang="en-US" sz="1100" b="1" i="0" dirty="0">
                <a:solidFill>
                  <a:srgbClr val="1B2A44"/>
                </a:solidFill>
              </a:rPr>
              <a:t>Text: </a:t>
            </a:r>
            <a:r>
              <a:rPr lang="hi-IN" sz="1100" b="0" i="0" dirty="0">
                <a:solidFill>
                  <a:srgbClr val="1B2A44"/>
                </a:solidFill>
              </a:rPr>
              <a:t>पहले 25 बनाते है।</a:t>
            </a:r>
          </a:p>
          <a:p>
            <a:r>
              <a:rPr lang="en-US" sz="1100" b="1" i="0" dirty="0">
                <a:solidFill>
                  <a:srgbClr val="1B2A44"/>
                </a:solidFill>
              </a:rPr>
              <a:t>On screen, only 25 is shown</a:t>
            </a:r>
            <a:endParaRPr lang="hi-IN" sz="1100" b="1" i="0" dirty="0">
              <a:solidFill>
                <a:srgbClr val="1B2A44"/>
              </a:solidFill>
            </a:endParaRPr>
          </a:p>
          <a:p>
            <a:r>
              <a:rPr lang="en-US" sz="1100" b="1" i="0" dirty="0">
                <a:solidFill>
                  <a:srgbClr val="1B2A44"/>
                </a:solidFill>
              </a:rPr>
              <a:t>VO: </a:t>
            </a:r>
            <a:r>
              <a:rPr lang="hi-IN" sz="1100" b="0" i="0" dirty="0">
                <a:solidFill>
                  <a:srgbClr val="1B2A44"/>
                </a:solidFill>
              </a:rPr>
              <a:t>आइए, पहले 25 बनाते है।</a:t>
            </a:r>
          </a:p>
          <a:p>
            <a:r>
              <a:rPr lang="en-US" sz="1100" b="1" i="0" dirty="0">
                <a:solidFill>
                  <a:srgbClr val="1B2A44"/>
                </a:solidFill>
              </a:rPr>
              <a:t>VO1: </a:t>
            </a:r>
            <a:r>
              <a:rPr lang="hi-IN" sz="1100" b="0" i="0" dirty="0">
                <a:solidFill>
                  <a:srgbClr val="1B2A44"/>
                </a:solidFill>
              </a:rPr>
              <a:t>सबसे पहले ब्लॉक्स की सहायता से 25 बनाते हैं।</a:t>
            </a:r>
          </a:p>
          <a:p>
            <a:r>
              <a:rPr lang="hi-IN" sz="1100" dirty="0">
                <a:solidFill>
                  <a:srgbClr val="1B2A44"/>
                </a:solidFill>
              </a:rPr>
              <a:t>Buttons </a:t>
            </a:r>
            <a:r>
              <a:rPr lang="en-US" sz="1100" dirty="0">
                <a:solidFill>
                  <a:srgbClr val="1B2A44"/>
                </a:solidFill>
              </a:rPr>
              <a:t>and blank table </a:t>
            </a:r>
            <a:r>
              <a:rPr lang="hi-IN" sz="1100" dirty="0">
                <a:solidFill>
                  <a:srgbClr val="1B2A44"/>
                </a:solidFill>
              </a:rPr>
              <a:t>appears below </a:t>
            </a:r>
            <a:r>
              <a:rPr lang="en-US" sz="1100" dirty="0">
                <a:solidFill>
                  <a:srgbClr val="1B2A44"/>
                </a:solidFill>
              </a:rPr>
              <a:t>25</a:t>
            </a:r>
            <a:r>
              <a:rPr lang="hi-IN" sz="1100" dirty="0">
                <a:solidFill>
                  <a:srgbClr val="1B2A44"/>
                </a:solidFill>
              </a:rPr>
              <a:t> and text “दहाई” and “इकाई”</a:t>
            </a:r>
            <a:r>
              <a:rPr lang="en-US" sz="1100" dirty="0">
                <a:solidFill>
                  <a:srgbClr val="1B2A44"/>
                </a:solidFill>
              </a:rPr>
              <a:t> is written in the box.</a:t>
            </a:r>
            <a:endParaRPr lang="hi-IN" sz="1100" dirty="0">
              <a:solidFill>
                <a:srgbClr val="1B2A44"/>
              </a:solidFill>
            </a:endParaRPr>
          </a:p>
          <a:p>
            <a:r>
              <a:rPr lang="en-US" sz="1100" b="1" i="0" dirty="0">
                <a:solidFill>
                  <a:srgbClr val="1B2A44"/>
                </a:solidFill>
              </a:rPr>
              <a:t>VO2: </a:t>
            </a:r>
            <a:r>
              <a:rPr lang="hi-IN" sz="1100" b="0" i="0" dirty="0">
                <a:solidFill>
                  <a:srgbClr val="1B2A44"/>
                </a:solidFill>
              </a:rPr>
              <a:t>25 में 2 दहाई और 5 इकाई हैं। </a:t>
            </a:r>
            <a:r>
              <a:rPr lang="en-US" sz="1100" b="0" i="0" dirty="0">
                <a:solidFill>
                  <a:srgbClr val="1B2A44"/>
                </a:solidFill>
              </a:rPr>
              <a:t>2</a:t>
            </a:r>
            <a:r>
              <a:rPr lang="hi-IN" sz="1100" b="0" i="0" dirty="0">
                <a:solidFill>
                  <a:srgbClr val="1B2A44"/>
                </a:solidFill>
              </a:rPr>
              <a:t> दहाई के लिए </a:t>
            </a:r>
            <a:r>
              <a:rPr lang="en-US" sz="1100" b="0" i="0" dirty="0">
                <a:solidFill>
                  <a:srgbClr val="1B2A44"/>
                </a:solidFill>
              </a:rPr>
              <a:t>2</a:t>
            </a:r>
            <a:r>
              <a:rPr lang="hi-IN" sz="1100" b="0" i="0" dirty="0">
                <a:solidFill>
                  <a:srgbClr val="1B2A44"/>
                </a:solidFill>
              </a:rPr>
              <a:t> बंडल रखते हैं।</a:t>
            </a:r>
            <a:endParaRPr lang="en-US" sz="1000" b="0" dirty="0">
              <a:solidFill>
                <a:srgbClr val="1B2A44"/>
              </a:solidFill>
            </a:endParaRPr>
          </a:p>
          <a:p>
            <a:r>
              <a:rPr lang="en-US" sz="1100" b="1" i="0" dirty="0" err="1">
                <a:solidFill>
                  <a:srgbClr val="1B2A44"/>
                </a:solidFill>
              </a:rPr>
              <a:t>Swiftee</a:t>
            </a:r>
            <a:r>
              <a:rPr lang="en-US" sz="1100" b="1" i="0" dirty="0">
                <a:solidFill>
                  <a:srgbClr val="1B2A44"/>
                </a:solidFill>
              </a:rPr>
              <a:t> will tap two times on the rod button (+), 2 rods and 2 in the table will appear acc.</a:t>
            </a:r>
          </a:p>
          <a:p>
            <a:endParaRPr lang="en-US" sz="1100" b="1" i="0" dirty="0">
              <a:solidFill>
                <a:srgbClr val="1B2A44"/>
              </a:solidFill>
            </a:endParaRPr>
          </a:p>
          <a:p>
            <a:r>
              <a:rPr lang="en-US" sz="1100" b="1" i="0" dirty="0">
                <a:solidFill>
                  <a:srgbClr val="1B2A44"/>
                </a:solidFill>
              </a:rPr>
              <a:t>VO3: </a:t>
            </a:r>
            <a:r>
              <a:rPr lang="hi-IN" sz="1100" b="0" i="0" dirty="0">
                <a:solidFill>
                  <a:srgbClr val="1B2A44"/>
                </a:solidFill>
              </a:rPr>
              <a:t>अब </a:t>
            </a:r>
            <a:r>
              <a:rPr lang="en-US" sz="1100" b="0" i="0" dirty="0">
                <a:solidFill>
                  <a:srgbClr val="1B2A44"/>
                </a:solidFill>
              </a:rPr>
              <a:t>5</a:t>
            </a:r>
            <a:r>
              <a:rPr lang="hi-IN" sz="1100" b="0" i="0" dirty="0">
                <a:solidFill>
                  <a:srgbClr val="1B2A44"/>
                </a:solidFill>
              </a:rPr>
              <a:t> इकाई के लिए </a:t>
            </a:r>
            <a:r>
              <a:rPr lang="en-US" sz="1100" b="0" i="0" dirty="0">
                <a:solidFill>
                  <a:srgbClr val="1B2A44"/>
                </a:solidFill>
              </a:rPr>
              <a:t>5</a:t>
            </a:r>
            <a:r>
              <a:rPr lang="hi-IN" sz="1100" b="0" i="0" dirty="0">
                <a:solidFill>
                  <a:srgbClr val="1B2A44"/>
                </a:solidFill>
              </a:rPr>
              <a:t> ब्लॉक रखते हैं। </a:t>
            </a:r>
            <a:br>
              <a:rPr lang="en-US" sz="1100" b="0" i="0" dirty="0">
                <a:solidFill>
                  <a:srgbClr val="1B2A44"/>
                </a:solidFill>
              </a:rPr>
            </a:br>
            <a:r>
              <a:rPr lang="en-US" sz="1000" dirty="0" err="1">
                <a:solidFill>
                  <a:srgbClr val="1B2A44"/>
                </a:solidFill>
              </a:rPr>
              <a:t>Swiftee</a:t>
            </a:r>
            <a:r>
              <a:rPr lang="en-US" sz="1000" dirty="0">
                <a:solidFill>
                  <a:srgbClr val="1B2A44"/>
                </a:solidFill>
              </a:rPr>
              <a:t> will tap five times on the ones button (+), 5 units and 5 in the table will appear acc.</a:t>
            </a:r>
            <a:endParaRPr lang="en-US" sz="1000" i="1" dirty="0">
              <a:solidFill>
                <a:srgbClr val="1B2A44"/>
              </a:solidFill>
            </a:endParaRPr>
          </a:p>
          <a:p>
            <a:endParaRPr lang="en-US" sz="1100" b="0" i="0" dirty="0">
              <a:solidFill>
                <a:srgbClr val="1B2A44"/>
              </a:solidFill>
            </a:endParaRPr>
          </a:p>
          <a:p>
            <a:r>
              <a:rPr lang="en-US" sz="1100" dirty="0">
                <a:solidFill>
                  <a:srgbClr val="1B2A44"/>
                </a:solidFill>
              </a:rPr>
              <a:t>VO: </a:t>
            </a:r>
            <a:r>
              <a:rPr lang="hi-IN" sz="1100" dirty="0">
                <a:solidFill>
                  <a:srgbClr val="1B2A44"/>
                </a:solidFill>
              </a:rPr>
              <a:t>यह हुमने ब्लॉकस से संख्या पच्चीस बनाली। </a:t>
            </a:r>
          </a:p>
          <a:p>
            <a:endParaRPr lang="hi-IN" sz="1100" b="0" i="0" dirty="0">
              <a:solidFill>
                <a:srgbClr val="1B2A44"/>
              </a:solidFill>
            </a:endParaRPr>
          </a:p>
          <a:p>
            <a:r>
              <a:rPr lang="en-US" sz="1100" dirty="0">
                <a:solidFill>
                  <a:srgbClr val="1B2A44"/>
                </a:solidFill>
              </a:rPr>
              <a:t>Then transitioning to this screen:</a:t>
            </a:r>
            <a:endParaRPr lang="hi-IN" sz="1100" b="0" i="0" dirty="0">
              <a:solidFill>
                <a:srgbClr val="1B2A44"/>
              </a:solidFill>
            </a:endParaRPr>
          </a:p>
          <a:p>
            <a:endParaRPr lang="en-US" sz="1100" b="0" i="0" dirty="0">
              <a:solidFill>
                <a:srgbClr val="1B2A44"/>
              </a:solidFill>
            </a:endParaRPr>
          </a:p>
          <a:p>
            <a:r>
              <a:rPr lang="hi-IN" sz="1100" b="0" i="0" dirty="0">
                <a:solidFill>
                  <a:srgbClr val="1B2A44"/>
                </a:solidFill>
              </a:rPr>
              <a:t>अब 25  में से 13 घटाते हैं</a:t>
            </a:r>
            <a:r>
              <a:rPr lang="hi-IN" sz="1100" dirty="0">
                <a:solidFill>
                  <a:srgbClr val="1B2A44"/>
                </a:solidFill>
              </a:rPr>
              <a:t>।</a:t>
            </a:r>
            <a:r>
              <a:rPr lang="hi-IN" sz="1100" b="0" i="0" dirty="0">
                <a:solidFill>
                  <a:srgbClr val="1B2A44"/>
                </a:solidFill>
              </a:rPr>
              <a:t> 13 में 1 दहाई और 2 इकाई होते हैं।</a:t>
            </a:r>
          </a:p>
          <a:p>
            <a:endParaRPr lang="hi-IN" sz="1000" b="0" i="1" dirty="0">
              <a:solidFill>
                <a:srgbClr val="1B2A44"/>
              </a:solidFill>
            </a:endParaRPr>
          </a:p>
          <a:p>
            <a:r>
              <a:rPr lang="hi-IN" sz="1100" b="0" i="0" dirty="0">
                <a:solidFill>
                  <a:srgbClr val="1B2A44"/>
                </a:solidFill>
              </a:rPr>
              <a:t>पहले इकाइयाँ घटाते हैं। </a:t>
            </a:r>
            <a:r>
              <a:rPr lang="en-US" sz="1100" b="0" i="0" dirty="0">
                <a:solidFill>
                  <a:srgbClr val="1B2A44"/>
                </a:solidFill>
              </a:rPr>
              <a:t>5</a:t>
            </a:r>
            <a:r>
              <a:rPr lang="hi-IN" sz="1100" b="0" i="0" dirty="0">
                <a:solidFill>
                  <a:srgbClr val="1B2A44"/>
                </a:solidFill>
              </a:rPr>
              <a:t> इकाई में से 3 इकाई हटाते हैं। </a:t>
            </a:r>
            <a:endParaRPr lang="en-US" sz="1000" dirty="0">
              <a:solidFill>
                <a:srgbClr val="1B2A44"/>
              </a:solidFill>
            </a:endParaRPr>
          </a:p>
          <a:p>
            <a:r>
              <a:rPr lang="en-US" sz="1000" dirty="0">
                <a:solidFill>
                  <a:srgbClr val="1B2A44"/>
                </a:solidFill>
              </a:rPr>
              <a:t>Tens are disabled. </a:t>
            </a:r>
            <a:r>
              <a:rPr lang="en-US" sz="1000" dirty="0" err="1">
                <a:solidFill>
                  <a:srgbClr val="1B2A44"/>
                </a:solidFill>
              </a:rPr>
              <a:t>Swiftee</a:t>
            </a:r>
            <a:r>
              <a:rPr lang="en-US" sz="1000" dirty="0">
                <a:solidFill>
                  <a:srgbClr val="1B2A44"/>
                </a:solidFill>
              </a:rPr>
              <a:t> taps 3 ones blocks one by one; each tapped block moves to the 23 card, leaving a greyed-out image behind.</a:t>
            </a:r>
          </a:p>
          <a:p>
            <a:r>
              <a:rPr lang="en-US" sz="1100" b="0" i="0" dirty="0">
                <a:solidFill>
                  <a:srgbClr val="1B2A44"/>
                </a:solidFill>
              </a:rPr>
              <a:t>5</a:t>
            </a:r>
            <a:r>
              <a:rPr lang="hi-IN" sz="1100" b="0" i="0" dirty="0">
                <a:solidFill>
                  <a:srgbClr val="1B2A44"/>
                </a:solidFill>
              </a:rPr>
              <a:t> इकाई में से 3 इकाई घटाने पर बचीं, </a:t>
            </a:r>
            <a:r>
              <a:rPr lang="en-US" sz="1100" b="0" i="0" dirty="0">
                <a:solidFill>
                  <a:srgbClr val="1B2A44"/>
                </a:solidFill>
              </a:rPr>
              <a:t>2</a:t>
            </a:r>
            <a:r>
              <a:rPr lang="hi-IN" sz="1100" b="0" i="0" dirty="0">
                <a:solidFill>
                  <a:srgbClr val="1B2A44"/>
                </a:solidFill>
              </a:rPr>
              <a:t> इकाई। </a:t>
            </a:r>
            <a:endParaRPr lang="en-US" sz="1100" b="0" i="0" dirty="0">
              <a:solidFill>
                <a:srgbClr val="1B2A44"/>
              </a:solidFill>
            </a:endParaRPr>
          </a:p>
          <a:p>
            <a:r>
              <a:rPr lang="hi-IN" sz="1000" b="0" dirty="0">
                <a:solidFill>
                  <a:srgbClr val="1B2A44"/>
                </a:solidFill>
              </a:rPr>
              <a:t>The </a:t>
            </a:r>
            <a:r>
              <a:rPr lang="en-US" sz="1000" b="0" dirty="0">
                <a:solidFill>
                  <a:srgbClr val="1B2A44"/>
                </a:solidFill>
              </a:rPr>
              <a:t>2</a:t>
            </a:r>
            <a:r>
              <a:rPr lang="hi-IN" sz="1000" b="0" dirty="0">
                <a:solidFill>
                  <a:srgbClr val="1B2A44"/>
                </a:solidFill>
              </a:rPr>
              <a:t> remaining blocks move to the answer card; show “</a:t>
            </a:r>
            <a:r>
              <a:rPr lang="en-US" sz="1000" b="0" dirty="0">
                <a:solidFill>
                  <a:srgbClr val="1B2A44"/>
                </a:solidFill>
              </a:rPr>
              <a:t>2</a:t>
            </a:r>
            <a:r>
              <a:rPr lang="hi-IN" sz="1000" b="0" dirty="0">
                <a:solidFill>
                  <a:srgbClr val="1B2A44"/>
                </a:solidFill>
              </a:rPr>
              <a:t> इकाई” in sync with the VO.</a:t>
            </a:r>
          </a:p>
          <a:p>
            <a:endParaRPr lang="hi-IN" sz="1000" b="0" i="1" dirty="0">
              <a:solidFill>
                <a:srgbClr val="1B2A44"/>
              </a:solidFill>
            </a:endParaRPr>
          </a:p>
          <a:p>
            <a:r>
              <a:rPr lang="hi-IN" sz="1100" b="0" i="0" dirty="0">
                <a:solidFill>
                  <a:srgbClr val="1B2A44"/>
                </a:solidFill>
              </a:rPr>
              <a:t>अब आप दहाइयाँ घटाइए। </a:t>
            </a:r>
            <a:r>
              <a:rPr lang="en-US" sz="1100" b="0" i="0" dirty="0">
                <a:solidFill>
                  <a:srgbClr val="1B2A44"/>
                </a:solidFill>
              </a:rPr>
              <a:t>2</a:t>
            </a:r>
            <a:r>
              <a:rPr lang="hi-IN" sz="1100" b="0" i="0" dirty="0">
                <a:solidFill>
                  <a:srgbClr val="1B2A44"/>
                </a:solidFill>
              </a:rPr>
              <a:t> दहाई में से </a:t>
            </a:r>
            <a:r>
              <a:rPr lang="en-US" sz="1100" b="0" i="0" dirty="0">
                <a:solidFill>
                  <a:srgbClr val="1B2A44"/>
                </a:solidFill>
              </a:rPr>
              <a:t>1</a:t>
            </a:r>
            <a:r>
              <a:rPr lang="hi-IN" sz="1100" b="0" i="0" dirty="0">
                <a:solidFill>
                  <a:srgbClr val="1B2A44"/>
                </a:solidFill>
              </a:rPr>
              <a:t> दहाई हटाइए। </a:t>
            </a:r>
            <a:endParaRPr lang="en-US" sz="1100" b="0" i="0" dirty="0">
              <a:solidFill>
                <a:srgbClr val="1B2A44"/>
              </a:solidFill>
            </a:endParaRPr>
          </a:p>
          <a:p>
            <a:r>
              <a:rPr lang="en-US" sz="1000" b="0" dirty="0">
                <a:solidFill>
                  <a:srgbClr val="1B2A44"/>
                </a:solidFill>
              </a:rPr>
              <a:t>Pulsate the Tens rods; once the child tap on the rod, leaving a greyed-out image behind. If the child doesn’t respond for 3 seconds hand nudge will appear 1 tap, pulsate again.]</a:t>
            </a:r>
          </a:p>
          <a:p>
            <a:r>
              <a:rPr lang="hi-IN" sz="1100" b="0" i="0" dirty="0">
                <a:solidFill>
                  <a:srgbClr val="1B2A44"/>
                </a:solidFill>
              </a:rPr>
              <a:t>बहुत बढ़िया! </a:t>
            </a:r>
            <a:r>
              <a:rPr lang="en-US" sz="1100" b="0" i="0" dirty="0">
                <a:solidFill>
                  <a:srgbClr val="1B2A44"/>
                </a:solidFill>
              </a:rPr>
              <a:t>2</a:t>
            </a:r>
            <a:r>
              <a:rPr lang="hi-IN" sz="1100" b="0" i="0" dirty="0">
                <a:solidFill>
                  <a:srgbClr val="1B2A44"/>
                </a:solidFill>
              </a:rPr>
              <a:t> दहाई में से </a:t>
            </a:r>
            <a:r>
              <a:rPr lang="en-US" sz="1100" b="0" i="0" dirty="0">
                <a:solidFill>
                  <a:srgbClr val="1B2A44"/>
                </a:solidFill>
              </a:rPr>
              <a:t>1</a:t>
            </a:r>
            <a:r>
              <a:rPr lang="hi-IN" sz="1100" b="0" i="0" dirty="0">
                <a:solidFill>
                  <a:srgbClr val="1B2A44"/>
                </a:solidFill>
              </a:rPr>
              <a:t> दहाई घटाने पर बचे, </a:t>
            </a:r>
            <a:r>
              <a:rPr lang="en-US" sz="1100" dirty="0">
                <a:solidFill>
                  <a:srgbClr val="1B2A44"/>
                </a:solidFill>
              </a:rPr>
              <a:t>1</a:t>
            </a:r>
            <a:r>
              <a:rPr lang="hi-IN" sz="1100" b="0" i="0" dirty="0">
                <a:solidFill>
                  <a:srgbClr val="1B2A44"/>
                </a:solidFill>
              </a:rPr>
              <a:t> दहाई। </a:t>
            </a:r>
            <a:endParaRPr lang="en-US" sz="1100" b="0" i="0" dirty="0">
              <a:solidFill>
                <a:srgbClr val="1B2A44"/>
              </a:solidFill>
            </a:endParaRPr>
          </a:p>
          <a:p>
            <a:r>
              <a:rPr lang="hi-IN" sz="1000" b="0" dirty="0">
                <a:solidFill>
                  <a:srgbClr val="1B2A44"/>
                </a:solidFill>
              </a:rPr>
              <a:t>The </a:t>
            </a:r>
            <a:r>
              <a:rPr lang="en-US" sz="1000" b="0" dirty="0">
                <a:solidFill>
                  <a:srgbClr val="1B2A44"/>
                </a:solidFill>
              </a:rPr>
              <a:t>1</a:t>
            </a:r>
            <a:r>
              <a:rPr lang="hi-IN" sz="1000" b="0" dirty="0">
                <a:solidFill>
                  <a:srgbClr val="1B2A44"/>
                </a:solidFill>
              </a:rPr>
              <a:t> remaining rods move to the answer card; show “</a:t>
            </a:r>
            <a:r>
              <a:rPr lang="en-US" sz="1000" b="0" dirty="0">
                <a:solidFill>
                  <a:srgbClr val="1B2A44"/>
                </a:solidFill>
              </a:rPr>
              <a:t>1</a:t>
            </a:r>
            <a:r>
              <a:rPr lang="hi-IN" sz="1000" b="0" dirty="0">
                <a:solidFill>
                  <a:srgbClr val="1B2A44"/>
                </a:solidFill>
              </a:rPr>
              <a:t> दहाई” in sync with the VO.</a:t>
            </a:r>
          </a:p>
          <a:p>
            <a:endParaRPr lang="hi-IN" sz="1000" b="0" i="1" dirty="0">
              <a:solidFill>
                <a:srgbClr val="1B2A44"/>
              </a:solidFill>
            </a:endParaRPr>
          </a:p>
          <a:p>
            <a:r>
              <a:rPr lang="en-US" sz="1100" b="0" i="0" dirty="0">
                <a:solidFill>
                  <a:srgbClr val="1B2A44"/>
                </a:solidFill>
              </a:rPr>
              <a:t>25</a:t>
            </a:r>
            <a:r>
              <a:rPr lang="hi-IN" sz="1100" b="0" i="0" dirty="0">
                <a:solidFill>
                  <a:srgbClr val="1B2A44"/>
                </a:solidFill>
              </a:rPr>
              <a:t> में से </a:t>
            </a:r>
            <a:r>
              <a:rPr lang="en-US" sz="1100" b="0" i="0" dirty="0">
                <a:solidFill>
                  <a:srgbClr val="1B2A44"/>
                </a:solidFill>
              </a:rPr>
              <a:t>13</a:t>
            </a:r>
            <a:r>
              <a:rPr lang="hi-IN" sz="1100" b="0" i="0" dirty="0">
                <a:solidFill>
                  <a:srgbClr val="1B2A44"/>
                </a:solidFill>
              </a:rPr>
              <a:t> घटाने पर हमें मिलीं, </a:t>
            </a:r>
            <a:r>
              <a:rPr lang="en-US" sz="1100" b="0" i="0" dirty="0">
                <a:solidFill>
                  <a:srgbClr val="1B2A44"/>
                </a:solidFill>
              </a:rPr>
              <a:t>1</a:t>
            </a:r>
            <a:r>
              <a:rPr lang="hi-IN" sz="1100" b="0" i="0" dirty="0">
                <a:solidFill>
                  <a:srgbClr val="1B2A44"/>
                </a:solidFill>
              </a:rPr>
              <a:t> दहाई और </a:t>
            </a:r>
            <a:r>
              <a:rPr lang="en-US" sz="1100" b="0" i="0" dirty="0">
                <a:solidFill>
                  <a:srgbClr val="1B2A44"/>
                </a:solidFill>
              </a:rPr>
              <a:t>2</a:t>
            </a:r>
            <a:r>
              <a:rPr lang="hi-IN" sz="1100" b="0" i="0" dirty="0">
                <a:solidFill>
                  <a:srgbClr val="1B2A44"/>
                </a:solidFill>
              </a:rPr>
              <a:t> इकाई, यानी </a:t>
            </a:r>
            <a:r>
              <a:rPr lang="en-US" sz="1100" b="0" i="0" dirty="0">
                <a:solidFill>
                  <a:srgbClr val="1B2A44"/>
                </a:solidFill>
              </a:rPr>
              <a:t>12</a:t>
            </a:r>
            <a:r>
              <a:rPr lang="hi-IN" sz="1100" b="0" i="0" dirty="0">
                <a:solidFill>
                  <a:srgbClr val="1B2A44"/>
                </a:solidFill>
              </a:rPr>
              <a:t> </a:t>
            </a:r>
            <a:br>
              <a:rPr lang="en-US" sz="1100" b="0" i="0" dirty="0">
                <a:solidFill>
                  <a:srgbClr val="1B2A44"/>
                </a:solidFill>
              </a:rPr>
            </a:br>
            <a:r>
              <a:rPr lang="en-US" sz="1000" b="0" dirty="0">
                <a:solidFill>
                  <a:srgbClr val="1B2A44"/>
                </a:solidFill>
              </a:rPr>
              <a:t>Highlight the rods, blocks and text in sync with the VO. Show the 12 card.</a:t>
            </a:r>
          </a:p>
        </p:txBody>
      </p:sp>
      <p:sp>
        <p:nvSpPr>
          <p:cNvPr id="48" name="Rectangle: Rounded Corners 6">
            <a:extLst>
              <a:ext uri="{FF2B5EF4-FFF2-40B4-BE49-F238E27FC236}">
                <a16:creationId xmlns:a16="http://schemas.microsoft.com/office/drawing/2014/main" id="{42A53950-53BE-807A-F6A8-1CB5F857BD61}"/>
              </a:ext>
            </a:extLst>
          </p:cNvPr>
          <p:cNvSpPr/>
          <p:nvPr/>
        </p:nvSpPr>
        <p:spPr>
          <a:xfrm>
            <a:off x="2539714" y="1010767"/>
            <a:ext cx="566928"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25</a:t>
            </a:r>
            <a:endParaRPr lang="en-IN" b="1" dirty="0"/>
          </a:p>
        </p:txBody>
      </p:sp>
      <p:graphicFrame>
        <p:nvGraphicFramePr>
          <p:cNvPr id="63" name="Table 62">
            <a:extLst>
              <a:ext uri="{FF2B5EF4-FFF2-40B4-BE49-F238E27FC236}">
                <a16:creationId xmlns:a16="http://schemas.microsoft.com/office/drawing/2014/main" id="{9BA901E7-1681-D092-AAF0-87978B25F6B6}"/>
              </a:ext>
            </a:extLst>
          </p:cNvPr>
          <p:cNvGraphicFramePr>
            <a:graphicFrameLocks noGrp="1"/>
          </p:cNvGraphicFramePr>
          <p:nvPr>
            <p:extLst>
              <p:ext uri="{D42A27DB-BD31-4B8C-83A1-F6EECF244321}">
                <p14:modId xmlns:p14="http://schemas.microsoft.com/office/powerpoint/2010/main" val="2571406972"/>
              </p:ext>
            </p:extLst>
          </p:nvPr>
        </p:nvGraphicFramePr>
        <p:xfrm>
          <a:off x="1232848" y="1469874"/>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52" name="Picture 9" descr="A green rectangular object with black background&#10;&#10;AI-generated content may be incorrect.">
            <a:extLst>
              <a:ext uri="{FF2B5EF4-FFF2-40B4-BE49-F238E27FC236}">
                <a16:creationId xmlns:a16="http://schemas.microsoft.com/office/drawing/2014/main" id="{C61AD20C-CD61-3079-7306-E1A6DE507ED4}"/>
              </a:ext>
            </a:extLst>
          </p:cNvPr>
          <p:cNvPicPr>
            <a:picLocks noChangeAspect="1"/>
          </p:cNvPicPr>
          <p:nvPr/>
        </p:nvPicPr>
        <p:blipFill>
          <a:blip r:embed="rId5"/>
          <a:srcRect l="32916" r="35816"/>
          <a:stretch>
            <a:fillRect/>
          </a:stretch>
        </p:blipFill>
        <p:spPr>
          <a:xfrm>
            <a:off x="1840392" y="2032185"/>
            <a:ext cx="229663" cy="1097280"/>
          </a:xfrm>
          <a:prstGeom prst="rect">
            <a:avLst/>
          </a:prstGeom>
        </p:spPr>
      </p:pic>
      <p:pic>
        <p:nvPicPr>
          <p:cNvPr id="61" name="Picture 9" descr="A green rectangular object with black background&#10;&#10;AI-generated content may be incorrect.">
            <a:extLst>
              <a:ext uri="{FF2B5EF4-FFF2-40B4-BE49-F238E27FC236}">
                <a16:creationId xmlns:a16="http://schemas.microsoft.com/office/drawing/2014/main" id="{D60E6120-9DEF-D152-3D2E-A5EDF942FAD7}"/>
              </a:ext>
            </a:extLst>
          </p:cNvPr>
          <p:cNvPicPr>
            <a:picLocks noChangeAspect="1"/>
          </p:cNvPicPr>
          <p:nvPr/>
        </p:nvPicPr>
        <p:blipFill>
          <a:blip r:embed="rId5"/>
          <a:srcRect l="32916" r="35816"/>
          <a:stretch>
            <a:fillRect/>
          </a:stretch>
        </p:blipFill>
        <p:spPr>
          <a:xfrm>
            <a:off x="2055808" y="2032185"/>
            <a:ext cx="229663" cy="1097280"/>
          </a:xfrm>
          <a:prstGeom prst="rect">
            <a:avLst/>
          </a:prstGeom>
        </p:spPr>
      </p:pic>
      <p:pic>
        <p:nvPicPr>
          <p:cNvPr id="54" name="Picture 16" descr="A yellow cube with black background&#10;&#10;AI-generated content may be incorrect.">
            <a:extLst>
              <a:ext uri="{FF2B5EF4-FFF2-40B4-BE49-F238E27FC236}">
                <a16:creationId xmlns:a16="http://schemas.microsoft.com/office/drawing/2014/main" id="{8B7C59C7-22A8-954F-7149-20D9E202FDBD}"/>
              </a:ext>
            </a:extLst>
          </p:cNvPr>
          <p:cNvPicPr>
            <a:picLocks noChangeAspect="1"/>
          </p:cNvPicPr>
          <p:nvPr/>
        </p:nvPicPr>
        <p:blipFill>
          <a:blip r:embed="rId6"/>
          <a:stretch>
            <a:fillRect/>
          </a:stretch>
        </p:blipFill>
        <p:spPr>
          <a:xfrm>
            <a:off x="3147915" y="2429284"/>
            <a:ext cx="256032" cy="219456"/>
          </a:xfrm>
          <a:prstGeom prst="rect">
            <a:avLst/>
          </a:prstGeom>
        </p:spPr>
      </p:pic>
      <p:pic>
        <p:nvPicPr>
          <p:cNvPr id="55" name="Picture 16" descr="A yellow cube with black background&#10;&#10;AI-generated content may be incorrect.">
            <a:extLst>
              <a:ext uri="{FF2B5EF4-FFF2-40B4-BE49-F238E27FC236}">
                <a16:creationId xmlns:a16="http://schemas.microsoft.com/office/drawing/2014/main" id="{7D1D58A7-F2C1-90F7-93AE-C9041789C416}"/>
              </a:ext>
            </a:extLst>
          </p:cNvPr>
          <p:cNvPicPr>
            <a:picLocks noChangeAspect="1"/>
          </p:cNvPicPr>
          <p:nvPr/>
        </p:nvPicPr>
        <p:blipFill>
          <a:blip r:embed="rId6"/>
          <a:stretch>
            <a:fillRect/>
          </a:stretch>
        </p:blipFill>
        <p:spPr>
          <a:xfrm>
            <a:off x="3358227" y="2429284"/>
            <a:ext cx="256032" cy="219456"/>
          </a:xfrm>
          <a:prstGeom prst="rect">
            <a:avLst/>
          </a:prstGeom>
        </p:spPr>
      </p:pic>
      <p:pic>
        <p:nvPicPr>
          <p:cNvPr id="56" name="Picture 55" descr="A yellow cube with black background&#10;&#10;AI-generated content may be incorrect.">
            <a:extLst>
              <a:ext uri="{FF2B5EF4-FFF2-40B4-BE49-F238E27FC236}">
                <a16:creationId xmlns:a16="http://schemas.microsoft.com/office/drawing/2014/main" id="{3004C21A-9369-C7F1-A456-7AA12B5436D7}"/>
              </a:ext>
            </a:extLst>
          </p:cNvPr>
          <p:cNvPicPr>
            <a:picLocks noChangeAspect="1"/>
          </p:cNvPicPr>
          <p:nvPr/>
        </p:nvPicPr>
        <p:blipFill>
          <a:blip r:embed="rId6"/>
          <a:stretch>
            <a:fillRect/>
          </a:stretch>
        </p:blipFill>
        <p:spPr>
          <a:xfrm>
            <a:off x="3568539" y="2429284"/>
            <a:ext cx="256032" cy="219456"/>
          </a:xfrm>
          <a:prstGeom prst="rect">
            <a:avLst/>
          </a:prstGeom>
        </p:spPr>
      </p:pic>
      <p:pic>
        <p:nvPicPr>
          <p:cNvPr id="57" name="Picture 16" descr="A yellow cube with black background&#10;&#10;AI-generated content may be incorrect.">
            <a:extLst>
              <a:ext uri="{FF2B5EF4-FFF2-40B4-BE49-F238E27FC236}">
                <a16:creationId xmlns:a16="http://schemas.microsoft.com/office/drawing/2014/main" id="{0DBFAB0E-6A5A-5D92-0EB4-FA1A9DABAF56}"/>
              </a:ext>
            </a:extLst>
          </p:cNvPr>
          <p:cNvPicPr>
            <a:picLocks noChangeAspect="1"/>
          </p:cNvPicPr>
          <p:nvPr/>
        </p:nvPicPr>
        <p:blipFill>
          <a:blip r:embed="rId6"/>
          <a:stretch>
            <a:fillRect/>
          </a:stretch>
        </p:blipFill>
        <p:spPr>
          <a:xfrm>
            <a:off x="3778851" y="2429284"/>
            <a:ext cx="256032" cy="219456"/>
          </a:xfrm>
          <a:prstGeom prst="rect">
            <a:avLst/>
          </a:prstGeom>
        </p:spPr>
      </p:pic>
      <p:pic>
        <p:nvPicPr>
          <p:cNvPr id="62" name="Picture 16" descr="A yellow cube with black background&#10;&#10;AI-generated content may be incorrect.">
            <a:extLst>
              <a:ext uri="{FF2B5EF4-FFF2-40B4-BE49-F238E27FC236}">
                <a16:creationId xmlns:a16="http://schemas.microsoft.com/office/drawing/2014/main" id="{8371DF79-38A3-0EB9-1224-7E37CF40A8C3}"/>
              </a:ext>
            </a:extLst>
          </p:cNvPr>
          <p:cNvPicPr>
            <a:picLocks noChangeAspect="1"/>
          </p:cNvPicPr>
          <p:nvPr/>
        </p:nvPicPr>
        <p:blipFill>
          <a:blip r:embed="rId6"/>
          <a:stretch>
            <a:fillRect/>
          </a:stretch>
        </p:blipFill>
        <p:spPr>
          <a:xfrm>
            <a:off x="3989163" y="2430147"/>
            <a:ext cx="256032" cy="219456"/>
          </a:xfrm>
          <a:prstGeom prst="rect">
            <a:avLst/>
          </a:prstGeom>
        </p:spPr>
      </p:pic>
      <p:sp>
        <p:nvSpPr>
          <p:cNvPr id="64" name="Rectangle: Rounded Corners 63">
            <a:extLst>
              <a:ext uri="{FF2B5EF4-FFF2-40B4-BE49-F238E27FC236}">
                <a16:creationId xmlns:a16="http://schemas.microsoft.com/office/drawing/2014/main" id="{859544E3-E87D-1723-C0B9-FDE3554B9D93}"/>
              </a:ext>
            </a:extLst>
          </p:cNvPr>
          <p:cNvSpPr/>
          <p:nvPr/>
        </p:nvSpPr>
        <p:spPr>
          <a:xfrm>
            <a:off x="348734" y="874405"/>
            <a:ext cx="4957572" cy="3209544"/>
          </a:xfrm>
          <a:prstGeom prst="roundRect">
            <a:avLst>
              <a:gd name="adj" fmla="val 1710"/>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65" name="Connector 30">
            <a:extLst>
              <a:ext uri="{FF2B5EF4-FFF2-40B4-BE49-F238E27FC236}">
                <a16:creationId xmlns:a16="http://schemas.microsoft.com/office/drawing/2014/main" id="{2864482A-AB1A-FDCD-6739-92DE3ECF7E5A}"/>
              </a:ext>
            </a:extLst>
          </p:cNvPr>
          <p:cNvCxnSpPr>
            <a:cxnSpLocks/>
          </p:cNvCxnSpPr>
          <p:nvPr/>
        </p:nvCxnSpPr>
        <p:spPr>
          <a:xfrm flipH="1">
            <a:off x="3824571" y="3367046"/>
            <a:ext cx="3797584" cy="1235434"/>
          </a:xfrm>
          <a:prstGeom prst="line">
            <a:avLst/>
          </a:prstGeom>
          <a:ln w="28575">
            <a:solidFill>
              <a:srgbClr val="4F81BD"/>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68" name="Table 67">
            <a:extLst>
              <a:ext uri="{FF2B5EF4-FFF2-40B4-BE49-F238E27FC236}">
                <a16:creationId xmlns:a16="http://schemas.microsoft.com/office/drawing/2014/main" id="{E014D501-64EA-C7ED-4EA5-0A429BB79FD7}"/>
              </a:ext>
            </a:extLst>
          </p:cNvPr>
          <p:cNvGraphicFramePr>
            <a:graphicFrameLocks noGrp="1"/>
          </p:cNvGraphicFramePr>
          <p:nvPr>
            <p:extLst>
              <p:ext uri="{D42A27DB-BD31-4B8C-83A1-F6EECF244321}">
                <p14:modId xmlns:p14="http://schemas.microsoft.com/office/powerpoint/2010/main" val="430773552"/>
              </p:ext>
            </p:extLst>
          </p:nvPr>
        </p:nvGraphicFramePr>
        <p:xfrm>
          <a:off x="416733" y="4818213"/>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69" name="Picture 9" descr="A green rectangular object with black background&#10;&#10;AI-generated content may be incorrect.">
            <a:extLst>
              <a:ext uri="{FF2B5EF4-FFF2-40B4-BE49-F238E27FC236}">
                <a16:creationId xmlns:a16="http://schemas.microsoft.com/office/drawing/2014/main" id="{26B72491-72E3-00A6-1A78-F75B919B3D74}"/>
              </a:ext>
            </a:extLst>
          </p:cNvPr>
          <p:cNvPicPr>
            <a:picLocks noChangeAspect="1"/>
          </p:cNvPicPr>
          <p:nvPr/>
        </p:nvPicPr>
        <p:blipFill>
          <a:blip r:embed="rId5"/>
          <a:srcRect l="32916" r="35816"/>
          <a:stretch>
            <a:fillRect/>
          </a:stretch>
        </p:blipFill>
        <p:spPr>
          <a:xfrm>
            <a:off x="1024277" y="5380524"/>
            <a:ext cx="229663" cy="1097280"/>
          </a:xfrm>
          <a:prstGeom prst="rect">
            <a:avLst/>
          </a:prstGeom>
        </p:spPr>
      </p:pic>
      <p:pic>
        <p:nvPicPr>
          <p:cNvPr id="71" name="Picture 16" descr="A yellow cube with black background&#10;&#10;AI-generated content may be incorrect.">
            <a:extLst>
              <a:ext uri="{FF2B5EF4-FFF2-40B4-BE49-F238E27FC236}">
                <a16:creationId xmlns:a16="http://schemas.microsoft.com/office/drawing/2014/main" id="{58F58762-F25F-52F1-F2D9-C79E8F96CDE8}"/>
              </a:ext>
            </a:extLst>
          </p:cNvPr>
          <p:cNvPicPr>
            <a:picLocks noChangeAspect="1"/>
          </p:cNvPicPr>
          <p:nvPr/>
        </p:nvPicPr>
        <p:blipFill>
          <a:blip r:embed="rId6"/>
          <a:stretch>
            <a:fillRect/>
          </a:stretch>
        </p:blipFill>
        <p:spPr>
          <a:xfrm>
            <a:off x="2331800" y="5777623"/>
            <a:ext cx="256032" cy="219456"/>
          </a:xfrm>
          <a:prstGeom prst="rect">
            <a:avLst/>
          </a:prstGeom>
        </p:spPr>
      </p:pic>
      <p:pic>
        <p:nvPicPr>
          <p:cNvPr id="72" name="Picture 16" descr="A yellow cube with black background&#10;&#10;AI-generated content may be incorrect.">
            <a:extLst>
              <a:ext uri="{FF2B5EF4-FFF2-40B4-BE49-F238E27FC236}">
                <a16:creationId xmlns:a16="http://schemas.microsoft.com/office/drawing/2014/main" id="{03665F4C-20B7-9D81-61E8-0706B132BAFB}"/>
              </a:ext>
            </a:extLst>
          </p:cNvPr>
          <p:cNvPicPr>
            <a:picLocks noChangeAspect="1"/>
          </p:cNvPicPr>
          <p:nvPr/>
        </p:nvPicPr>
        <p:blipFill>
          <a:blip r:embed="rId6"/>
          <a:stretch>
            <a:fillRect/>
          </a:stretch>
        </p:blipFill>
        <p:spPr>
          <a:xfrm>
            <a:off x="2542112" y="5777623"/>
            <a:ext cx="256032" cy="219456"/>
          </a:xfrm>
          <a:prstGeom prst="rect">
            <a:avLst/>
          </a:prstGeom>
        </p:spPr>
      </p:pic>
      <p:pic>
        <p:nvPicPr>
          <p:cNvPr id="76" name="Picture 9" descr="A green rectangular object with black background&#10;&#10;AI-generated content may be incorrect.">
            <a:extLst>
              <a:ext uri="{FF2B5EF4-FFF2-40B4-BE49-F238E27FC236}">
                <a16:creationId xmlns:a16="http://schemas.microsoft.com/office/drawing/2014/main" id="{E2E84785-B624-6EAA-AF8F-D5FF2EC1E4F2}"/>
              </a:ext>
            </a:extLst>
          </p:cNvPr>
          <p:cNvPicPr>
            <a:picLocks noChangeAspect="1"/>
          </p:cNvPicPr>
          <p:nvPr/>
        </p:nvPicPr>
        <p:blipFill>
          <a:blip r:embed="rId5">
            <a:alphaModFix amt="28000"/>
          </a:blip>
          <a:srcRect l="32916" r="35816"/>
          <a:stretch>
            <a:fillRect/>
          </a:stretch>
        </p:blipFill>
        <p:spPr>
          <a:xfrm>
            <a:off x="1273048" y="5380524"/>
            <a:ext cx="229663" cy="1097280"/>
          </a:xfrm>
          <a:prstGeom prst="rect">
            <a:avLst/>
          </a:prstGeom>
        </p:spPr>
      </p:pic>
      <p:pic>
        <p:nvPicPr>
          <p:cNvPr id="77" name="Picture 16" descr="A yellow cube with black background&#10;&#10;AI-generated content may be incorrect.">
            <a:extLst>
              <a:ext uri="{FF2B5EF4-FFF2-40B4-BE49-F238E27FC236}">
                <a16:creationId xmlns:a16="http://schemas.microsoft.com/office/drawing/2014/main" id="{37610324-E16E-07A7-8019-01408AF8939E}"/>
              </a:ext>
            </a:extLst>
          </p:cNvPr>
          <p:cNvPicPr>
            <a:picLocks noChangeAspect="1"/>
          </p:cNvPicPr>
          <p:nvPr/>
        </p:nvPicPr>
        <p:blipFill>
          <a:blip r:embed="rId6">
            <a:alphaModFix amt="28000"/>
          </a:blip>
          <a:stretch>
            <a:fillRect/>
          </a:stretch>
        </p:blipFill>
        <p:spPr>
          <a:xfrm>
            <a:off x="2763152" y="5758938"/>
            <a:ext cx="256032" cy="219456"/>
          </a:xfrm>
          <a:prstGeom prst="rect">
            <a:avLst/>
          </a:prstGeom>
        </p:spPr>
      </p:pic>
      <p:pic>
        <p:nvPicPr>
          <p:cNvPr id="78" name="Picture 16" descr="A yellow cube with black background&#10;&#10;AI-generated content may be incorrect.">
            <a:extLst>
              <a:ext uri="{FF2B5EF4-FFF2-40B4-BE49-F238E27FC236}">
                <a16:creationId xmlns:a16="http://schemas.microsoft.com/office/drawing/2014/main" id="{0A4A1AB1-0805-5525-8AE4-129CB5FC9B1A}"/>
              </a:ext>
            </a:extLst>
          </p:cNvPr>
          <p:cNvPicPr>
            <a:picLocks noChangeAspect="1"/>
          </p:cNvPicPr>
          <p:nvPr/>
        </p:nvPicPr>
        <p:blipFill>
          <a:blip r:embed="rId6">
            <a:alphaModFix amt="28000"/>
          </a:blip>
          <a:stretch>
            <a:fillRect/>
          </a:stretch>
        </p:blipFill>
        <p:spPr>
          <a:xfrm>
            <a:off x="2997012" y="5740253"/>
            <a:ext cx="256032" cy="219456"/>
          </a:xfrm>
          <a:prstGeom prst="rect">
            <a:avLst/>
          </a:prstGeom>
        </p:spPr>
      </p:pic>
      <p:pic>
        <p:nvPicPr>
          <p:cNvPr id="79" name="Picture 16" descr="A yellow cube with black background&#10;&#10;AI-generated content may be incorrect.">
            <a:extLst>
              <a:ext uri="{FF2B5EF4-FFF2-40B4-BE49-F238E27FC236}">
                <a16:creationId xmlns:a16="http://schemas.microsoft.com/office/drawing/2014/main" id="{1FF8CF7A-B226-6409-C37A-EEB9589DE7B5}"/>
              </a:ext>
            </a:extLst>
          </p:cNvPr>
          <p:cNvPicPr>
            <a:picLocks noChangeAspect="1"/>
          </p:cNvPicPr>
          <p:nvPr/>
        </p:nvPicPr>
        <p:blipFill>
          <a:blip r:embed="rId6">
            <a:alphaModFix amt="28000"/>
          </a:blip>
          <a:stretch>
            <a:fillRect/>
          </a:stretch>
        </p:blipFill>
        <p:spPr>
          <a:xfrm>
            <a:off x="3255334" y="5758075"/>
            <a:ext cx="256032" cy="219456"/>
          </a:xfrm>
          <a:prstGeom prst="rect">
            <a:avLst/>
          </a:prstGeom>
        </p:spPr>
      </p:pic>
      <p:sp>
        <p:nvSpPr>
          <p:cNvPr id="80" name="Rectangle: Rounded Corners 6">
            <a:extLst>
              <a:ext uri="{FF2B5EF4-FFF2-40B4-BE49-F238E27FC236}">
                <a16:creationId xmlns:a16="http://schemas.microsoft.com/office/drawing/2014/main" id="{AFCBDB67-279B-FA66-C4B5-CA9F543A9FED}"/>
              </a:ext>
            </a:extLst>
          </p:cNvPr>
          <p:cNvSpPr/>
          <p:nvPr/>
        </p:nvSpPr>
        <p:spPr>
          <a:xfrm>
            <a:off x="5087998" y="4439244"/>
            <a:ext cx="2077643"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25</a:t>
            </a:r>
            <a:r>
              <a:rPr lang="en-US" b="1" dirty="0"/>
              <a:t> – 13 = 12</a:t>
            </a:r>
            <a:endParaRPr lang="en-IN" b="1" dirty="0"/>
          </a:p>
        </p:txBody>
      </p:sp>
      <p:graphicFrame>
        <p:nvGraphicFramePr>
          <p:cNvPr id="81" name="Table 80">
            <a:extLst>
              <a:ext uri="{FF2B5EF4-FFF2-40B4-BE49-F238E27FC236}">
                <a16:creationId xmlns:a16="http://schemas.microsoft.com/office/drawing/2014/main" id="{18115D84-78CD-0129-BA7B-6AB4207B0E73}"/>
              </a:ext>
            </a:extLst>
          </p:cNvPr>
          <p:cNvGraphicFramePr>
            <a:graphicFrameLocks noGrp="1"/>
          </p:cNvGraphicFramePr>
          <p:nvPr>
            <p:extLst>
              <p:ext uri="{D42A27DB-BD31-4B8C-83A1-F6EECF244321}">
                <p14:modId xmlns:p14="http://schemas.microsoft.com/office/powerpoint/2010/main" val="2091797029"/>
              </p:ext>
            </p:extLst>
          </p:nvPr>
        </p:nvGraphicFramePr>
        <p:xfrm>
          <a:off x="4416103" y="4874990"/>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en-US" sz="1200" dirty="0"/>
                        <a:t>1</a:t>
                      </a:r>
                      <a:r>
                        <a:rPr lang="hi-IN" sz="1200" dirty="0"/>
                        <a:t> दहाई </a:t>
                      </a:r>
                      <a:endParaRPr lang="en-IN" sz="1200" dirty="0"/>
                    </a:p>
                  </a:txBody>
                  <a:tcPr anchor="ctr"/>
                </a:tc>
                <a:tc>
                  <a:txBody>
                    <a:bodyPr/>
                    <a:lstStyle/>
                    <a:p>
                      <a:pPr algn="ctr"/>
                      <a:r>
                        <a:rPr lang="en-US" sz="1200" dirty="0"/>
                        <a:t>2</a:t>
                      </a:r>
                      <a:r>
                        <a:rPr lang="hi-IN" sz="1200" dirty="0"/>
                        <a:t> 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82" name="Picture 9" descr="A green rectangular object with black background&#10;&#10;AI-generated content may be incorrect.">
            <a:extLst>
              <a:ext uri="{FF2B5EF4-FFF2-40B4-BE49-F238E27FC236}">
                <a16:creationId xmlns:a16="http://schemas.microsoft.com/office/drawing/2014/main" id="{2FB55F76-3B5E-E70B-BC3D-170B41D51E6C}"/>
              </a:ext>
            </a:extLst>
          </p:cNvPr>
          <p:cNvPicPr>
            <a:picLocks noChangeAspect="1"/>
          </p:cNvPicPr>
          <p:nvPr/>
        </p:nvPicPr>
        <p:blipFill>
          <a:blip r:embed="rId5"/>
          <a:srcRect l="32916" r="35816"/>
          <a:stretch>
            <a:fillRect/>
          </a:stretch>
        </p:blipFill>
        <p:spPr>
          <a:xfrm>
            <a:off x="5023647" y="5437301"/>
            <a:ext cx="229663" cy="1097280"/>
          </a:xfrm>
          <a:prstGeom prst="rect">
            <a:avLst/>
          </a:prstGeom>
        </p:spPr>
      </p:pic>
      <p:pic>
        <p:nvPicPr>
          <p:cNvPr id="83" name="Picture 16" descr="A yellow cube with black background&#10;&#10;AI-generated content may be incorrect.">
            <a:extLst>
              <a:ext uri="{FF2B5EF4-FFF2-40B4-BE49-F238E27FC236}">
                <a16:creationId xmlns:a16="http://schemas.microsoft.com/office/drawing/2014/main" id="{9FAF9750-B3BE-1D1D-F27C-29335FD8A3CB}"/>
              </a:ext>
            </a:extLst>
          </p:cNvPr>
          <p:cNvPicPr>
            <a:picLocks noChangeAspect="1"/>
          </p:cNvPicPr>
          <p:nvPr/>
        </p:nvPicPr>
        <p:blipFill>
          <a:blip r:embed="rId6"/>
          <a:stretch>
            <a:fillRect/>
          </a:stretch>
        </p:blipFill>
        <p:spPr>
          <a:xfrm>
            <a:off x="6331170" y="5834400"/>
            <a:ext cx="256032" cy="219456"/>
          </a:xfrm>
          <a:prstGeom prst="rect">
            <a:avLst/>
          </a:prstGeom>
        </p:spPr>
      </p:pic>
      <p:pic>
        <p:nvPicPr>
          <p:cNvPr id="84" name="Picture 16" descr="A yellow cube with black background&#10;&#10;AI-generated content may be incorrect.">
            <a:extLst>
              <a:ext uri="{FF2B5EF4-FFF2-40B4-BE49-F238E27FC236}">
                <a16:creationId xmlns:a16="http://schemas.microsoft.com/office/drawing/2014/main" id="{8352FF61-0100-8F23-9A70-CF26ACE8D591}"/>
              </a:ext>
            </a:extLst>
          </p:cNvPr>
          <p:cNvPicPr>
            <a:picLocks noChangeAspect="1"/>
          </p:cNvPicPr>
          <p:nvPr/>
        </p:nvPicPr>
        <p:blipFill>
          <a:blip r:embed="rId6"/>
          <a:stretch>
            <a:fillRect/>
          </a:stretch>
        </p:blipFill>
        <p:spPr>
          <a:xfrm>
            <a:off x="6541482" y="5834400"/>
            <a:ext cx="256032" cy="2194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3286-E7FB-FEA0-BCD1-69E40D4BDD3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AF97BAC1-ECA0-B075-FDA4-FF99F26CAB8F}"/>
              </a:ext>
            </a:extLst>
          </p:cNvPr>
          <p:cNvSpPr/>
          <p:nvPr/>
        </p:nvSpPr>
        <p:spPr>
          <a:xfrm>
            <a:off x="822960" y="1920240"/>
            <a:ext cx="6400800" cy="3017520"/>
          </a:xfrm>
          <a:prstGeom prst="roundRect">
            <a:avLst>
              <a:gd name="adj" fmla="val 5000"/>
            </a:avLst>
          </a:prstGeom>
          <a:solidFill>
            <a:srgbClr val="F2F6FB"/>
          </a:solidFill>
          <a:ln w="5080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9D24E5E-D210-420F-C184-7296770F1137}"/>
              </a:ext>
            </a:extLst>
          </p:cNvPr>
          <p:cNvSpPr txBox="1"/>
          <p:nvPr/>
        </p:nvSpPr>
        <p:spPr>
          <a:xfrm>
            <a:off x="3189643" y="2011680"/>
            <a:ext cx="1667443" cy="461665"/>
          </a:xfrm>
          <a:prstGeom prst="rect">
            <a:avLst/>
          </a:prstGeom>
          <a:noFill/>
        </p:spPr>
        <p:txBody>
          <a:bodyPr wrap="none">
            <a:spAutoFit/>
          </a:bodyPr>
          <a:lstStyle/>
          <a:p>
            <a:pPr algn="ctr"/>
            <a:r>
              <a:rPr lang="hi-IN" sz="2400" b="1" dirty="0">
                <a:solidFill>
                  <a:srgbClr val="0B3D8C"/>
                </a:solidFill>
              </a:rPr>
              <a:t>कितने बचे?</a:t>
            </a:r>
          </a:p>
        </p:txBody>
      </p:sp>
      <p:sp>
        <p:nvSpPr>
          <p:cNvPr id="10" name="Rectangle: Rounded Corners 6">
            <a:extLst>
              <a:ext uri="{FF2B5EF4-FFF2-40B4-BE49-F238E27FC236}">
                <a16:creationId xmlns:a16="http://schemas.microsoft.com/office/drawing/2014/main" id="{50465201-4056-5AEB-0F76-527E5B138D34}"/>
              </a:ext>
            </a:extLst>
          </p:cNvPr>
          <p:cNvSpPr/>
          <p:nvPr/>
        </p:nvSpPr>
        <p:spPr>
          <a:xfrm>
            <a:off x="1985839"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25</a:t>
            </a:r>
            <a:endParaRPr lang="en-IN" sz="4000" b="1" dirty="0"/>
          </a:p>
        </p:txBody>
      </p:sp>
      <p:sp>
        <p:nvSpPr>
          <p:cNvPr id="11" name="TextBox 11">
            <a:extLst>
              <a:ext uri="{FF2B5EF4-FFF2-40B4-BE49-F238E27FC236}">
                <a16:creationId xmlns:a16="http://schemas.microsoft.com/office/drawing/2014/main" id="{866C6347-945E-7E55-D9B0-7445A474AE40}"/>
              </a:ext>
            </a:extLst>
          </p:cNvPr>
          <p:cNvSpPr txBox="1"/>
          <p:nvPr/>
        </p:nvSpPr>
        <p:spPr>
          <a:xfrm>
            <a:off x="3161511" y="3015468"/>
            <a:ext cx="372969"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2" name="Rectangle: Rounded Corners 6">
            <a:extLst>
              <a:ext uri="{FF2B5EF4-FFF2-40B4-BE49-F238E27FC236}">
                <a16:creationId xmlns:a16="http://schemas.microsoft.com/office/drawing/2014/main" id="{FB06DE2E-5B21-4CDA-18BA-4B6ADBBBCA39}"/>
              </a:ext>
            </a:extLst>
          </p:cNvPr>
          <p:cNvSpPr/>
          <p:nvPr/>
        </p:nvSpPr>
        <p:spPr>
          <a:xfrm>
            <a:off x="3642689"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13</a:t>
            </a:r>
            <a:endParaRPr lang="en-IN" sz="4000" b="1" dirty="0"/>
          </a:p>
        </p:txBody>
      </p:sp>
      <p:sp>
        <p:nvSpPr>
          <p:cNvPr id="13" name="TextBox 11">
            <a:extLst>
              <a:ext uri="{FF2B5EF4-FFF2-40B4-BE49-F238E27FC236}">
                <a16:creationId xmlns:a16="http://schemas.microsoft.com/office/drawing/2014/main" id="{9D0B1776-6C38-ED2A-3B2B-6592065D04FB}"/>
              </a:ext>
            </a:extLst>
          </p:cNvPr>
          <p:cNvSpPr txBox="1"/>
          <p:nvPr/>
        </p:nvSpPr>
        <p:spPr>
          <a:xfrm>
            <a:off x="4853147" y="3025406"/>
            <a:ext cx="372969"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Rectangle: Rounded Corners 6">
            <a:extLst>
              <a:ext uri="{FF2B5EF4-FFF2-40B4-BE49-F238E27FC236}">
                <a16:creationId xmlns:a16="http://schemas.microsoft.com/office/drawing/2014/main" id="{F339D13B-F7A9-C118-52FC-67066CB8B2CF}"/>
              </a:ext>
            </a:extLst>
          </p:cNvPr>
          <p:cNvSpPr/>
          <p:nvPr/>
        </p:nvSpPr>
        <p:spPr>
          <a:xfrm>
            <a:off x="5369112" y="2910540"/>
            <a:ext cx="1067463" cy="733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t>?</a:t>
            </a:r>
            <a:endParaRPr lang="en-IN" sz="4000" b="1" dirty="0"/>
          </a:p>
        </p:txBody>
      </p:sp>
      <p:sp>
        <p:nvSpPr>
          <p:cNvPr id="15" name="TextBox 14">
            <a:extLst>
              <a:ext uri="{FF2B5EF4-FFF2-40B4-BE49-F238E27FC236}">
                <a16:creationId xmlns:a16="http://schemas.microsoft.com/office/drawing/2014/main" id="{D939E3C8-0521-E337-B0A4-FF1AA392567D}"/>
              </a:ext>
            </a:extLst>
          </p:cNvPr>
          <p:cNvSpPr txBox="1"/>
          <p:nvPr/>
        </p:nvSpPr>
        <p:spPr>
          <a:xfrm>
            <a:off x="8229600" y="731520"/>
            <a:ext cx="3593592" cy="1954381"/>
          </a:xfrm>
          <a:prstGeom prst="rect">
            <a:avLst/>
          </a:prstGeom>
          <a:noFill/>
        </p:spPr>
        <p:txBody>
          <a:bodyPr wrap="square">
            <a:spAutoFit/>
          </a:bodyPr>
          <a:lstStyle/>
          <a:p>
            <a:r>
              <a:rPr sz="1700" b="1" dirty="0">
                <a:solidFill>
                  <a:srgbClr val="0B3D8C"/>
                </a:solidFill>
              </a:rPr>
              <a:t>Recommendations</a:t>
            </a:r>
          </a:p>
          <a:p>
            <a:r>
              <a:rPr lang="en-US" sz="1300" b="1" dirty="0">
                <a:solidFill>
                  <a:srgbClr val="1B2A44"/>
                </a:solidFill>
              </a:rPr>
              <a:t>Appear the first screen.</a:t>
            </a:r>
            <a:endParaRPr lang="hi-IN" sz="1300" b="1" dirty="0">
              <a:solidFill>
                <a:srgbClr val="1B2A44"/>
              </a:solidFill>
            </a:endParaRPr>
          </a:p>
          <a:p>
            <a:endParaRPr lang="en-US" sz="1300" b="1" i="0" dirty="0">
              <a:solidFill>
                <a:srgbClr val="1B2A44"/>
              </a:solidFill>
            </a:endParaRPr>
          </a:p>
          <a:p>
            <a:r>
              <a:rPr lang="en-US" sz="1300" b="1" i="0" dirty="0">
                <a:solidFill>
                  <a:srgbClr val="1B2A44"/>
                </a:solidFill>
              </a:rPr>
              <a:t>VO: </a:t>
            </a:r>
            <a:r>
              <a:rPr lang="hi-IN" sz="1300" b="1" i="0" dirty="0">
                <a:solidFill>
                  <a:srgbClr val="1B2A44"/>
                </a:solidFill>
              </a:rPr>
              <a:t>यहाँ हमने पच्चीस मे से तेरह घटाए है, तो बचे 12। अब इस डिब्बे मे 12 आएगा। </a:t>
            </a:r>
          </a:p>
          <a:p>
            <a:r>
              <a:rPr lang="en-US" sz="1300" b="1" i="0" dirty="0">
                <a:solidFill>
                  <a:srgbClr val="1B2A44"/>
                </a:solidFill>
              </a:rPr>
              <a:t>When </a:t>
            </a:r>
            <a:r>
              <a:rPr lang="en-US" sz="1300" b="1" i="0" dirty="0" err="1">
                <a:solidFill>
                  <a:srgbClr val="1B2A44"/>
                </a:solidFill>
              </a:rPr>
              <a:t>swiftee</a:t>
            </a:r>
            <a:r>
              <a:rPr lang="en-US" sz="1300" b="1" i="0" dirty="0">
                <a:solidFill>
                  <a:srgbClr val="1B2A44"/>
                </a:solidFill>
              </a:rPr>
              <a:t> saying “12 </a:t>
            </a:r>
            <a:r>
              <a:rPr lang="en-US" sz="1300" b="1" i="0" dirty="0" err="1">
                <a:solidFill>
                  <a:srgbClr val="1B2A44"/>
                </a:solidFill>
              </a:rPr>
              <a:t>ayega</a:t>
            </a:r>
            <a:r>
              <a:rPr lang="en-US" sz="1300" b="1" i="0" dirty="0">
                <a:solidFill>
                  <a:srgbClr val="1B2A44"/>
                </a:solidFill>
              </a:rPr>
              <a:t>” the number 12 reflect in the box and sync with VO.</a:t>
            </a:r>
          </a:p>
          <a:p>
            <a:r>
              <a:rPr lang="hi-IN" sz="1300" b="1" dirty="0">
                <a:solidFill>
                  <a:srgbClr val="1B2A44"/>
                </a:solidFill>
              </a:rPr>
              <a:t>यानि मीरा के पास कुल 12 ब्लॉकस बचे। </a:t>
            </a:r>
            <a:endParaRPr lang="en-US" sz="1300" b="1" i="0" dirty="0">
              <a:solidFill>
                <a:srgbClr val="1B2A44"/>
              </a:solidFill>
            </a:endParaRPr>
          </a:p>
          <a:p>
            <a:endParaRPr lang="hi-IN" sz="1300" dirty="0">
              <a:solidFill>
                <a:srgbClr val="1B2A44"/>
              </a:solidFill>
            </a:endParaRPr>
          </a:p>
        </p:txBody>
      </p:sp>
    </p:spTree>
    <p:extLst>
      <p:ext uri="{BB962C8B-B14F-4D97-AF65-F5344CB8AC3E}">
        <p14:creationId xmlns:p14="http://schemas.microsoft.com/office/powerpoint/2010/main" val="3469890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06_MAKE_SET.png</a:t>
            </a:r>
          </a:p>
        </p:txBody>
      </p:sp>
      <p:pic>
        <p:nvPicPr>
          <p:cNvPr id="3" name="Picture 2" descr="06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3592" cy="984885"/>
          </a:xfrm>
          <a:prstGeom prst="rect">
            <a:avLst/>
          </a:prstGeom>
          <a:noFill/>
        </p:spPr>
        <p:txBody>
          <a:bodyPr wrap="square">
            <a:spAutoFit/>
          </a:bodyPr>
          <a:lstStyle/>
          <a:p>
            <a:r>
              <a:rPr sz="1700" b="1" dirty="0">
                <a:solidFill>
                  <a:srgbClr val="0B3D8C"/>
                </a:solidFill>
              </a:rPr>
              <a:t>Recommendations</a:t>
            </a:r>
          </a:p>
          <a:p>
            <a:endParaRPr sz="1700" b="1" dirty="0">
              <a:solidFill>
                <a:srgbClr val="0B3D8C"/>
              </a:solidFill>
            </a:endParaRPr>
          </a:p>
          <a:p>
            <a:r>
              <a:rPr lang="en-US" sz="2400" b="0" i="0" dirty="0">
                <a:solidFill>
                  <a:srgbClr val="1B2A44"/>
                </a:solidFill>
              </a:rPr>
              <a:t>Delete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D75BC-605E-F408-B4E5-2153AEF2B1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DE06F1-B73A-44BE-18D1-64EBD6456FF8}"/>
              </a:ext>
            </a:extLst>
          </p:cNvPr>
          <p:cNvSpPr txBox="1"/>
          <p:nvPr/>
        </p:nvSpPr>
        <p:spPr>
          <a:xfrm>
            <a:off x="365760" y="137160"/>
            <a:ext cx="7680960" cy="548640"/>
          </a:xfrm>
          <a:prstGeom prst="rect">
            <a:avLst/>
          </a:prstGeom>
          <a:noFill/>
        </p:spPr>
        <p:txBody>
          <a:bodyPr wrap="none">
            <a:spAutoFit/>
          </a:bodyPr>
          <a:lstStyle/>
          <a:p>
            <a:r>
              <a:rPr sz="1400" b="1">
                <a:solidFill>
                  <a:srgbClr val="0B3D8C"/>
                </a:solidFill>
              </a:rPr>
              <a:t>Page 7 · 07_COUNT_DRAG_MATCH.png</a:t>
            </a:r>
          </a:p>
        </p:txBody>
      </p:sp>
      <p:pic>
        <p:nvPicPr>
          <p:cNvPr id="3" name="Picture 2" descr="07_COUNT_DRAG_MATCH.png">
            <a:extLst>
              <a:ext uri="{FF2B5EF4-FFF2-40B4-BE49-F238E27FC236}">
                <a16:creationId xmlns:a16="http://schemas.microsoft.com/office/drawing/2014/main" id="{2C7D4D34-8CF9-67DB-A1ED-32A50F76B401}"/>
              </a:ext>
            </a:extLst>
          </p:cNvPr>
          <p:cNvPicPr>
            <a:picLocks noChangeAspect="1"/>
          </p:cNvPicPr>
          <p:nvPr/>
        </p:nvPicPr>
        <p:blipFill>
          <a:blip r:embed="rId2"/>
          <a:stretch>
            <a:fillRect/>
          </a:stretch>
        </p:blipFill>
        <p:spPr>
          <a:xfrm>
            <a:off x="365760" y="731520"/>
            <a:ext cx="7680960" cy="4310096"/>
          </a:xfrm>
          <a:prstGeom prst="rect">
            <a:avLst/>
          </a:prstGeom>
        </p:spPr>
      </p:pic>
      <p:sp>
        <p:nvSpPr>
          <p:cNvPr id="5" name="Rectangle 4">
            <a:extLst>
              <a:ext uri="{FF2B5EF4-FFF2-40B4-BE49-F238E27FC236}">
                <a16:creationId xmlns:a16="http://schemas.microsoft.com/office/drawing/2014/main" id="{F967EF6F-5009-205D-007B-67339E77FE7F}"/>
              </a:ext>
            </a:extLst>
          </p:cNvPr>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B2D6DBE-CC88-1EC6-280F-17E8172A93F9}"/>
              </a:ext>
            </a:extLst>
          </p:cNvPr>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graphicFrame>
        <p:nvGraphicFramePr>
          <p:cNvPr id="7" name="Table 6">
            <a:extLst>
              <a:ext uri="{FF2B5EF4-FFF2-40B4-BE49-F238E27FC236}">
                <a16:creationId xmlns:a16="http://schemas.microsoft.com/office/drawing/2014/main" id="{33393B2C-6473-5199-4CE9-53204B92172E}"/>
              </a:ext>
            </a:extLst>
          </p:cNvPr>
          <p:cNvGraphicFramePr>
            <a:graphicFrameLocks noGrp="1"/>
          </p:cNvGraphicFramePr>
          <p:nvPr>
            <p:extLst>
              <p:ext uri="{D42A27DB-BD31-4B8C-83A1-F6EECF244321}">
                <p14:modId xmlns:p14="http://schemas.microsoft.com/office/powerpoint/2010/main" val="4059589952"/>
              </p:ext>
            </p:extLst>
          </p:nvPr>
        </p:nvGraphicFramePr>
        <p:xfrm>
          <a:off x="947915" y="4973700"/>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9" descr="A green rectangular object with black background&#10;&#10;AI-generated content may be incorrect.">
            <a:extLst>
              <a:ext uri="{FF2B5EF4-FFF2-40B4-BE49-F238E27FC236}">
                <a16:creationId xmlns:a16="http://schemas.microsoft.com/office/drawing/2014/main" id="{41110A12-3BC4-165E-D2B4-CF489BAD4677}"/>
              </a:ext>
            </a:extLst>
          </p:cNvPr>
          <p:cNvPicPr>
            <a:picLocks noChangeAspect="1"/>
          </p:cNvPicPr>
          <p:nvPr/>
        </p:nvPicPr>
        <p:blipFill>
          <a:blip r:embed="rId3"/>
          <a:srcRect l="32916" r="35816"/>
          <a:stretch>
            <a:fillRect/>
          </a:stretch>
        </p:blipFill>
        <p:spPr>
          <a:xfrm>
            <a:off x="1428489" y="5437576"/>
            <a:ext cx="246888" cy="1179576"/>
          </a:xfrm>
          <a:prstGeom prst="rect">
            <a:avLst/>
          </a:prstGeom>
        </p:spPr>
      </p:pic>
      <p:pic>
        <p:nvPicPr>
          <p:cNvPr id="11" name="Picture 9" descr="A green rectangular object with black background&#10;&#10;AI-generated content may be incorrect.">
            <a:extLst>
              <a:ext uri="{FF2B5EF4-FFF2-40B4-BE49-F238E27FC236}">
                <a16:creationId xmlns:a16="http://schemas.microsoft.com/office/drawing/2014/main" id="{718EAD8B-CE76-C009-5A84-E6049D299E3E}"/>
              </a:ext>
            </a:extLst>
          </p:cNvPr>
          <p:cNvPicPr>
            <a:picLocks noChangeAspect="1"/>
          </p:cNvPicPr>
          <p:nvPr/>
        </p:nvPicPr>
        <p:blipFill>
          <a:blip r:embed="rId3">
            <a:alphaModFix amt="28000"/>
          </a:blip>
          <a:srcRect l="32916" r="35816"/>
          <a:stretch>
            <a:fillRect/>
          </a:stretch>
        </p:blipFill>
        <p:spPr>
          <a:xfrm>
            <a:off x="1880079" y="5437576"/>
            <a:ext cx="246888" cy="1179576"/>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8B47388F-55B1-8D6E-AFCC-B7934E7D1927}"/>
              </a:ext>
            </a:extLst>
          </p:cNvPr>
          <p:cNvPicPr>
            <a:picLocks noChangeAspect="1"/>
          </p:cNvPicPr>
          <p:nvPr/>
        </p:nvPicPr>
        <p:blipFill>
          <a:blip r:embed="rId4"/>
          <a:stretch>
            <a:fillRect/>
          </a:stretch>
        </p:blipFill>
        <p:spPr>
          <a:xfrm>
            <a:off x="2634755" y="6018740"/>
            <a:ext cx="256032" cy="219456"/>
          </a:xfrm>
          <a:prstGeom prst="rect">
            <a:avLst/>
          </a:prstGeom>
        </p:spPr>
      </p:pic>
      <p:pic>
        <p:nvPicPr>
          <p:cNvPr id="15" name="Picture 16" descr="A yellow cube with black background&#10;&#10;AI-generated content may be incorrect.">
            <a:extLst>
              <a:ext uri="{FF2B5EF4-FFF2-40B4-BE49-F238E27FC236}">
                <a16:creationId xmlns:a16="http://schemas.microsoft.com/office/drawing/2014/main" id="{F1BFA06E-9131-AD3A-A375-EA7714EEB7FB}"/>
              </a:ext>
            </a:extLst>
          </p:cNvPr>
          <p:cNvPicPr>
            <a:picLocks noChangeAspect="1"/>
          </p:cNvPicPr>
          <p:nvPr/>
        </p:nvPicPr>
        <p:blipFill>
          <a:blip r:embed="rId4"/>
          <a:stretch>
            <a:fillRect/>
          </a:stretch>
        </p:blipFill>
        <p:spPr>
          <a:xfrm>
            <a:off x="2850898" y="6017310"/>
            <a:ext cx="256032" cy="219456"/>
          </a:xfrm>
          <a:prstGeom prst="rect">
            <a:avLst/>
          </a:prstGeom>
        </p:spPr>
      </p:pic>
      <p:pic>
        <p:nvPicPr>
          <p:cNvPr id="16" name="Picture 16" descr="A yellow cube with black background&#10;&#10;AI-generated content may be incorrect.">
            <a:extLst>
              <a:ext uri="{FF2B5EF4-FFF2-40B4-BE49-F238E27FC236}">
                <a16:creationId xmlns:a16="http://schemas.microsoft.com/office/drawing/2014/main" id="{79ACA73B-61BC-CCA2-832F-BB1A56BF25BD}"/>
              </a:ext>
            </a:extLst>
          </p:cNvPr>
          <p:cNvPicPr>
            <a:picLocks noChangeAspect="1"/>
          </p:cNvPicPr>
          <p:nvPr/>
        </p:nvPicPr>
        <p:blipFill>
          <a:blip r:embed="rId4"/>
          <a:stretch>
            <a:fillRect/>
          </a:stretch>
        </p:blipFill>
        <p:spPr>
          <a:xfrm>
            <a:off x="3065782" y="6010907"/>
            <a:ext cx="256032" cy="219456"/>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FE83E042-CCBD-1642-B1E2-637A24C486EA}"/>
              </a:ext>
            </a:extLst>
          </p:cNvPr>
          <p:cNvPicPr>
            <a:picLocks noChangeAspect="1"/>
          </p:cNvPicPr>
          <p:nvPr/>
        </p:nvPicPr>
        <p:blipFill>
          <a:blip r:embed="rId4">
            <a:alphaModFix amt="28000"/>
          </a:blip>
          <a:stretch>
            <a:fillRect/>
          </a:stretch>
        </p:blipFill>
        <p:spPr>
          <a:xfrm>
            <a:off x="3070354" y="6031936"/>
            <a:ext cx="256032" cy="219456"/>
          </a:xfrm>
          <a:prstGeom prst="rect">
            <a:avLst/>
          </a:prstGeom>
        </p:spPr>
      </p:pic>
      <p:pic>
        <p:nvPicPr>
          <p:cNvPr id="18" name="Picture 16" descr="A yellow cube with black background&#10;&#10;AI-generated content may be incorrect.">
            <a:extLst>
              <a:ext uri="{FF2B5EF4-FFF2-40B4-BE49-F238E27FC236}">
                <a16:creationId xmlns:a16="http://schemas.microsoft.com/office/drawing/2014/main" id="{7D6FB61D-974E-F150-61DE-1C074852F5F8}"/>
              </a:ext>
            </a:extLst>
          </p:cNvPr>
          <p:cNvPicPr>
            <a:picLocks noChangeAspect="1"/>
          </p:cNvPicPr>
          <p:nvPr/>
        </p:nvPicPr>
        <p:blipFill>
          <a:blip r:embed="rId4">
            <a:alphaModFix amt="28000"/>
          </a:blip>
          <a:stretch>
            <a:fillRect/>
          </a:stretch>
        </p:blipFill>
        <p:spPr>
          <a:xfrm>
            <a:off x="3280666" y="6031936"/>
            <a:ext cx="256032" cy="219456"/>
          </a:xfrm>
          <a:prstGeom prst="rect">
            <a:avLst/>
          </a:prstGeom>
        </p:spPr>
      </p:pic>
      <p:graphicFrame>
        <p:nvGraphicFramePr>
          <p:cNvPr id="19" name="Table 6">
            <a:extLst>
              <a:ext uri="{FF2B5EF4-FFF2-40B4-BE49-F238E27FC236}">
                <a16:creationId xmlns:a16="http://schemas.microsoft.com/office/drawing/2014/main" id="{A6020E28-3783-3C98-08EF-BAD203F1A772}"/>
              </a:ext>
            </a:extLst>
          </p:cNvPr>
          <p:cNvGraphicFramePr>
            <a:graphicFrameLocks noGrp="1"/>
          </p:cNvGraphicFramePr>
          <p:nvPr>
            <p:extLst>
              <p:ext uri="{D42A27DB-BD31-4B8C-83A1-F6EECF244321}">
                <p14:modId xmlns:p14="http://schemas.microsoft.com/office/powerpoint/2010/main" val="824170305"/>
              </p:ext>
            </p:extLst>
          </p:nvPr>
        </p:nvGraphicFramePr>
        <p:xfrm>
          <a:off x="4483102" y="4952944"/>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20" name="Picture 9" descr="A green rectangular object with black background&#10;&#10;AI-generated content may be incorrect.">
            <a:extLst>
              <a:ext uri="{FF2B5EF4-FFF2-40B4-BE49-F238E27FC236}">
                <a16:creationId xmlns:a16="http://schemas.microsoft.com/office/drawing/2014/main" id="{6C8CA1DC-6CD1-87B3-76B0-ADA99154BAFB}"/>
              </a:ext>
            </a:extLst>
          </p:cNvPr>
          <p:cNvPicPr>
            <a:picLocks noChangeAspect="1"/>
          </p:cNvPicPr>
          <p:nvPr/>
        </p:nvPicPr>
        <p:blipFill>
          <a:blip r:embed="rId3"/>
          <a:srcRect l="32916" r="35816"/>
          <a:stretch>
            <a:fillRect/>
          </a:stretch>
        </p:blipFill>
        <p:spPr>
          <a:xfrm>
            <a:off x="5132326" y="5428952"/>
            <a:ext cx="246888" cy="1179576"/>
          </a:xfrm>
          <a:prstGeom prst="rect">
            <a:avLst/>
          </a:prstGeom>
        </p:spPr>
      </p:pic>
      <p:pic>
        <p:nvPicPr>
          <p:cNvPr id="23" name="Picture 16" descr="A yellow cube with black background&#10;&#10;AI-generated content may be incorrect.">
            <a:extLst>
              <a:ext uri="{FF2B5EF4-FFF2-40B4-BE49-F238E27FC236}">
                <a16:creationId xmlns:a16="http://schemas.microsoft.com/office/drawing/2014/main" id="{76BC333F-298B-8A12-DB84-F6A531789885}"/>
              </a:ext>
            </a:extLst>
          </p:cNvPr>
          <p:cNvPicPr>
            <a:picLocks noChangeAspect="1"/>
          </p:cNvPicPr>
          <p:nvPr/>
        </p:nvPicPr>
        <p:blipFill>
          <a:blip r:embed="rId4"/>
          <a:stretch>
            <a:fillRect/>
          </a:stretch>
        </p:blipFill>
        <p:spPr>
          <a:xfrm>
            <a:off x="6357622" y="5903920"/>
            <a:ext cx="256032" cy="219456"/>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2C0EF7BA-0D73-C2DC-454E-C6325BE61AE5}"/>
              </a:ext>
            </a:extLst>
          </p:cNvPr>
          <p:cNvPicPr>
            <a:picLocks noChangeAspect="1"/>
          </p:cNvPicPr>
          <p:nvPr/>
        </p:nvPicPr>
        <p:blipFill>
          <a:blip r:embed="rId4"/>
          <a:stretch>
            <a:fillRect/>
          </a:stretch>
        </p:blipFill>
        <p:spPr>
          <a:xfrm>
            <a:off x="6567934" y="5903920"/>
            <a:ext cx="256032" cy="219456"/>
          </a:xfrm>
          <a:prstGeom prst="rect">
            <a:avLst/>
          </a:prstGeom>
        </p:spPr>
      </p:pic>
      <p:pic>
        <p:nvPicPr>
          <p:cNvPr id="25" name="Picture 16" descr="A yellow cube with black background&#10;&#10;AI-generated content may be incorrect.">
            <a:extLst>
              <a:ext uri="{FF2B5EF4-FFF2-40B4-BE49-F238E27FC236}">
                <a16:creationId xmlns:a16="http://schemas.microsoft.com/office/drawing/2014/main" id="{2890CDDC-BCC0-8109-F3D7-ED7C4B8C7289}"/>
              </a:ext>
            </a:extLst>
          </p:cNvPr>
          <p:cNvPicPr>
            <a:picLocks noChangeAspect="1"/>
          </p:cNvPicPr>
          <p:nvPr/>
        </p:nvPicPr>
        <p:blipFill>
          <a:blip r:embed="rId4"/>
          <a:stretch>
            <a:fillRect/>
          </a:stretch>
        </p:blipFill>
        <p:spPr>
          <a:xfrm>
            <a:off x="6778246" y="5903920"/>
            <a:ext cx="256032" cy="219456"/>
          </a:xfrm>
          <a:prstGeom prst="rect">
            <a:avLst/>
          </a:prstGeom>
        </p:spPr>
      </p:pic>
      <p:sp>
        <p:nvSpPr>
          <p:cNvPr id="28" name="Rectangle: Rounded Corners 10">
            <a:extLst>
              <a:ext uri="{FF2B5EF4-FFF2-40B4-BE49-F238E27FC236}">
                <a16:creationId xmlns:a16="http://schemas.microsoft.com/office/drawing/2014/main" id="{ADD08374-540B-1655-5B12-C91B2335B11B}"/>
              </a:ext>
            </a:extLst>
          </p:cNvPr>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34  −  21  =  ?</a:t>
            </a:r>
            <a:endParaRPr lang="en-IN" sz="3200" b="1" dirty="0"/>
          </a:p>
        </p:txBody>
      </p:sp>
      <p:sp>
        <p:nvSpPr>
          <p:cNvPr id="32" name="TextBox 31">
            <a:extLst>
              <a:ext uri="{FF2B5EF4-FFF2-40B4-BE49-F238E27FC236}">
                <a16:creationId xmlns:a16="http://schemas.microsoft.com/office/drawing/2014/main" id="{B2574553-8210-849A-5E8C-331357CEA497}"/>
              </a:ext>
            </a:extLst>
          </p:cNvPr>
          <p:cNvSpPr txBox="1"/>
          <p:nvPr/>
        </p:nvSpPr>
        <p:spPr>
          <a:xfrm>
            <a:off x="8001000" y="-15865"/>
            <a:ext cx="4190999" cy="7725192"/>
          </a:xfrm>
          <a:prstGeom prst="rect">
            <a:avLst/>
          </a:prstGeom>
          <a:noFill/>
        </p:spPr>
        <p:txBody>
          <a:bodyPr wrap="square">
            <a:spAutoFit/>
          </a:bodyPr>
          <a:lstStyle/>
          <a:p>
            <a:r>
              <a:rPr sz="1600" b="1" dirty="0">
                <a:solidFill>
                  <a:srgbClr val="0B3D8C"/>
                </a:solidFill>
              </a:rPr>
              <a:t>Recommendations</a:t>
            </a:r>
          </a:p>
          <a:p>
            <a:r>
              <a:rPr lang="en-US" sz="1200" b="1" i="0" dirty="0">
                <a:solidFill>
                  <a:srgbClr val="1B2A44"/>
                </a:solidFill>
              </a:rPr>
              <a:t>Instruction: </a:t>
            </a:r>
            <a:r>
              <a:rPr lang="hi-IN" sz="1200" dirty="0">
                <a:solidFill>
                  <a:srgbClr val="1B2A44"/>
                </a:solidFill>
              </a:rPr>
              <a:t>संख्याएँ</a:t>
            </a:r>
            <a:r>
              <a:rPr lang="hi-IN" sz="1200" b="0" i="0" dirty="0">
                <a:solidFill>
                  <a:srgbClr val="1B2A44"/>
                </a:solidFill>
              </a:rPr>
              <a:t> घटाइए।</a:t>
            </a:r>
          </a:p>
          <a:p>
            <a:endParaRPr lang="hi-IN" sz="1200" b="0" i="0" dirty="0">
              <a:solidFill>
                <a:srgbClr val="1B2A44"/>
              </a:solidFill>
            </a:endParaRPr>
          </a:p>
          <a:p>
            <a:r>
              <a:rPr lang="en-US" sz="1200" b="0" i="0" dirty="0">
                <a:solidFill>
                  <a:srgbClr val="1B2A44"/>
                </a:solidFill>
              </a:rPr>
              <a:t>Replace the count-and-drag screen with the Equation: 34 − 21 = ?</a:t>
            </a:r>
          </a:p>
          <a:p>
            <a:r>
              <a:rPr lang="en-US" sz="1200" b="0" i="0" dirty="0">
                <a:solidFill>
                  <a:srgbClr val="1B2A44"/>
                </a:solidFill>
              </a:rPr>
              <a:t>Left table: the child builds 34 and removes </a:t>
            </a:r>
            <a:r>
              <a:rPr lang="en-US" sz="1200" dirty="0">
                <a:solidFill>
                  <a:srgbClr val="1B2A44"/>
                </a:solidFill>
              </a:rPr>
              <a:t>21</a:t>
            </a:r>
            <a:r>
              <a:rPr lang="en-US" sz="1200" b="0" i="0" dirty="0">
                <a:solidFill>
                  <a:srgbClr val="1B2A44"/>
                </a:solidFill>
              </a:rPr>
              <a:t> (removed blocks stay greyed-out). Right table: the remaining blocks move here. Then the child picks the answer.</a:t>
            </a:r>
          </a:p>
          <a:p>
            <a:endParaRPr lang="en-US" sz="1200" b="0" i="0" dirty="0">
              <a:solidFill>
                <a:srgbClr val="1B2A44"/>
              </a:solidFill>
            </a:endParaRPr>
          </a:p>
          <a:p>
            <a:r>
              <a:rPr lang="en-US" sz="1200" b="1" i="0" dirty="0">
                <a:solidFill>
                  <a:srgbClr val="1B2A44"/>
                </a:solidFill>
              </a:rPr>
              <a:t>Voice-over</a:t>
            </a:r>
          </a:p>
          <a:p>
            <a:endParaRPr lang="en-US" sz="1200" b="1" i="0" dirty="0">
              <a:solidFill>
                <a:srgbClr val="1B2A44"/>
              </a:solidFill>
            </a:endParaRPr>
          </a:p>
          <a:p>
            <a:r>
              <a:rPr lang="en-US" sz="1200" b="0" i="0" dirty="0">
                <a:solidFill>
                  <a:srgbClr val="1B2A44"/>
                </a:solidFill>
              </a:rPr>
              <a:t>34</a:t>
            </a:r>
            <a:r>
              <a:rPr lang="hi-IN" sz="1200" b="0" i="0" dirty="0">
                <a:solidFill>
                  <a:srgbClr val="1B2A44"/>
                </a:solidFill>
              </a:rPr>
              <a:t> में से </a:t>
            </a:r>
            <a:r>
              <a:rPr lang="en-US" sz="1200" b="0" i="0" dirty="0">
                <a:solidFill>
                  <a:srgbClr val="1B2A44"/>
                </a:solidFill>
              </a:rPr>
              <a:t>21</a:t>
            </a:r>
            <a:r>
              <a:rPr lang="hi-IN" sz="1200" b="0" i="0" dirty="0">
                <a:solidFill>
                  <a:srgbClr val="1B2A44"/>
                </a:solidFill>
              </a:rPr>
              <a:t> घटाइए।</a:t>
            </a:r>
          </a:p>
          <a:p>
            <a:r>
              <a:rPr lang="hi-IN" sz="1200" b="0" i="0" dirty="0">
                <a:solidFill>
                  <a:srgbClr val="1B2A44"/>
                </a:solidFill>
              </a:rPr>
              <a:t>सबसे पहले ब्लॉक्स की सहायता से </a:t>
            </a:r>
            <a:r>
              <a:rPr lang="en-US" sz="1200" b="0" i="0" dirty="0">
                <a:solidFill>
                  <a:srgbClr val="1B2A44"/>
                </a:solidFill>
              </a:rPr>
              <a:t>34</a:t>
            </a:r>
            <a:r>
              <a:rPr lang="hi-IN" sz="1200" b="0" i="0" dirty="0">
                <a:solidFill>
                  <a:srgbClr val="1B2A44"/>
                </a:solidFill>
              </a:rPr>
              <a:t> बनाते है।</a:t>
            </a:r>
            <a:r>
              <a:rPr lang="en-US" sz="1200" b="0" i="0" dirty="0">
                <a:solidFill>
                  <a:srgbClr val="1B2A44"/>
                </a:solidFill>
              </a:rPr>
              <a:t> </a:t>
            </a:r>
            <a:r>
              <a:rPr lang="hi-IN" sz="1200" b="0" i="0" dirty="0">
                <a:solidFill>
                  <a:srgbClr val="1B2A44"/>
                </a:solidFill>
              </a:rPr>
              <a:t>जिसमे </a:t>
            </a:r>
            <a:r>
              <a:rPr lang="en-US" sz="1200" b="0" i="0" dirty="0">
                <a:solidFill>
                  <a:srgbClr val="1B2A44"/>
                </a:solidFill>
              </a:rPr>
              <a:t>3</a:t>
            </a:r>
            <a:r>
              <a:rPr lang="hi-IN" sz="1200" b="0" i="0" dirty="0">
                <a:solidFill>
                  <a:srgbClr val="1B2A44"/>
                </a:solidFill>
              </a:rPr>
              <a:t> दहाई और </a:t>
            </a:r>
            <a:r>
              <a:rPr lang="en-US" sz="1200" b="0" i="0" dirty="0">
                <a:solidFill>
                  <a:srgbClr val="1B2A44"/>
                </a:solidFill>
              </a:rPr>
              <a:t>4</a:t>
            </a:r>
            <a:r>
              <a:rPr lang="hi-IN" sz="1200" b="0" i="0" dirty="0">
                <a:solidFill>
                  <a:srgbClr val="1B2A44"/>
                </a:solidFill>
              </a:rPr>
              <a:t> इकाई होते है। </a:t>
            </a:r>
          </a:p>
          <a:p>
            <a:r>
              <a:rPr lang="en-US" sz="1200" b="0" i="0" dirty="0">
                <a:solidFill>
                  <a:srgbClr val="1B2A44"/>
                </a:solidFill>
              </a:rPr>
              <a:t>Tap and insert tens and ones blocks until the required number of blocks inserted.</a:t>
            </a:r>
            <a:endParaRPr lang="hi-IN" sz="1200" b="0" i="0" dirty="0">
              <a:solidFill>
                <a:srgbClr val="1B2A44"/>
              </a:solidFill>
            </a:endParaRPr>
          </a:p>
          <a:p>
            <a:endParaRPr lang="en-US" sz="1200" b="0" i="0" dirty="0">
              <a:solidFill>
                <a:srgbClr val="1B2A44"/>
              </a:solidFill>
            </a:endParaRPr>
          </a:p>
          <a:p>
            <a:r>
              <a:rPr lang="hi-IN" sz="1200" b="0" i="0" dirty="0">
                <a:solidFill>
                  <a:srgbClr val="1B2A44"/>
                </a:solidFill>
              </a:rPr>
              <a:t>और अब </a:t>
            </a:r>
            <a:r>
              <a:rPr lang="en-US" sz="1200" b="0" i="0" dirty="0">
                <a:solidFill>
                  <a:srgbClr val="1B2A44"/>
                </a:solidFill>
              </a:rPr>
              <a:t>21</a:t>
            </a:r>
            <a:r>
              <a:rPr lang="hi-IN" sz="1200" b="0" i="0" dirty="0">
                <a:solidFill>
                  <a:srgbClr val="1B2A44"/>
                </a:solidFill>
              </a:rPr>
              <a:t> घटाते है, </a:t>
            </a:r>
            <a:r>
              <a:rPr lang="en-US" sz="1200" b="0" i="0" dirty="0">
                <a:solidFill>
                  <a:srgbClr val="1B2A44"/>
                </a:solidFill>
              </a:rPr>
              <a:t>21</a:t>
            </a:r>
            <a:r>
              <a:rPr lang="hi-IN" sz="1200" b="0" i="0" dirty="0">
                <a:solidFill>
                  <a:srgbClr val="1B2A44"/>
                </a:solidFill>
              </a:rPr>
              <a:t> में 2 दहाई और </a:t>
            </a:r>
            <a:r>
              <a:rPr lang="en-US" sz="1200" b="0" i="0" dirty="0">
                <a:solidFill>
                  <a:srgbClr val="1B2A44"/>
                </a:solidFill>
              </a:rPr>
              <a:t>1</a:t>
            </a:r>
            <a:r>
              <a:rPr lang="hi-IN" sz="1200" b="0" i="0" dirty="0">
                <a:solidFill>
                  <a:srgbClr val="1B2A44"/>
                </a:solidFill>
              </a:rPr>
              <a:t> इकाई हैं।</a:t>
            </a:r>
          </a:p>
          <a:p>
            <a:r>
              <a:rPr lang="hi-IN" sz="1200" b="0" i="0" dirty="0">
                <a:solidFill>
                  <a:srgbClr val="1B2A44"/>
                </a:solidFill>
              </a:rPr>
              <a:t>तो पहले</a:t>
            </a:r>
            <a:r>
              <a:rPr lang="en-US" sz="1200" b="0" i="0" dirty="0">
                <a:solidFill>
                  <a:srgbClr val="1B2A44"/>
                </a:solidFill>
              </a:rPr>
              <a:t> 4</a:t>
            </a:r>
            <a:r>
              <a:rPr lang="hi-IN" sz="1200" b="0" i="0" dirty="0">
                <a:solidFill>
                  <a:srgbClr val="1B2A44"/>
                </a:solidFill>
              </a:rPr>
              <a:t> इकाई में से </a:t>
            </a:r>
            <a:r>
              <a:rPr lang="en-US" sz="1200" b="0" i="0" dirty="0">
                <a:solidFill>
                  <a:srgbClr val="1B2A44"/>
                </a:solidFill>
              </a:rPr>
              <a:t>1</a:t>
            </a:r>
            <a:r>
              <a:rPr lang="hi-IN" sz="1200" b="0" i="0" dirty="0">
                <a:solidFill>
                  <a:srgbClr val="1B2A44"/>
                </a:solidFill>
              </a:rPr>
              <a:t> इकाई हटाइए</a:t>
            </a:r>
            <a:r>
              <a:rPr lang="hi-IN" sz="1200" dirty="0">
                <a:solidFill>
                  <a:srgbClr val="1B2A44"/>
                </a:solidFill>
              </a:rPr>
              <a:t> फिर </a:t>
            </a:r>
            <a:r>
              <a:rPr lang="en-US" sz="1200" b="0" i="0" dirty="0">
                <a:solidFill>
                  <a:srgbClr val="1B2A44"/>
                </a:solidFill>
              </a:rPr>
              <a:t>3</a:t>
            </a:r>
            <a:r>
              <a:rPr lang="hi-IN" sz="1200" b="0" i="0" dirty="0">
                <a:solidFill>
                  <a:srgbClr val="1B2A44"/>
                </a:solidFill>
              </a:rPr>
              <a:t> दहाई में से 2 दहाई हटाइए।</a:t>
            </a:r>
            <a:endParaRPr lang="en-US" sz="1200" b="0" i="0" dirty="0">
              <a:solidFill>
                <a:srgbClr val="1B2A44"/>
              </a:solidFill>
            </a:endParaRPr>
          </a:p>
          <a:p>
            <a:r>
              <a:rPr lang="en-US" sz="1200" dirty="0">
                <a:solidFill>
                  <a:srgbClr val="1B2A44"/>
                </a:solidFill>
              </a:rPr>
              <a:t>If the child removes more or fewer Tens/Ones blocks than required, all the blocks should return to their original positions.</a:t>
            </a:r>
          </a:p>
          <a:p>
            <a:r>
              <a:rPr lang="en-US" sz="1200" b="1" dirty="0">
                <a:solidFill>
                  <a:srgbClr val="1B2A44"/>
                </a:solidFill>
              </a:rPr>
              <a:t>First Incorrect Attempt:</a:t>
            </a:r>
          </a:p>
          <a:p>
            <a:r>
              <a:rPr lang="hi-IN" sz="1200" dirty="0">
                <a:solidFill>
                  <a:srgbClr val="1B2A44"/>
                </a:solidFill>
              </a:rPr>
              <a:t>- </a:t>
            </a:r>
            <a:r>
              <a:rPr lang="en-US" sz="1200" dirty="0">
                <a:solidFill>
                  <a:srgbClr val="1B2A44"/>
                </a:solidFill>
              </a:rPr>
              <a:t>Reset all the removed blocks.</a:t>
            </a:r>
          </a:p>
          <a:p>
            <a:r>
              <a:rPr lang="hi-IN" sz="1200" dirty="0">
                <a:solidFill>
                  <a:srgbClr val="1B2A44"/>
                </a:solidFill>
              </a:rPr>
              <a:t>- </a:t>
            </a:r>
            <a:r>
              <a:rPr lang="en-US" sz="1200" dirty="0">
                <a:solidFill>
                  <a:srgbClr val="1B2A44"/>
                </a:solidFill>
              </a:rPr>
              <a:t>Play the appropriate VO:</a:t>
            </a:r>
          </a:p>
          <a:p>
            <a:r>
              <a:rPr lang="hi-IN" sz="1200" dirty="0">
                <a:solidFill>
                  <a:srgbClr val="1B2A44"/>
                </a:solidFill>
              </a:rPr>
              <a:t>  - </a:t>
            </a:r>
            <a:r>
              <a:rPr lang="en-US" sz="1200" dirty="0">
                <a:solidFill>
                  <a:srgbClr val="1B2A44"/>
                </a:solidFill>
              </a:rPr>
              <a:t>Ones: "</a:t>
            </a:r>
            <a:r>
              <a:rPr lang="en-US" sz="1200" dirty="0" err="1">
                <a:solidFill>
                  <a:srgbClr val="1B2A44"/>
                </a:solidFill>
              </a:rPr>
              <a:t>आपने</a:t>
            </a:r>
            <a:r>
              <a:rPr lang="en-US" sz="1200" dirty="0">
                <a:solidFill>
                  <a:srgbClr val="1B2A44"/>
                </a:solidFill>
              </a:rPr>
              <a:t> </a:t>
            </a:r>
            <a:r>
              <a:rPr lang="en-US" sz="1200" dirty="0" err="1">
                <a:solidFill>
                  <a:srgbClr val="1B2A44"/>
                </a:solidFill>
              </a:rPr>
              <a:t>इकाई</a:t>
            </a:r>
            <a:r>
              <a:rPr lang="en-US" sz="1200" dirty="0">
                <a:solidFill>
                  <a:srgbClr val="1B2A44"/>
                </a:solidFill>
              </a:rPr>
              <a:t> </a:t>
            </a:r>
            <a:r>
              <a:rPr lang="en-US" sz="1200" dirty="0" err="1">
                <a:solidFill>
                  <a:srgbClr val="1B2A44"/>
                </a:solidFill>
              </a:rPr>
              <a:t>में</a:t>
            </a:r>
            <a:r>
              <a:rPr lang="en-US" sz="1200" dirty="0">
                <a:solidFill>
                  <a:srgbClr val="1B2A44"/>
                </a:solidFill>
              </a:rPr>
              <a:t> </a:t>
            </a:r>
            <a:r>
              <a:rPr lang="en-US" sz="1200" dirty="0" err="1">
                <a:solidFill>
                  <a:srgbClr val="1B2A44"/>
                </a:solidFill>
              </a:rPr>
              <a:t>ज़्यादा</a:t>
            </a:r>
            <a:r>
              <a:rPr lang="en-US" sz="1200" dirty="0">
                <a:solidFill>
                  <a:srgbClr val="1B2A44"/>
                </a:solidFill>
              </a:rPr>
              <a:t>/</a:t>
            </a:r>
            <a:r>
              <a:rPr lang="en-US" sz="1200" dirty="0" err="1">
                <a:solidFill>
                  <a:srgbClr val="1B2A44"/>
                </a:solidFill>
              </a:rPr>
              <a:t>कम</a:t>
            </a:r>
            <a:r>
              <a:rPr lang="en-US" sz="1200" dirty="0">
                <a:solidFill>
                  <a:srgbClr val="1B2A44"/>
                </a:solidFill>
              </a:rPr>
              <a:t> </a:t>
            </a:r>
            <a:r>
              <a:rPr lang="en-US" sz="1200" dirty="0" err="1">
                <a:solidFill>
                  <a:srgbClr val="1B2A44"/>
                </a:solidFill>
              </a:rPr>
              <a:t>हटाए</a:t>
            </a:r>
            <a:r>
              <a:rPr lang="en-US" sz="1200" dirty="0">
                <a:solidFill>
                  <a:srgbClr val="1B2A44"/>
                </a:solidFill>
              </a:rPr>
              <a:t> </a:t>
            </a:r>
            <a:r>
              <a:rPr lang="en-US" sz="1200" dirty="0" err="1">
                <a:solidFill>
                  <a:srgbClr val="1B2A44"/>
                </a:solidFill>
              </a:rPr>
              <a:t>हैं</a:t>
            </a:r>
            <a:r>
              <a:rPr lang="en-US" sz="1200" dirty="0">
                <a:solidFill>
                  <a:srgbClr val="1B2A44"/>
                </a:solidFill>
              </a:rPr>
              <a:t>। </a:t>
            </a:r>
            <a:r>
              <a:rPr lang="en-US" sz="1200" dirty="0" err="1">
                <a:solidFill>
                  <a:srgbClr val="1B2A44"/>
                </a:solidFill>
              </a:rPr>
              <a:t>दोबारा</a:t>
            </a:r>
            <a:r>
              <a:rPr lang="en-US" sz="1200" dirty="0">
                <a:solidFill>
                  <a:srgbClr val="1B2A44"/>
                </a:solidFill>
              </a:rPr>
              <a:t> </a:t>
            </a:r>
            <a:r>
              <a:rPr lang="en-US" sz="1200" dirty="0" err="1">
                <a:solidFill>
                  <a:srgbClr val="1B2A44"/>
                </a:solidFill>
              </a:rPr>
              <a:t>कोशिश</a:t>
            </a:r>
            <a:r>
              <a:rPr lang="en-US" sz="1200" dirty="0">
                <a:solidFill>
                  <a:srgbClr val="1B2A44"/>
                </a:solidFill>
              </a:rPr>
              <a:t> </a:t>
            </a:r>
            <a:r>
              <a:rPr lang="en-US" sz="1200" dirty="0" err="1">
                <a:solidFill>
                  <a:srgbClr val="1B2A44"/>
                </a:solidFill>
              </a:rPr>
              <a:t>करिए</a:t>
            </a:r>
            <a:r>
              <a:rPr lang="en-US" sz="1200" dirty="0">
                <a:solidFill>
                  <a:srgbClr val="1B2A44"/>
                </a:solidFill>
              </a:rPr>
              <a:t>।"</a:t>
            </a:r>
          </a:p>
          <a:p>
            <a:r>
              <a:rPr lang="hi-IN" sz="1200" dirty="0">
                <a:solidFill>
                  <a:srgbClr val="1B2A44"/>
                </a:solidFill>
              </a:rPr>
              <a:t>  - </a:t>
            </a:r>
            <a:r>
              <a:rPr lang="en-US" sz="1200" dirty="0">
                <a:solidFill>
                  <a:srgbClr val="1B2A44"/>
                </a:solidFill>
              </a:rPr>
              <a:t>Tens: "</a:t>
            </a:r>
            <a:r>
              <a:rPr lang="en-US" sz="1200" dirty="0" err="1">
                <a:solidFill>
                  <a:srgbClr val="1B2A44"/>
                </a:solidFill>
              </a:rPr>
              <a:t>आपने</a:t>
            </a:r>
            <a:r>
              <a:rPr lang="en-US" sz="1200" dirty="0">
                <a:solidFill>
                  <a:srgbClr val="1B2A44"/>
                </a:solidFill>
              </a:rPr>
              <a:t> </a:t>
            </a:r>
            <a:r>
              <a:rPr lang="en-US" sz="1200" dirty="0" err="1">
                <a:solidFill>
                  <a:srgbClr val="1B2A44"/>
                </a:solidFill>
              </a:rPr>
              <a:t>दहाई</a:t>
            </a:r>
            <a:r>
              <a:rPr lang="en-US" sz="1200" dirty="0">
                <a:solidFill>
                  <a:srgbClr val="1B2A44"/>
                </a:solidFill>
              </a:rPr>
              <a:t> </a:t>
            </a:r>
            <a:r>
              <a:rPr lang="en-US" sz="1200" dirty="0" err="1">
                <a:solidFill>
                  <a:srgbClr val="1B2A44"/>
                </a:solidFill>
              </a:rPr>
              <a:t>में</a:t>
            </a:r>
            <a:r>
              <a:rPr lang="en-US" sz="1200" dirty="0">
                <a:solidFill>
                  <a:srgbClr val="1B2A44"/>
                </a:solidFill>
              </a:rPr>
              <a:t> </a:t>
            </a:r>
            <a:r>
              <a:rPr lang="en-US" sz="1200" dirty="0" err="1">
                <a:solidFill>
                  <a:srgbClr val="1B2A44"/>
                </a:solidFill>
              </a:rPr>
              <a:t>ज़्यादा</a:t>
            </a:r>
            <a:r>
              <a:rPr lang="en-US" sz="1200" dirty="0">
                <a:solidFill>
                  <a:srgbClr val="1B2A44"/>
                </a:solidFill>
              </a:rPr>
              <a:t>/</a:t>
            </a:r>
            <a:r>
              <a:rPr lang="en-US" sz="1200" dirty="0" err="1">
                <a:solidFill>
                  <a:srgbClr val="1B2A44"/>
                </a:solidFill>
              </a:rPr>
              <a:t>कम</a:t>
            </a:r>
            <a:r>
              <a:rPr lang="en-US" sz="1200" dirty="0">
                <a:solidFill>
                  <a:srgbClr val="1B2A44"/>
                </a:solidFill>
              </a:rPr>
              <a:t> </a:t>
            </a:r>
            <a:r>
              <a:rPr lang="en-US" sz="1200" dirty="0" err="1">
                <a:solidFill>
                  <a:srgbClr val="1B2A44"/>
                </a:solidFill>
              </a:rPr>
              <a:t>हटाए</a:t>
            </a:r>
            <a:r>
              <a:rPr lang="en-US" sz="1200" dirty="0">
                <a:solidFill>
                  <a:srgbClr val="1B2A44"/>
                </a:solidFill>
              </a:rPr>
              <a:t> </a:t>
            </a:r>
            <a:r>
              <a:rPr lang="en-US" sz="1200" dirty="0" err="1">
                <a:solidFill>
                  <a:srgbClr val="1B2A44"/>
                </a:solidFill>
              </a:rPr>
              <a:t>हैं</a:t>
            </a:r>
            <a:r>
              <a:rPr lang="en-US" sz="1200" dirty="0">
                <a:solidFill>
                  <a:srgbClr val="1B2A44"/>
                </a:solidFill>
              </a:rPr>
              <a:t>। </a:t>
            </a:r>
            <a:r>
              <a:rPr lang="en-US" sz="1200" dirty="0" err="1">
                <a:solidFill>
                  <a:srgbClr val="1B2A44"/>
                </a:solidFill>
              </a:rPr>
              <a:t>दोबारा</a:t>
            </a:r>
            <a:r>
              <a:rPr lang="en-US" sz="1200" dirty="0">
                <a:solidFill>
                  <a:srgbClr val="1B2A44"/>
                </a:solidFill>
              </a:rPr>
              <a:t> </a:t>
            </a:r>
            <a:r>
              <a:rPr lang="en-US" sz="1200" dirty="0" err="1">
                <a:solidFill>
                  <a:srgbClr val="1B2A44"/>
                </a:solidFill>
              </a:rPr>
              <a:t>कोशिश</a:t>
            </a:r>
            <a:r>
              <a:rPr lang="en-US" sz="1200" dirty="0">
                <a:solidFill>
                  <a:srgbClr val="1B2A44"/>
                </a:solidFill>
              </a:rPr>
              <a:t> </a:t>
            </a:r>
            <a:r>
              <a:rPr lang="en-US" sz="1200" dirty="0" err="1">
                <a:solidFill>
                  <a:srgbClr val="1B2A44"/>
                </a:solidFill>
              </a:rPr>
              <a:t>करिए</a:t>
            </a:r>
            <a:r>
              <a:rPr lang="en-US" sz="1200" dirty="0">
                <a:solidFill>
                  <a:srgbClr val="1B2A44"/>
                </a:solidFill>
              </a:rPr>
              <a:t>।"</a:t>
            </a:r>
          </a:p>
          <a:p>
            <a:r>
              <a:rPr lang="en-US" sz="1200" b="1" dirty="0">
                <a:solidFill>
                  <a:srgbClr val="1B2A44"/>
                </a:solidFill>
              </a:rPr>
              <a:t>Second Incorrect Attempt</a:t>
            </a:r>
            <a:r>
              <a:rPr lang="en-US" sz="1200" dirty="0">
                <a:solidFill>
                  <a:srgbClr val="1B2A44"/>
                </a:solidFill>
              </a:rPr>
              <a:t>:</a:t>
            </a:r>
          </a:p>
          <a:p>
            <a:r>
              <a:rPr lang="hi-IN" sz="1200" dirty="0">
                <a:solidFill>
                  <a:srgbClr val="1B2A44"/>
                </a:solidFill>
              </a:rPr>
              <a:t>- </a:t>
            </a:r>
            <a:r>
              <a:rPr lang="en-US" sz="1200" dirty="0">
                <a:solidFill>
                  <a:srgbClr val="1B2A44"/>
                </a:solidFill>
              </a:rPr>
              <a:t>Reset all the removed blocks again.</a:t>
            </a:r>
          </a:p>
          <a:p>
            <a:r>
              <a:rPr lang="hi-IN" sz="1200" dirty="0">
                <a:solidFill>
                  <a:srgbClr val="1B2A44"/>
                </a:solidFill>
              </a:rPr>
              <a:t>  - </a:t>
            </a:r>
            <a:r>
              <a:rPr lang="en-US" sz="1200" dirty="0">
                <a:solidFill>
                  <a:srgbClr val="1B2A44"/>
                </a:solidFill>
              </a:rPr>
              <a:t>Play the VO:</a:t>
            </a:r>
            <a:r>
              <a:rPr lang="hi-IN" sz="1200" dirty="0">
                <a:solidFill>
                  <a:srgbClr val="1B2A44"/>
                </a:solidFill>
              </a:rPr>
              <a:t> </a:t>
            </a:r>
            <a:r>
              <a:rPr lang="en-US" sz="1200" dirty="0">
                <a:solidFill>
                  <a:srgbClr val="1B2A44"/>
                </a:solidFill>
              </a:rPr>
              <a:t>"</a:t>
            </a:r>
            <a:r>
              <a:rPr lang="en-US" sz="1200" dirty="0" err="1">
                <a:solidFill>
                  <a:srgbClr val="1B2A44"/>
                </a:solidFill>
              </a:rPr>
              <a:t>इनमें</a:t>
            </a:r>
            <a:r>
              <a:rPr lang="en-US" sz="1200" dirty="0">
                <a:solidFill>
                  <a:srgbClr val="1B2A44"/>
                </a:solidFill>
              </a:rPr>
              <a:t> </a:t>
            </a:r>
            <a:r>
              <a:rPr lang="en-US" sz="1200" dirty="0" err="1">
                <a:solidFill>
                  <a:srgbClr val="1B2A44"/>
                </a:solidFill>
              </a:rPr>
              <a:t>से</a:t>
            </a:r>
            <a:r>
              <a:rPr lang="en-US" sz="1200" dirty="0">
                <a:solidFill>
                  <a:srgbClr val="1B2A44"/>
                </a:solidFill>
              </a:rPr>
              <a:t> </a:t>
            </a:r>
            <a:r>
              <a:rPr lang="en-US" sz="1200" dirty="0" err="1">
                <a:solidFill>
                  <a:srgbClr val="1B2A44"/>
                </a:solidFill>
              </a:rPr>
              <a:t>इतने</a:t>
            </a:r>
            <a:r>
              <a:rPr lang="en-US" sz="1200" dirty="0">
                <a:solidFill>
                  <a:srgbClr val="1B2A44"/>
                </a:solidFill>
              </a:rPr>
              <a:t> </a:t>
            </a:r>
            <a:r>
              <a:rPr lang="en-US" sz="1200" dirty="0" err="1">
                <a:solidFill>
                  <a:srgbClr val="1B2A44"/>
                </a:solidFill>
              </a:rPr>
              <a:t>हटाइए</a:t>
            </a:r>
            <a:r>
              <a:rPr lang="en-US" sz="1200" dirty="0">
                <a:solidFill>
                  <a:srgbClr val="1B2A44"/>
                </a:solidFill>
              </a:rPr>
              <a:t>।"</a:t>
            </a:r>
          </a:p>
          <a:p>
            <a:r>
              <a:rPr lang="en-US" sz="1200" dirty="0">
                <a:solidFill>
                  <a:srgbClr val="1B2A44"/>
                </a:solidFill>
              </a:rPr>
              <a:t>After this hint, only the required number of Tens/Ones blocks should remain tappable, while the remaining blocks should be disabled to guide the child toward the correct answer.</a:t>
            </a:r>
            <a:endParaRPr lang="hi-IN" sz="1200" b="0" i="0" dirty="0">
              <a:solidFill>
                <a:srgbClr val="1B2A44"/>
              </a:solidFill>
            </a:endParaRPr>
          </a:p>
          <a:p>
            <a:endParaRPr lang="hi-IN" sz="1200" dirty="0">
              <a:solidFill>
                <a:srgbClr val="1B2A44"/>
              </a:solidFill>
            </a:endParaRPr>
          </a:p>
          <a:p>
            <a:r>
              <a:rPr lang="hi-IN" sz="1200" b="0" i="0" dirty="0">
                <a:solidFill>
                  <a:srgbClr val="1B2A44"/>
                </a:solidFill>
              </a:rPr>
              <a:t>शाबाश! </a:t>
            </a:r>
            <a:r>
              <a:rPr lang="en-US" sz="1200" b="0" i="0" dirty="0">
                <a:solidFill>
                  <a:srgbClr val="1B2A44"/>
                </a:solidFill>
              </a:rPr>
              <a:t>34</a:t>
            </a:r>
            <a:r>
              <a:rPr lang="hi-IN" sz="1200" b="0" i="0" dirty="0">
                <a:solidFill>
                  <a:srgbClr val="1B2A44"/>
                </a:solidFill>
              </a:rPr>
              <a:t> में से </a:t>
            </a:r>
            <a:r>
              <a:rPr lang="en-US" sz="1200" b="0" i="0" dirty="0">
                <a:solidFill>
                  <a:srgbClr val="1B2A44"/>
                </a:solidFill>
              </a:rPr>
              <a:t>21</a:t>
            </a:r>
            <a:r>
              <a:rPr lang="hi-IN" sz="1200" b="0" i="0" dirty="0">
                <a:solidFill>
                  <a:srgbClr val="1B2A44"/>
                </a:solidFill>
              </a:rPr>
              <a:t> घटाने पर हमें मिलीं </a:t>
            </a:r>
            <a:r>
              <a:rPr lang="en-US" sz="1200" b="0" i="0" dirty="0">
                <a:solidFill>
                  <a:srgbClr val="1B2A44"/>
                </a:solidFill>
              </a:rPr>
              <a:t>1</a:t>
            </a:r>
            <a:r>
              <a:rPr lang="hi-IN" sz="1200" b="0" i="0" dirty="0">
                <a:solidFill>
                  <a:srgbClr val="1B2A44"/>
                </a:solidFill>
              </a:rPr>
              <a:t> दहाई और </a:t>
            </a:r>
            <a:r>
              <a:rPr lang="en-US" sz="1200" b="0" i="0" dirty="0">
                <a:solidFill>
                  <a:srgbClr val="1B2A44"/>
                </a:solidFill>
              </a:rPr>
              <a:t>3</a:t>
            </a:r>
            <a:r>
              <a:rPr lang="hi-IN" sz="1200" b="0" i="0" dirty="0">
                <a:solidFill>
                  <a:srgbClr val="1B2A44"/>
                </a:solidFill>
              </a:rPr>
              <a:t> इकाई, यानी </a:t>
            </a:r>
            <a:r>
              <a:rPr lang="en-US" sz="1200" b="0" i="0" dirty="0">
                <a:solidFill>
                  <a:srgbClr val="1B2A44"/>
                </a:solidFill>
              </a:rPr>
              <a:t>13. </a:t>
            </a:r>
          </a:p>
          <a:p>
            <a:r>
              <a:rPr lang="hi-IN" sz="1200" b="0" i="0" dirty="0">
                <a:solidFill>
                  <a:srgbClr val="1B2A44"/>
                </a:solidFill>
              </a:rPr>
              <a:t>Visual: </a:t>
            </a:r>
            <a:r>
              <a:rPr lang="en-US" sz="1200" b="0" i="0" dirty="0">
                <a:solidFill>
                  <a:srgbClr val="1B2A44"/>
                </a:solidFill>
              </a:rPr>
              <a:t>13 will go on the box and replace </a:t>
            </a:r>
            <a:r>
              <a:rPr lang="en-US" sz="1200" dirty="0">
                <a:solidFill>
                  <a:srgbClr val="1B2A44"/>
                </a:solidFill>
              </a:rPr>
              <a:t>with question mark ‘?’.</a:t>
            </a:r>
            <a:endParaRPr lang="hi-IN" sz="1200" b="0" i="0" dirty="0">
              <a:solidFill>
                <a:srgbClr val="1B2A44"/>
              </a:solidFill>
            </a:endParaRPr>
          </a:p>
          <a:p>
            <a:r>
              <a:rPr lang="hi-IN" sz="1200" b="0" i="0" dirty="0">
                <a:solidFill>
                  <a:srgbClr val="1B2A44"/>
                </a:solidFill>
              </a:rPr>
              <a:t>इसलिए </a:t>
            </a:r>
            <a:r>
              <a:rPr lang="en-US" sz="1200" b="0" i="0" dirty="0">
                <a:solidFill>
                  <a:srgbClr val="1B2A44"/>
                </a:solidFill>
              </a:rPr>
              <a:t>34 </a:t>
            </a:r>
            <a:r>
              <a:rPr lang="hi-IN" sz="1200" b="0" i="0" dirty="0">
                <a:solidFill>
                  <a:srgbClr val="1B2A44"/>
                </a:solidFill>
              </a:rPr>
              <a:t>घटा </a:t>
            </a:r>
            <a:r>
              <a:rPr lang="en-US" sz="1200" dirty="0">
                <a:solidFill>
                  <a:srgbClr val="1B2A44"/>
                </a:solidFill>
              </a:rPr>
              <a:t>21</a:t>
            </a:r>
            <a:r>
              <a:rPr lang="hi-IN" sz="1200" b="0" i="0" dirty="0">
                <a:solidFill>
                  <a:srgbClr val="1B2A44"/>
                </a:solidFill>
              </a:rPr>
              <a:t> बराबर </a:t>
            </a:r>
            <a:r>
              <a:rPr lang="en-US" sz="1200" b="0" i="0" dirty="0">
                <a:solidFill>
                  <a:srgbClr val="1B2A44"/>
                </a:solidFill>
              </a:rPr>
              <a:t>13 [Number Sync with VO]</a:t>
            </a:r>
            <a:endParaRPr lang="hi-IN" sz="1200" b="0" i="0" dirty="0">
              <a:solidFill>
                <a:srgbClr val="1B2A44"/>
              </a:solidFill>
            </a:endParaRPr>
          </a:p>
        </p:txBody>
      </p:sp>
      <p:pic>
        <p:nvPicPr>
          <p:cNvPr id="4" name="Picture 9" descr="A green rectangular object with black background&#10;&#10;AI-generated content may be incorrect.">
            <a:extLst>
              <a:ext uri="{FF2B5EF4-FFF2-40B4-BE49-F238E27FC236}">
                <a16:creationId xmlns:a16="http://schemas.microsoft.com/office/drawing/2014/main" id="{89820E02-3C78-138E-482B-242C7E3101C3}"/>
              </a:ext>
            </a:extLst>
          </p:cNvPr>
          <p:cNvPicPr>
            <a:picLocks noChangeAspect="1"/>
          </p:cNvPicPr>
          <p:nvPr/>
        </p:nvPicPr>
        <p:blipFill>
          <a:blip r:embed="rId3">
            <a:alphaModFix amt="28000"/>
          </a:blip>
          <a:srcRect l="32916" r="35816"/>
          <a:stretch>
            <a:fillRect/>
          </a:stretch>
        </p:blipFill>
        <p:spPr>
          <a:xfrm>
            <a:off x="1658095" y="5437576"/>
            <a:ext cx="246888" cy="1179576"/>
          </a:xfrm>
          <a:prstGeom prst="rect">
            <a:avLst/>
          </a:prstGeom>
        </p:spPr>
      </p:pic>
      <p:pic>
        <p:nvPicPr>
          <p:cNvPr id="41" name="Picture 40">
            <a:extLst>
              <a:ext uri="{FF2B5EF4-FFF2-40B4-BE49-F238E27FC236}">
                <a16:creationId xmlns:a16="http://schemas.microsoft.com/office/drawing/2014/main" id="{796403B8-6CA8-90FF-D474-E42522641BA1}"/>
              </a:ext>
            </a:extLst>
          </p:cNvPr>
          <p:cNvPicPr>
            <a:picLocks noChangeAspect="1"/>
          </p:cNvPicPr>
          <p:nvPr/>
        </p:nvPicPr>
        <p:blipFill>
          <a:blip r:embed="rId5"/>
          <a:srcRect/>
          <a:stretch>
            <a:fillRect/>
          </a:stretch>
        </p:blipFill>
        <p:spPr>
          <a:xfrm>
            <a:off x="2993697" y="4324625"/>
            <a:ext cx="1086002" cy="523948"/>
          </a:xfrm>
          <a:prstGeom prst="rect">
            <a:avLst/>
          </a:prstGeom>
        </p:spPr>
      </p:pic>
      <p:pic>
        <p:nvPicPr>
          <p:cNvPr id="42" name="Picture 16">
            <a:extLst>
              <a:ext uri="{FF2B5EF4-FFF2-40B4-BE49-F238E27FC236}">
                <a16:creationId xmlns:a16="http://schemas.microsoft.com/office/drawing/2014/main" id="{2B4F4AB5-97A0-8FC8-8C27-72A262717615}"/>
              </a:ext>
            </a:extLst>
          </p:cNvPr>
          <p:cNvPicPr>
            <a:picLocks noChangeAspect="1"/>
          </p:cNvPicPr>
          <p:nvPr/>
        </p:nvPicPr>
        <p:blipFill>
          <a:blip r:embed="rId6"/>
          <a:stretch>
            <a:fillRect/>
          </a:stretch>
        </p:blipFill>
        <p:spPr>
          <a:xfrm>
            <a:off x="4546343" y="4290789"/>
            <a:ext cx="1373908" cy="523948"/>
          </a:xfrm>
          <a:prstGeom prst="rect">
            <a:avLst/>
          </a:prstGeom>
        </p:spPr>
      </p:pic>
      <p:graphicFrame>
        <p:nvGraphicFramePr>
          <p:cNvPr id="43" name="Table 42">
            <a:extLst>
              <a:ext uri="{FF2B5EF4-FFF2-40B4-BE49-F238E27FC236}">
                <a16:creationId xmlns:a16="http://schemas.microsoft.com/office/drawing/2014/main" id="{BF21D655-1EC8-23A8-9913-6766EC2BAA21}"/>
              </a:ext>
            </a:extLst>
          </p:cNvPr>
          <p:cNvGraphicFramePr>
            <a:graphicFrameLocks noGrp="1"/>
          </p:cNvGraphicFramePr>
          <p:nvPr>
            <p:extLst>
              <p:ext uri="{D42A27DB-BD31-4B8C-83A1-F6EECF244321}">
                <p14:modId xmlns:p14="http://schemas.microsoft.com/office/powerpoint/2010/main" val="4136680038"/>
              </p:ext>
            </p:extLst>
          </p:nvPr>
        </p:nvGraphicFramePr>
        <p:xfrm>
          <a:off x="2845746" y="2331663"/>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44" name="Picture 9" descr="A green rectangular object with black background&#10;&#10;AI-generated content may be incorrect.">
            <a:extLst>
              <a:ext uri="{FF2B5EF4-FFF2-40B4-BE49-F238E27FC236}">
                <a16:creationId xmlns:a16="http://schemas.microsoft.com/office/drawing/2014/main" id="{1B96BA02-8BDC-928D-A3FB-131C2F7BDF59}"/>
              </a:ext>
            </a:extLst>
          </p:cNvPr>
          <p:cNvPicPr>
            <a:picLocks noChangeAspect="1"/>
          </p:cNvPicPr>
          <p:nvPr/>
        </p:nvPicPr>
        <p:blipFill>
          <a:blip r:embed="rId3"/>
          <a:srcRect l="32916" r="35816"/>
          <a:stretch>
            <a:fillRect/>
          </a:stretch>
        </p:blipFill>
        <p:spPr>
          <a:xfrm>
            <a:off x="3453290" y="2893974"/>
            <a:ext cx="229663" cy="1097280"/>
          </a:xfrm>
          <a:prstGeom prst="rect">
            <a:avLst/>
          </a:prstGeom>
        </p:spPr>
      </p:pic>
      <p:pic>
        <p:nvPicPr>
          <p:cNvPr id="45" name="Picture 9" descr="A green rectangular object with black background&#10;&#10;AI-generated content may be incorrect.">
            <a:extLst>
              <a:ext uri="{FF2B5EF4-FFF2-40B4-BE49-F238E27FC236}">
                <a16:creationId xmlns:a16="http://schemas.microsoft.com/office/drawing/2014/main" id="{A55BDB35-DCA8-1682-1DE7-497B98751403}"/>
              </a:ext>
            </a:extLst>
          </p:cNvPr>
          <p:cNvPicPr>
            <a:picLocks noChangeAspect="1"/>
          </p:cNvPicPr>
          <p:nvPr/>
        </p:nvPicPr>
        <p:blipFill>
          <a:blip r:embed="rId3"/>
          <a:srcRect l="32916" r="35816"/>
          <a:stretch>
            <a:fillRect/>
          </a:stretch>
        </p:blipFill>
        <p:spPr>
          <a:xfrm>
            <a:off x="3668706" y="2893974"/>
            <a:ext cx="229663" cy="1097280"/>
          </a:xfrm>
          <a:prstGeom prst="rect">
            <a:avLst/>
          </a:prstGeom>
        </p:spPr>
      </p:pic>
      <p:pic>
        <p:nvPicPr>
          <p:cNvPr id="46" name="Picture 16" descr="A yellow cube with black background&#10;&#10;AI-generated content may be incorrect.">
            <a:extLst>
              <a:ext uri="{FF2B5EF4-FFF2-40B4-BE49-F238E27FC236}">
                <a16:creationId xmlns:a16="http://schemas.microsoft.com/office/drawing/2014/main" id="{E43F7ACF-3AA1-F108-065C-14EB287F94DE}"/>
              </a:ext>
            </a:extLst>
          </p:cNvPr>
          <p:cNvPicPr>
            <a:picLocks noChangeAspect="1"/>
          </p:cNvPicPr>
          <p:nvPr/>
        </p:nvPicPr>
        <p:blipFill>
          <a:blip r:embed="rId4"/>
          <a:stretch>
            <a:fillRect/>
          </a:stretch>
        </p:blipFill>
        <p:spPr>
          <a:xfrm>
            <a:off x="4760813" y="3291073"/>
            <a:ext cx="256032" cy="219456"/>
          </a:xfrm>
          <a:prstGeom prst="rect">
            <a:avLst/>
          </a:prstGeom>
        </p:spPr>
      </p:pic>
      <p:pic>
        <p:nvPicPr>
          <p:cNvPr id="47" name="Picture 16" descr="A yellow cube with black background&#10;&#10;AI-generated content may be incorrect.">
            <a:extLst>
              <a:ext uri="{FF2B5EF4-FFF2-40B4-BE49-F238E27FC236}">
                <a16:creationId xmlns:a16="http://schemas.microsoft.com/office/drawing/2014/main" id="{B004C06C-93E0-DACD-CEE4-B84D7EBBCAED}"/>
              </a:ext>
            </a:extLst>
          </p:cNvPr>
          <p:cNvPicPr>
            <a:picLocks noChangeAspect="1"/>
          </p:cNvPicPr>
          <p:nvPr/>
        </p:nvPicPr>
        <p:blipFill>
          <a:blip r:embed="rId4"/>
          <a:stretch>
            <a:fillRect/>
          </a:stretch>
        </p:blipFill>
        <p:spPr>
          <a:xfrm>
            <a:off x="4971125" y="3291073"/>
            <a:ext cx="256032" cy="219456"/>
          </a:xfrm>
          <a:prstGeom prst="rect">
            <a:avLst/>
          </a:prstGeom>
        </p:spPr>
      </p:pic>
      <p:pic>
        <p:nvPicPr>
          <p:cNvPr id="48" name="Picture 47" descr="A yellow cube with black background&#10;&#10;AI-generated content may be incorrect.">
            <a:extLst>
              <a:ext uri="{FF2B5EF4-FFF2-40B4-BE49-F238E27FC236}">
                <a16:creationId xmlns:a16="http://schemas.microsoft.com/office/drawing/2014/main" id="{8ED2FDE3-A862-8F97-B0EA-30CE7B58549E}"/>
              </a:ext>
            </a:extLst>
          </p:cNvPr>
          <p:cNvPicPr>
            <a:picLocks noChangeAspect="1"/>
          </p:cNvPicPr>
          <p:nvPr/>
        </p:nvPicPr>
        <p:blipFill>
          <a:blip r:embed="rId4"/>
          <a:stretch>
            <a:fillRect/>
          </a:stretch>
        </p:blipFill>
        <p:spPr>
          <a:xfrm>
            <a:off x="5181437" y="3291073"/>
            <a:ext cx="256032" cy="219456"/>
          </a:xfrm>
          <a:prstGeom prst="rect">
            <a:avLst/>
          </a:prstGeom>
        </p:spPr>
      </p:pic>
      <p:pic>
        <p:nvPicPr>
          <p:cNvPr id="49" name="Picture 16" descr="A yellow cube with black background&#10;&#10;AI-generated content may be incorrect.">
            <a:extLst>
              <a:ext uri="{FF2B5EF4-FFF2-40B4-BE49-F238E27FC236}">
                <a16:creationId xmlns:a16="http://schemas.microsoft.com/office/drawing/2014/main" id="{F26E3A11-329D-C8D8-C78C-5BEA39173513}"/>
              </a:ext>
            </a:extLst>
          </p:cNvPr>
          <p:cNvPicPr>
            <a:picLocks noChangeAspect="1"/>
          </p:cNvPicPr>
          <p:nvPr/>
        </p:nvPicPr>
        <p:blipFill>
          <a:blip r:embed="rId4"/>
          <a:stretch>
            <a:fillRect/>
          </a:stretch>
        </p:blipFill>
        <p:spPr>
          <a:xfrm>
            <a:off x="5391749" y="3291073"/>
            <a:ext cx="256032" cy="219456"/>
          </a:xfrm>
          <a:prstGeom prst="rect">
            <a:avLst/>
          </a:prstGeom>
        </p:spPr>
      </p:pic>
      <p:pic>
        <p:nvPicPr>
          <p:cNvPr id="51" name="Picture 9" descr="A green rectangular object with black background&#10;&#10;AI-generated content may be incorrect.">
            <a:extLst>
              <a:ext uri="{FF2B5EF4-FFF2-40B4-BE49-F238E27FC236}">
                <a16:creationId xmlns:a16="http://schemas.microsoft.com/office/drawing/2014/main" id="{72321F49-FBB6-2C3D-5DC6-7F82CCA3FA09}"/>
              </a:ext>
            </a:extLst>
          </p:cNvPr>
          <p:cNvPicPr>
            <a:picLocks noChangeAspect="1"/>
          </p:cNvPicPr>
          <p:nvPr/>
        </p:nvPicPr>
        <p:blipFill>
          <a:blip r:embed="rId3"/>
          <a:srcRect l="32916" r="35816"/>
          <a:stretch>
            <a:fillRect/>
          </a:stretch>
        </p:blipFill>
        <p:spPr>
          <a:xfrm>
            <a:off x="3944089" y="2900726"/>
            <a:ext cx="229663" cy="1097280"/>
          </a:xfrm>
          <a:prstGeom prst="rect">
            <a:avLst/>
          </a:prstGeom>
        </p:spPr>
      </p:pic>
    </p:spTree>
    <p:extLst>
      <p:ext uri="{BB962C8B-B14F-4D97-AF65-F5344CB8AC3E}">
        <p14:creationId xmlns:p14="http://schemas.microsoft.com/office/powerpoint/2010/main" val="2807459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7 · 07_COUNT_DRAG_MATCH.png</a:t>
            </a:r>
          </a:p>
        </p:txBody>
      </p:sp>
      <p:pic>
        <p:nvPicPr>
          <p:cNvPr id="3" name="Picture 2" descr="07_COUNT_DRAG_MATCH.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graphicFrame>
        <p:nvGraphicFramePr>
          <p:cNvPr id="7" name="Table 6"/>
          <p:cNvGraphicFramePr>
            <a:graphicFrameLocks noGrp="1"/>
          </p:cNvGraphicFramePr>
          <p:nvPr>
            <p:extLst>
              <p:ext uri="{D42A27DB-BD31-4B8C-83A1-F6EECF244321}">
                <p14:modId xmlns:p14="http://schemas.microsoft.com/office/powerpoint/2010/main" val="197255752"/>
              </p:ext>
            </p:extLst>
          </p:nvPr>
        </p:nvGraphicFramePr>
        <p:xfrm>
          <a:off x="908797" y="238905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9" descr="A green rectangular object with black background&#10;&#10;AI-generated content may be incorrect."/>
          <p:cNvPicPr>
            <a:picLocks noChangeAspect="1"/>
          </p:cNvPicPr>
          <p:nvPr/>
        </p:nvPicPr>
        <p:blipFill>
          <a:blip r:embed="rId3"/>
          <a:srcRect l="32916" r="35816"/>
          <a:stretch>
            <a:fillRect/>
          </a:stretch>
        </p:blipFill>
        <p:spPr>
          <a:xfrm>
            <a:off x="1203990" y="2852928"/>
            <a:ext cx="246888" cy="1179576"/>
          </a:xfrm>
          <a:prstGeom prst="rect">
            <a:avLst/>
          </a:prstGeom>
        </p:spPr>
      </p:pic>
      <p:pic>
        <p:nvPicPr>
          <p:cNvPr id="9" name="Picture 9" descr="A green rectangular object with black background&#10;&#10;AI-generated content may be incorrect."/>
          <p:cNvPicPr>
            <a:picLocks noChangeAspect="1"/>
          </p:cNvPicPr>
          <p:nvPr/>
        </p:nvPicPr>
        <p:blipFill>
          <a:blip r:embed="rId3"/>
          <a:srcRect l="32916" r="35816"/>
          <a:stretch>
            <a:fillRect/>
          </a:stretch>
        </p:blipFill>
        <p:spPr>
          <a:xfrm>
            <a:off x="1416314" y="2852928"/>
            <a:ext cx="246888" cy="1179576"/>
          </a:xfrm>
          <a:prstGeom prst="rect">
            <a:avLst/>
          </a:prstGeom>
        </p:spPr>
      </p:pic>
      <p:pic>
        <p:nvPicPr>
          <p:cNvPr id="11"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840961" y="2852928"/>
            <a:ext cx="246888" cy="1179576"/>
          </a:xfrm>
          <a:prstGeom prst="rect">
            <a:avLst/>
          </a:prstGeom>
        </p:spPr>
      </p:pic>
      <p:pic>
        <p:nvPicPr>
          <p:cNvPr id="12" name="Picture 16" descr="A yellow cube with black background&#10;&#10;AI-generated content may be incorrect."/>
          <p:cNvPicPr>
            <a:picLocks noChangeAspect="1"/>
          </p:cNvPicPr>
          <p:nvPr/>
        </p:nvPicPr>
        <p:blipFill>
          <a:blip r:embed="rId4"/>
          <a:stretch>
            <a:fillRect/>
          </a:stretch>
        </p:blipFill>
        <p:spPr>
          <a:xfrm>
            <a:off x="2715768" y="3200400"/>
            <a:ext cx="256032" cy="219456"/>
          </a:xfrm>
          <a:prstGeom prst="rect">
            <a:avLst/>
          </a:prstGeom>
        </p:spPr>
      </p:pic>
      <p:pic>
        <p:nvPicPr>
          <p:cNvPr id="13" name="Picture 16" descr="A yellow cube with black background&#10;&#10;AI-generated content may be incorrect."/>
          <p:cNvPicPr>
            <a:picLocks noChangeAspect="1"/>
          </p:cNvPicPr>
          <p:nvPr/>
        </p:nvPicPr>
        <p:blipFill>
          <a:blip r:embed="rId4"/>
          <a:stretch>
            <a:fillRect/>
          </a:stretch>
        </p:blipFill>
        <p:spPr>
          <a:xfrm>
            <a:off x="2926079" y="3200400"/>
            <a:ext cx="256032" cy="219456"/>
          </a:xfrm>
          <a:prstGeom prst="rect">
            <a:avLst/>
          </a:prstGeom>
        </p:spPr>
      </p:pic>
      <p:pic>
        <p:nvPicPr>
          <p:cNvPr id="14" name="Picture 16" descr="A yellow cube with black background&#10;&#10;AI-generated content may be incorrect."/>
          <p:cNvPicPr>
            <a:picLocks noChangeAspect="1"/>
          </p:cNvPicPr>
          <p:nvPr/>
        </p:nvPicPr>
        <p:blipFill>
          <a:blip r:embed="rId4"/>
          <a:stretch>
            <a:fillRect/>
          </a:stretch>
        </p:blipFill>
        <p:spPr>
          <a:xfrm>
            <a:off x="3136391" y="3200400"/>
            <a:ext cx="256032" cy="219456"/>
          </a:xfrm>
          <a:prstGeom prst="rect">
            <a:avLst/>
          </a:prstGeom>
        </p:spPr>
      </p:pic>
      <p:pic>
        <p:nvPicPr>
          <p:cNvPr id="15" name="Picture 16" descr="A yellow cube with black background&#10;&#10;AI-generated content may be incorrect."/>
          <p:cNvPicPr>
            <a:picLocks noChangeAspect="1"/>
          </p:cNvPicPr>
          <p:nvPr/>
        </p:nvPicPr>
        <p:blipFill>
          <a:blip r:embed="rId4"/>
          <a:stretch>
            <a:fillRect/>
          </a:stretch>
        </p:blipFill>
        <p:spPr>
          <a:xfrm>
            <a:off x="3346703" y="3200400"/>
            <a:ext cx="256032" cy="219456"/>
          </a:xfrm>
          <a:prstGeom prst="rect">
            <a:avLst/>
          </a:prstGeom>
        </p:spPr>
      </p:pic>
      <p:pic>
        <p:nvPicPr>
          <p:cNvPr id="16" name="Picture 16" descr="A yellow cube with black background&#10;&#10;AI-generated content may be incorrect."/>
          <p:cNvPicPr>
            <a:picLocks noChangeAspect="1"/>
          </p:cNvPicPr>
          <p:nvPr/>
        </p:nvPicPr>
        <p:blipFill>
          <a:blip r:embed="rId4"/>
          <a:stretch>
            <a:fillRect/>
          </a:stretch>
        </p:blipFill>
        <p:spPr>
          <a:xfrm>
            <a:off x="3557015" y="3200400"/>
            <a:ext cx="256032" cy="219456"/>
          </a:xfrm>
          <a:prstGeom prst="rect">
            <a:avLst/>
          </a:prstGeom>
        </p:spPr>
      </p:pic>
      <p:graphicFrame>
        <p:nvGraphicFramePr>
          <p:cNvPr id="19" name="Table 6"/>
          <p:cNvGraphicFramePr>
            <a:graphicFrameLocks noGrp="1"/>
          </p:cNvGraphicFramePr>
          <p:nvPr>
            <p:extLst>
              <p:ext uri="{D42A27DB-BD31-4B8C-83A1-F6EECF244321}">
                <p14:modId xmlns:p14="http://schemas.microsoft.com/office/powerpoint/2010/main" val="2943699042"/>
              </p:ext>
            </p:extLst>
          </p:nvPr>
        </p:nvGraphicFramePr>
        <p:xfrm>
          <a:off x="4443984" y="2368296"/>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20" name="Picture 9" descr="A green rectangular object with black background&#10;&#10;AI-generated content may be incorrect."/>
          <p:cNvPicPr>
            <a:picLocks noChangeAspect="1"/>
          </p:cNvPicPr>
          <p:nvPr/>
        </p:nvPicPr>
        <p:blipFill>
          <a:blip r:embed="rId3"/>
          <a:srcRect l="32916" r="35816"/>
          <a:stretch>
            <a:fillRect/>
          </a:stretch>
        </p:blipFill>
        <p:spPr>
          <a:xfrm>
            <a:off x="4912888" y="2852928"/>
            <a:ext cx="246888" cy="1179576"/>
          </a:xfrm>
          <a:prstGeom prst="rect">
            <a:avLst/>
          </a:prstGeom>
        </p:spPr>
      </p:pic>
      <p:pic>
        <p:nvPicPr>
          <p:cNvPr id="21" name="Picture 9" descr="A green rectangular object with black background&#10;&#10;AI-generated content may be incorrect."/>
          <p:cNvPicPr>
            <a:picLocks noChangeAspect="1"/>
          </p:cNvPicPr>
          <p:nvPr/>
        </p:nvPicPr>
        <p:blipFill>
          <a:blip r:embed="rId3"/>
          <a:srcRect l="32916" r="35816"/>
          <a:stretch>
            <a:fillRect/>
          </a:stretch>
        </p:blipFill>
        <p:spPr>
          <a:xfrm>
            <a:off x="5125212" y="2852928"/>
            <a:ext cx="246888" cy="1179576"/>
          </a:xfrm>
          <a:prstGeom prst="rect">
            <a:avLst/>
          </a:prstGeom>
        </p:spPr>
      </p:pic>
      <p:pic>
        <p:nvPicPr>
          <p:cNvPr id="23" name="Picture 16" descr="A yellow cube with black background&#10;&#10;AI-generated content may be incorrect."/>
          <p:cNvPicPr>
            <a:picLocks noChangeAspect="1"/>
          </p:cNvPicPr>
          <p:nvPr/>
        </p:nvPicPr>
        <p:blipFill>
          <a:blip r:embed="rId4"/>
          <a:stretch>
            <a:fillRect/>
          </a:stretch>
        </p:blipFill>
        <p:spPr>
          <a:xfrm>
            <a:off x="6318504" y="3319272"/>
            <a:ext cx="256032" cy="219456"/>
          </a:xfrm>
          <a:prstGeom prst="rect">
            <a:avLst/>
          </a:prstGeom>
        </p:spPr>
      </p:pic>
      <p:pic>
        <p:nvPicPr>
          <p:cNvPr id="24" name="Picture 16" descr="A yellow cube with black background&#10;&#10;AI-generated content may be incorrect."/>
          <p:cNvPicPr>
            <a:picLocks noChangeAspect="1"/>
          </p:cNvPicPr>
          <p:nvPr/>
        </p:nvPicPr>
        <p:blipFill>
          <a:blip r:embed="rId4"/>
          <a:stretch>
            <a:fillRect/>
          </a:stretch>
        </p:blipFill>
        <p:spPr>
          <a:xfrm>
            <a:off x="6528816" y="3319272"/>
            <a:ext cx="256032" cy="219456"/>
          </a:xfrm>
          <a:prstGeom prst="rect">
            <a:avLst/>
          </a:prstGeom>
        </p:spPr>
      </p:pic>
      <p:pic>
        <p:nvPicPr>
          <p:cNvPr id="25" name="Picture 16" descr="A yellow cube with black background&#10;&#10;AI-generated content may be incorrect."/>
          <p:cNvPicPr>
            <a:picLocks noChangeAspect="1"/>
          </p:cNvPicPr>
          <p:nvPr/>
        </p:nvPicPr>
        <p:blipFill>
          <a:blip r:embed="rId4"/>
          <a:stretch>
            <a:fillRect/>
          </a:stretch>
        </p:blipFill>
        <p:spPr>
          <a:xfrm>
            <a:off x="6739128" y="3319272"/>
            <a:ext cx="256032" cy="219456"/>
          </a:xfrm>
          <a:prstGeom prst="rect">
            <a:avLst/>
          </a:prstGeom>
        </p:spPr>
      </p:pic>
      <p:pic>
        <p:nvPicPr>
          <p:cNvPr id="26" name="Picture 16" descr="A yellow cube with black background&#10;&#10;AI-generated content may be incorrect."/>
          <p:cNvPicPr>
            <a:picLocks noChangeAspect="1"/>
          </p:cNvPicPr>
          <p:nvPr/>
        </p:nvPicPr>
        <p:blipFill>
          <a:blip r:embed="rId4"/>
          <a:stretch>
            <a:fillRect/>
          </a:stretch>
        </p:blipFill>
        <p:spPr>
          <a:xfrm>
            <a:off x="6949440" y="3319272"/>
            <a:ext cx="256032" cy="219456"/>
          </a:xfrm>
          <a:prstGeom prst="rect">
            <a:avLst/>
          </a:prstGeom>
        </p:spPr>
      </p:pic>
      <p:pic>
        <p:nvPicPr>
          <p:cNvPr id="27" name="Picture 16" descr="A yellow cube with black background&#10;&#10;AI-generated content may be incorrect."/>
          <p:cNvPicPr>
            <a:picLocks noChangeAspect="1"/>
          </p:cNvPicPr>
          <p:nvPr/>
        </p:nvPicPr>
        <p:blipFill>
          <a:blip r:embed="rId4"/>
          <a:stretch>
            <a:fillRect/>
          </a:stretch>
        </p:blipFill>
        <p:spPr>
          <a:xfrm>
            <a:off x="7159752" y="3319272"/>
            <a:ext cx="256032" cy="219456"/>
          </a:xfrm>
          <a:prstGeom prst="rect">
            <a:avLst/>
          </a:prstGeom>
        </p:spPr>
      </p:pic>
      <p:sp>
        <p:nvSpPr>
          <p:cNvPr id="28" name="Rectangle: Rounded Corners 10"/>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47  −  20  =  ?</a:t>
            </a:r>
            <a:endParaRPr lang="en-IN" sz="3200" b="1" dirty="0"/>
          </a:p>
        </p:txBody>
      </p:sp>
      <p:sp>
        <p:nvSpPr>
          <p:cNvPr id="29" name="Rectangle: Rounded Corners 24"/>
          <p:cNvSpPr/>
          <p:nvPr/>
        </p:nvSpPr>
        <p:spPr>
          <a:xfrm>
            <a:off x="1828800"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hi-IN" sz="4000" b="1" dirty="0"/>
              <a:t>72</a:t>
            </a:r>
            <a:endParaRPr lang="en-IN" sz="4000" b="1" dirty="0"/>
          </a:p>
        </p:txBody>
      </p:sp>
      <p:sp>
        <p:nvSpPr>
          <p:cNvPr id="30" name="Rectangle: Rounded Corners 24"/>
          <p:cNvSpPr/>
          <p:nvPr/>
        </p:nvSpPr>
        <p:spPr>
          <a:xfrm>
            <a:off x="3712463"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hi-IN" sz="4000" b="1" dirty="0"/>
              <a:t>27</a:t>
            </a:r>
            <a:endParaRPr lang="en-IN" sz="4000" b="1" dirty="0"/>
          </a:p>
        </p:txBody>
      </p:sp>
      <p:sp>
        <p:nvSpPr>
          <p:cNvPr id="31" name="Rectangle: Rounded Corners 24"/>
          <p:cNvSpPr/>
          <p:nvPr/>
        </p:nvSpPr>
        <p:spPr>
          <a:xfrm>
            <a:off x="5586984"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hi-IN" sz="4000" b="1" dirty="0"/>
              <a:t>67</a:t>
            </a:r>
            <a:endParaRPr lang="en-IN" sz="4000" b="1" dirty="0"/>
          </a:p>
        </p:txBody>
      </p:sp>
      <p:sp>
        <p:nvSpPr>
          <p:cNvPr id="32" name="TextBox 31"/>
          <p:cNvSpPr txBox="1"/>
          <p:nvPr/>
        </p:nvSpPr>
        <p:spPr>
          <a:xfrm>
            <a:off x="8001000" y="-15865"/>
            <a:ext cx="4190999" cy="9017853"/>
          </a:xfrm>
          <a:prstGeom prst="rect">
            <a:avLst/>
          </a:prstGeom>
          <a:noFill/>
        </p:spPr>
        <p:txBody>
          <a:bodyPr wrap="square">
            <a:spAutoFit/>
          </a:bodyPr>
          <a:lstStyle/>
          <a:p>
            <a:r>
              <a:rPr sz="1600" b="1" dirty="0">
                <a:solidFill>
                  <a:srgbClr val="0B3D8C"/>
                </a:solidFill>
              </a:rPr>
              <a:t>Recommendations</a:t>
            </a:r>
          </a:p>
          <a:p>
            <a:r>
              <a:rPr lang="en-US" sz="1200" b="1" i="0" dirty="0">
                <a:solidFill>
                  <a:srgbClr val="1B2A44"/>
                </a:solidFill>
              </a:rPr>
              <a:t>Instruction: </a:t>
            </a:r>
            <a:r>
              <a:rPr lang="hi-IN" sz="1200" dirty="0">
                <a:solidFill>
                  <a:srgbClr val="1B2A44"/>
                </a:solidFill>
              </a:rPr>
              <a:t>संख्याएँ</a:t>
            </a:r>
            <a:r>
              <a:rPr lang="hi-IN" sz="1200" b="0" i="0" dirty="0">
                <a:solidFill>
                  <a:srgbClr val="1B2A44"/>
                </a:solidFill>
              </a:rPr>
              <a:t> घटाइए।</a:t>
            </a:r>
          </a:p>
          <a:p>
            <a:endParaRPr lang="hi-IN" sz="1200" b="0" i="0" dirty="0">
              <a:solidFill>
                <a:srgbClr val="1B2A44"/>
              </a:solidFill>
            </a:endParaRPr>
          </a:p>
          <a:p>
            <a:r>
              <a:rPr lang="en-US" sz="1200" b="0" i="0" dirty="0">
                <a:solidFill>
                  <a:srgbClr val="1B2A44"/>
                </a:solidFill>
              </a:rPr>
              <a:t>Replace the count-and-drag screen with the Equation: 47 − 20 = ?</a:t>
            </a:r>
          </a:p>
          <a:p>
            <a:r>
              <a:rPr lang="en-US" sz="1200" b="0" i="0" dirty="0">
                <a:solidFill>
                  <a:srgbClr val="1B2A44"/>
                </a:solidFill>
              </a:rPr>
              <a:t>Left table: the child builds 47 and removes 20 (removed blocks stay greyed-out). Right table: the remaining blocks move here. Then the child picks the answer.</a:t>
            </a:r>
          </a:p>
          <a:p>
            <a:endParaRPr lang="en-US" sz="1200" b="0" i="0" dirty="0">
              <a:solidFill>
                <a:srgbClr val="1B2A44"/>
              </a:solidFill>
            </a:endParaRPr>
          </a:p>
          <a:p>
            <a:r>
              <a:rPr lang="en-US" sz="1200" b="1" i="0" dirty="0">
                <a:solidFill>
                  <a:srgbClr val="1B2A44"/>
                </a:solidFill>
              </a:rPr>
              <a:t>Voice-over</a:t>
            </a:r>
          </a:p>
          <a:p>
            <a:endParaRPr lang="en-US" sz="1200" b="1" i="0" dirty="0">
              <a:solidFill>
                <a:srgbClr val="1B2A44"/>
              </a:solidFill>
            </a:endParaRPr>
          </a:p>
          <a:p>
            <a:r>
              <a:rPr lang="hi-IN" sz="1200" b="0" i="0" dirty="0">
                <a:solidFill>
                  <a:srgbClr val="1B2A44"/>
                </a:solidFill>
              </a:rPr>
              <a:t>47 में से 2</a:t>
            </a:r>
            <a:r>
              <a:rPr lang="en-US" sz="1200" dirty="0">
                <a:solidFill>
                  <a:srgbClr val="1B2A44"/>
                </a:solidFill>
              </a:rPr>
              <a:t>0</a:t>
            </a:r>
            <a:r>
              <a:rPr lang="hi-IN" sz="1200" b="0" i="0" dirty="0">
                <a:solidFill>
                  <a:srgbClr val="1B2A44"/>
                </a:solidFill>
              </a:rPr>
              <a:t> घटाइए।</a:t>
            </a:r>
          </a:p>
          <a:p>
            <a:r>
              <a:rPr lang="hi-IN" sz="1200" b="0" i="0" dirty="0">
                <a:solidFill>
                  <a:srgbClr val="1B2A44"/>
                </a:solidFill>
              </a:rPr>
              <a:t>सबसे पहले ब्लॉक्स की सहायता से 47 बनाइए।</a:t>
            </a:r>
            <a:r>
              <a:rPr lang="en-US" sz="1200" b="0" i="0" dirty="0">
                <a:solidFill>
                  <a:srgbClr val="1B2A44"/>
                </a:solidFill>
              </a:rPr>
              <a:t> </a:t>
            </a:r>
            <a:r>
              <a:rPr lang="hi-IN" sz="1200" b="0" i="0" dirty="0">
                <a:solidFill>
                  <a:srgbClr val="1B2A44"/>
                </a:solidFill>
              </a:rPr>
              <a:t>जिसमे 4 दहाई और 7 इकाई होते है। </a:t>
            </a:r>
          </a:p>
          <a:p>
            <a:r>
              <a:rPr lang="en-US" sz="1200" b="0" i="0" dirty="0">
                <a:solidFill>
                  <a:srgbClr val="1B2A44"/>
                </a:solidFill>
              </a:rPr>
              <a:t>Tap and insert tens and ones blocks until the required number of blocks added/inserted.</a:t>
            </a:r>
            <a:endParaRPr lang="hi-IN" sz="1200" b="0" i="0" dirty="0">
              <a:solidFill>
                <a:srgbClr val="1B2A44"/>
              </a:solidFill>
            </a:endParaRPr>
          </a:p>
          <a:p>
            <a:endParaRPr lang="en-US" sz="1200" b="0" i="0" dirty="0">
              <a:solidFill>
                <a:srgbClr val="1B2A44"/>
              </a:solidFill>
            </a:endParaRPr>
          </a:p>
          <a:p>
            <a:r>
              <a:rPr lang="hi-IN" sz="1200" b="0" i="0" dirty="0">
                <a:solidFill>
                  <a:srgbClr val="1B2A44"/>
                </a:solidFill>
              </a:rPr>
              <a:t>और अब 2</a:t>
            </a:r>
            <a:r>
              <a:rPr lang="en-US" sz="1200" b="0" i="0" dirty="0">
                <a:solidFill>
                  <a:srgbClr val="1B2A44"/>
                </a:solidFill>
              </a:rPr>
              <a:t>0</a:t>
            </a:r>
            <a:r>
              <a:rPr lang="hi-IN" sz="1200" b="0" i="0" dirty="0">
                <a:solidFill>
                  <a:srgbClr val="1B2A44"/>
                </a:solidFill>
              </a:rPr>
              <a:t> घटाते है, </a:t>
            </a:r>
            <a:r>
              <a:rPr lang="en-US" sz="1200" dirty="0">
                <a:solidFill>
                  <a:srgbClr val="1B2A44"/>
                </a:solidFill>
              </a:rPr>
              <a:t>20</a:t>
            </a:r>
            <a:r>
              <a:rPr lang="hi-IN" sz="1200" b="0" i="0" dirty="0">
                <a:solidFill>
                  <a:srgbClr val="1B2A44"/>
                </a:solidFill>
              </a:rPr>
              <a:t> में 2 दहाई और </a:t>
            </a:r>
            <a:r>
              <a:rPr lang="en-US" sz="1200" b="0" i="0" dirty="0">
                <a:solidFill>
                  <a:srgbClr val="1B2A44"/>
                </a:solidFill>
              </a:rPr>
              <a:t>0</a:t>
            </a:r>
            <a:r>
              <a:rPr lang="hi-IN" sz="1200" b="0" i="0" dirty="0">
                <a:solidFill>
                  <a:srgbClr val="1B2A44"/>
                </a:solidFill>
              </a:rPr>
              <a:t> इकाई हैं।</a:t>
            </a:r>
          </a:p>
          <a:p>
            <a:r>
              <a:rPr lang="hi-IN" sz="1200" b="0" i="0" dirty="0">
                <a:solidFill>
                  <a:srgbClr val="1B2A44"/>
                </a:solidFill>
              </a:rPr>
              <a:t>पहले इकाइयाँ घटाइए</a:t>
            </a:r>
            <a:r>
              <a:rPr lang="en-US" sz="1200" dirty="0">
                <a:solidFill>
                  <a:srgbClr val="1B2A44"/>
                </a:solidFill>
              </a:rPr>
              <a:t>, </a:t>
            </a:r>
            <a:r>
              <a:rPr lang="hi-IN" sz="1200" b="0" i="0" dirty="0">
                <a:solidFill>
                  <a:srgbClr val="1B2A44"/>
                </a:solidFill>
              </a:rPr>
              <a:t>7 इकाई में से </a:t>
            </a:r>
            <a:r>
              <a:rPr lang="en-US" sz="1200" b="0" i="0" dirty="0">
                <a:solidFill>
                  <a:srgbClr val="1B2A44"/>
                </a:solidFill>
              </a:rPr>
              <a:t>0</a:t>
            </a:r>
            <a:r>
              <a:rPr lang="hi-IN" sz="1200" b="0" i="0" dirty="0">
                <a:solidFill>
                  <a:srgbClr val="1B2A44"/>
                </a:solidFill>
              </a:rPr>
              <a:t> इकाई हटाइए</a:t>
            </a:r>
            <a:r>
              <a:rPr lang="en-US" sz="1200" b="0" i="0" dirty="0">
                <a:solidFill>
                  <a:srgbClr val="1B2A44"/>
                </a:solidFill>
              </a:rPr>
              <a:t>, </a:t>
            </a:r>
            <a:r>
              <a:rPr lang="hi-IN" sz="1200" b="0" i="0" dirty="0">
                <a:solidFill>
                  <a:srgbClr val="1B2A44"/>
                </a:solidFill>
              </a:rPr>
              <a:t>और फिर दहाइयाँ घटाइए। 4 दहाई में से 2 दहाई हटाइए।</a:t>
            </a:r>
            <a:endParaRPr lang="en-US" sz="1200" b="0" i="0" dirty="0">
              <a:solidFill>
                <a:srgbClr val="1B2A44"/>
              </a:solidFill>
            </a:endParaRPr>
          </a:p>
          <a:p>
            <a:r>
              <a:rPr lang="hi-IN" sz="1200" dirty="0">
                <a:solidFill>
                  <a:srgbClr val="1B2A44"/>
                </a:solidFill>
              </a:rPr>
              <a:t>[</a:t>
            </a:r>
            <a:r>
              <a:rPr lang="en-US" sz="1200" dirty="0">
                <a:solidFill>
                  <a:srgbClr val="1B2A44"/>
                </a:solidFill>
              </a:rPr>
              <a:t>If the child removes more or fewer Tens/Ones blocks than required, all the blocks should return to their original positions.</a:t>
            </a:r>
          </a:p>
          <a:p>
            <a:r>
              <a:rPr lang="en-US" sz="1200" b="1" dirty="0">
                <a:solidFill>
                  <a:srgbClr val="1B2A44"/>
                </a:solidFill>
              </a:rPr>
              <a:t>First Incorrect Attempt:</a:t>
            </a:r>
          </a:p>
          <a:p>
            <a:r>
              <a:rPr lang="hi-IN" sz="1200" dirty="0">
                <a:solidFill>
                  <a:srgbClr val="1B2A44"/>
                </a:solidFill>
              </a:rPr>
              <a:t>- </a:t>
            </a:r>
            <a:r>
              <a:rPr lang="en-US" sz="1200" dirty="0">
                <a:solidFill>
                  <a:srgbClr val="1B2A44"/>
                </a:solidFill>
              </a:rPr>
              <a:t>Reset all the removed blocks.</a:t>
            </a:r>
          </a:p>
          <a:p>
            <a:r>
              <a:rPr lang="hi-IN" sz="1200" dirty="0">
                <a:solidFill>
                  <a:srgbClr val="1B2A44"/>
                </a:solidFill>
              </a:rPr>
              <a:t>- </a:t>
            </a:r>
            <a:r>
              <a:rPr lang="en-US" sz="1200" dirty="0">
                <a:solidFill>
                  <a:srgbClr val="1B2A44"/>
                </a:solidFill>
              </a:rPr>
              <a:t>Play the appropriate VO:</a:t>
            </a:r>
          </a:p>
          <a:p>
            <a:r>
              <a:rPr lang="hi-IN" sz="1200" dirty="0">
                <a:solidFill>
                  <a:srgbClr val="1B2A44"/>
                </a:solidFill>
              </a:rPr>
              <a:t>  - </a:t>
            </a:r>
            <a:r>
              <a:rPr lang="en-US" sz="1200" dirty="0">
                <a:solidFill>
                  <a:srgbClr val="1B2A44"/>
                </a:solidFill>
              </a:rPr>
              <a:t>Ones: "</a:t>
            </a:r>
            <a:r>
              <a:rPr lang="en-US" sz="1200" dirty="0" err="1">
                <a:solidFill>
                  <a:srgbClr val="1B2A44"/>
                </a:solidFill>
              </a:rPr>
              <a:t>आपने</a:t>
            </a:r>
            <a:r>
              <a:rPr lang="en-US" sz="1200" dirty="0">
                <a:solidFill>
                  <a:srgbClr val="1B2A44"/>
                </a:solidFill>
              </a:rPr>
              <a:t> </a:t>
            </a:r>
            <a:r>
              <a:rPr lang="en-US" sz="1200" dirty="0" err="1">
                <a:solidFill>
                  <a:srgbClr val="1B2A44"/>
                </a:solidFill>
              </a:rPr>
              <a:t>इकाई</a:t>
            </a:r>
            <a:r>
              <a:rPr lang="en-US" sz="1200" dirty="0">
                <a:solidFill>
                  <a:srgbClr val="1B2A44"/>
                </a:solidFill>
              </a:rPr>
              <a:t> </a:t>
            </a:r>
            <a:r>
              <a:rPr lang="en-US" sz="1200" dirty="0" err="1">
                <a:solidFill>
                  <a:srgbClr val="1B2A44"/>
                </a:solidFill>
              </a:rPr>
              <a:t>में</a:t>
            </a:r>
            <a:r>
              <a:rPr lang="en-US" sz="1200" dirty="0">
                <a:solidFill>
                  <a:srgbClr val="1B2A44"/>
                </a:solidFill>
              </a:rPr>
              <a:t> </a:t>
            </a:r>
            <a:r>
              <a:rPr lang="en-US" sz="1200" dirty="0" err="1">
                <a:solidFill>
                  <a:srgbClr val="1B2A44"/>
                </a:solidFill>
              </a:rPr>
              <a:t>ज़्यादा</a:t>
            </a:r>
            <a:r>
              <a:rPr lang="hi-IN" sz="1200" dirty="0">
                <a:solidFill>
                  <a:srgbClr val="1B2A44"/>
                </a:solidFill>
              </a:rPr>
              <a:t> </a:t>
            </a:r>
            <a:r>
              <a:rPr lang="en-US" sz="1200" dirty="0" err="1">
                <a:solidFill>
                  <a:srgbClr val="1B2A44"/>
                </a:solidFill>
              </a:rPr>
              <a:t>हटाए</a:t>
            </a:r>
            <a:r>
              <a:rPr lang="en-US" sz="1200" dirty="0">
                <a:solidFill>
                  <a:srgbClr val="1B2A44"/>
                </a:solidFill>
              </a:rPr>
              <a:t> </a:t>
            </a:r>
            <a:r>
              <a:rPr lang="en-US" sz="1200" dirty="0" err="1">
                <a:solidFill>
                  <a:srgbClr val="1B2A44"/>
                </a:solidFill>
              </a:rPr>
              <a:t>हैं</a:t>
            </a:r>
            <a:r>
              <a:rPr lang="en-US" sz="1200" dirty="0">
                <a:solidFill>
                  <a:srgbClr val="1B2A44"/>
                </a:solidFill>
              </a:rPr>
              <a:t>। </a:t>
            </a:r>
            <a:r>
              <a:rPr lang="en-US" sz="1200" dirty="0" err="1">
                <a:solidFill>
                  <a:srgbClr val="1B2A44"/>
                </a:solidFill>
              </a:rPr>
              <a:t>दोबारा</a:t>
            </a:r>
            <a:r>
              <a:rPr lang="en-US" sz="1200" dirty="0">
                <a:solidFill>
                  <a:srgbClr val="1B2A44"/>
                </a:solidFill>
              </a:rPr>
              <a:t> </a:t>
            </a:r>
            <a:r>
              <a:rPr lang="en-US" sz="1200" dirty="0" err="1">
                <a:solidFill>
                  <a:srgbClr val="1B2A44"/>
                </a:solidFill>
              </a:rPr>
              <a:t>कोशिश</a:t>
            </a:r>
            <a:r>
              <a:rPr lang="en-US" sz="1200" dirty="0">
                <a:solidFill>
                  <a:srgbClr val="1B2A44"/>
                </a:solidFill>
              </a:rPr>
              <a:t> </a:t>
            </a:r>
            <a:r>
              <a:rPr lang="en-US" sz="1200" dirty="0" err="1">
                <a:solidFill>
                  <a:srgbClr val="1B2A44"/>
                </a:solidFill>
              </a:rPr>
              <a:t>करिए</a:t>
            </a:r>
            <a:r>
              <a:rPr lang="en-US" sz="1200" dirty="0">
                <a:solidFill>
                  <a:srgbClr val="1B2A44"/>
                </a:solidFill>
              </a:rPr>
              <a:t>।"</a:t>
            </a:r>
          </a:p>
          <a:p>
            <a:r>
              <a:rPr lang="hi-IN" sz="1200" dirty="0">
                <a:solidFill>
                  <a:srgbClr val="1B2A44"/>
                </a:solidFill>
              </a:rPr>
              <a:t>  - </a:t>
            </a:r>
            <a:r>
              <a:rPr lang="en-US" sz="1200" dirty="0">
                <a:solidFill>
                  <a:srgbClr val="1B2A44"/>
                </a:solidFill>
              </a:rPr>
              <a:t>Tens: "</a:t>
            </a:r>
            <a:r>
              <a:rPr lang="en-US" sz="1200" dirty="0" err="1">
                <a:solidFill>
                  <a:srgbClr val="1B2A44"/>
                </a:solidFill>
              </a:rPr>
              <a:t>आपने</a:t>
            </a:r>
            <a:r>
              <a:rPr lang="en-US" sz="1200" dirty="0">
                <a:solidFill>
                  <a:srgbClr val="1B2A44"/>
                </a:solidFill>
              </a:rPr>
              <a:t> </a:t>
            </a:r>
            <a:r>
              <a:rPr lang="en-US" sz="1200" dirty="0" err="1">
                <a:solidFill>
                  <a:srgbClr val="1B2A44"/>
                </a:solidFill>
              </a:rPr>
              <a:t>दहाई</a:t>
            </a:r>
            <a:r>
              <a:rPr lang="en-US" sz="1200" dirty="0">
                <a:solidFill>
                  <a:srgbClr val="1B2A44"/>
                </a:solidFill>
              </a:rPr>
              <a:t> </a:t>
            </a:r>
            <a:r>
              <a:rPr lang="en-US" sz="1200" dirty="0" err="1">
                <a:solidFill>
                  <a:srgbClr val="1B2A44"/>
                </a:solidFill>
              </a:rPr>
              <a:t>में</a:t>
            </a:r>
            <a:r>
              <a:rPr lang="en-US" sz="1200" dirty="0">
                <a:solidFill>
                  <a:srgbClr val="1B2A44"/>
                </a:solidFill>
              </a:rPr>
              <a:t> </a:t>
            </a:r>
            <a:r>
              <a:rPr lang="en-US" sz="1200" dirty="0" err="1">
                <a:solidFill>
                  <a:srgbClr val="1B2A44"/>
                </a:solidFill>
              </a:rPr>
              <a:t>ज़्यादा</a:t>
            </a:r>
            <a:r>
              <a:rPr lang="en-US" sz="1200" dirty="0">
                <a:solidFill>
                  <a:srgbClr val="1B2A44"/>
                </a:solidFill>
              </a:rPr>
              <a:t>/</a:t>
            </a:r>
            <a:r>
              <a:rPr lang="en-US" sz="1200" dirty="0" err="1">
                <a:solidFill>
                  <a:srgbClr val="1B2A44"/>
                </a:solidFill>
              </a:rPr>
              <a:t>कम</a:t>
            </a:r>
            <a:r>
              <a:rPr lang="en-US" sz="1200" dirty="0">
                <a:solidFill>
                  <a:srgbClr val="1B2A44"/>
                </a:solidFill>
              </a:rPr>
              <a:t> </a:t>
            </a:r>
            <a:r>
              <a:rPr lang="en-US" sz="1200" dirty="0" err="1">
                <a:solidFill>
                  <a:srgbClr val="1B2A44"/>
                </a:solidFill>
              </a:rPr>
              <a:t>हटाए</a:t>
            </a:r>
            <a:r>
              <a:rPr lang="en-US" sz="1200" dirty="0">
                <a:solidFill>
                  <a:srgbClr val="1B2A44"/>
                </a:solidFill>
              </a:rPr>
              <a:t> </a:t>
            </a:r>
            <a:r>
              <a:rPr lang="en-US" sz="1200" dirty="0" err="1">
                <a:solidFill>
                  <a:srgbClr val="1B2A44"/>
                </a:solidFill>
              </a:rPr>
              <a:t>हैं</a:t>
            </a:r>
            <a:r>
              <a:rPr lang="en-US" sz="1200" dirty="0">
                <a:solidFill>
                  <a:srgbClr val="1B2A44"/>
                </a:solidFill>
              </a:rPr>
              <a:t>। </a:t>
            </a:r>
            <a:r>
              <a:rPr lang="en-US" sz="1200" dirty="0" err="1">
                <a:solidFill>
                  <a:srgbClr val="1B2A44"/>
                </a:solidFill>
              </a:rPr>
              <a:t>दोबारा</a:t>
            </a:r>
            <a:r>
              <a:rPr lang="en-US" sz="1200" dirty="0">
                <a:solidFill>
                  <a:srgbClr val="1B2A44"/>
                </a:solidFill>
              </a:rPr>
              <a:t> </a:t>
            </a:r>
            <a:r>
              <a:rPr lang="en-US" sz="1200" dirty="0" err="1">
                <a:solidFill>
                  <a:srgbClr val="1B2A44"/>
                </a:solidFill>
              </a:rPr>
              <a:t>कोशिश</a:t>
            </a:r>
            <a:r>
              <a:rPr lang="en-US" sz="1200" dirty="0">
                <a:solidFill>
                  <a:srgbClr val="1B2A44"/>
                </a:solidFill>
              </a:rPr>
              <a:t> </a:t>
            </a:r>
            <a:r>
              <a:rPr lang="en-US" sz="1200" dirty="0" err="1">
                <a:solidFill>
                  <a:srgbClr val="1B2A44"/>
                </a:solidFill>
              </a:rPr>
              <a:t>करिए</a:t>
            </a:r>
            <a:r>
              <a:rPr lang="en-US" sz="1200" dirty="0">
                <a:solidFill>
                  <a:srgbClr val="1B2A44"/>
                </a:solidFill>
              </a:rPr>
              <a:t>।"</a:t>
            </a:r>
          </a:p>
          <a:p>
            <a:r>
              <a:rPr lang="en-US" sz="1200" b="1" dirty="0">
                <a:solidFill>
                  <a:srgbClr val="1B2A44"/>
                </a:solidFill>
              </a:rPr>
              <a:t>Second Incorrect Attempt</a:t>
            </a:r>
            <a:r>
              <a:rPr lang="en-US" sz="1200" dirty="0">
                <a:solidFill>
                  <a:srgbClr val="1B2A44"/>
                </a:solidFill>
              </a:rPr>
              <a:t>:</a:t>
            </a:r>
          </a:p>
          <a:p>
            <a:r>
              <a:rPr lang="hi-IN" sz="1200" dirty="0">
                <a:solidFill>
                  <a:srgbClr val="1B2A44"/>
                </a:solidFill>
              </a:rPr>
              <a:t>- </a:t>
            </a:r>
            <a:r>
              <a:rPr lang="en-US" sz="1200" dirty="0">
                <a:solidFill>
                  <a:srgbClr val="1B2A44"/>
                </a:solidFill>
              </a:rPr>
              <a:t>Reset all the removed blocks again.</a:t>
            </a:r>
          </a:p>
          <a:p>
            <a:r>
              <a:rPr lang="hi-IN" sz="1200" dirty="0">
                <a:solidFill>
                  <a:srgbClr val="1B2A44"/>
                </a:solidFill>
              </a:rPr>
              <a:t>  - </a:t>
            </a:r>
            <a:r>
              <a:rPr lang="en-US" sz="1200" dirty="0">
                <a:solidFill>
                  <a:srgbClr val="1B2A44"/>
                </a:solidFill>
              </a:rPr>
              <a:t>Play the VO:</a:t>
            </a:r>
            <a:r>
              <a:rPr lang="hi-IN" sz="1200" dirty="0">
                <a:solidFill>
                  <a:srgbClr val="1B2A44"/>
                </a:solidFill>
              </a:rPr>
              <a:t> </a:t>
            </a:r>
            <a:r>
              <a:rPr lang="en-US" sz="1200" dirty="0">
                <a:solidFill>
                  <a:srgbClr val="1B2A44"/>
                </a:solidFill>
              </a:rPr>
              <a:t>"</a:t>
            </a:r>
            <a:r>
              <a:rPr lang="en-US" sz="1200" dirty="0" err="1">
                <a:solidFill>
                  <a:srgbClr val="1B2A44"/>
                </a:solidFill>
              </a:rPr>
              <a:t>इनमें</a:t>
            </a:r>
            <a:r>
              <a:rPr lang="en-US" sz="1200" dirty="0">
                <a:solidFill>
                  <a:srgbClr val="1B2A44"/>
                </a:solidFill>
              </a:rPr>
              <a:t> </a:t>
            </a:r>
            <a:r>
              <a:rPr lang="en-US" sz="1200" dirty="0" err="1">
                <a:solidFill>
                  <a:srgbClr val="1B2A44"/>
                </a:solidFill>
              </a:rPr>
              <a:t>से</a:t>
            </a:r>
            <a:r>
              <a:rPr lang="en-US" sz="1200" dirty="0">
                <a:solidFill>
                  <a:srgbClr val="1B2A44"/>
                </a:solidFill>
              </a:rPr>
              <a:t> </a:t>
            </a:r>
            <a:r>
              <a:rPr lang="en-US" sz="1200" dirty="0" err="1">
                <a:solidFill>
                  <a:srgbClr val="1B2A44"/>
                </a:solidFill>
              </a:rPr>
              <a:t>इतने</a:t>
            </a:r>
            <a:r>
              <a:rPr lang="en-US" sz="1200" dirty="0">
                <a:solidFill>
                  <a:srgbClr val="1B2A44"/>
                </a:solidFill>
              </a:rPr>
              <a:t> </a:t>
            </a:r>
            <a:r>
              <a:rPr lang="en-US" sz="1200" dirty="0" err="1">
                <a:solidFill>
                  <a:srgbClr val="1B2A44"/>
                </a:solidFill>
              </a:rPr>
              <a:t>हटाइए</a:t>
            </a:r>
            <a:r>
              <a:rPr lang="en-US" sz="1200" dirty="0">
                <a:solidFill>
                  <a:srgbClr val="1B2A44"/>
                </a:solidFill>
              </a:rPr>
              <a:t>।"</a:t>
            </a:r>
          </a:p>
          <a:p>
            <a:r>
              <a:rPr lang="en-US" sz="1200" dirty="0">
                <a:solidFill>
                  <a:srgbClr val="1B2A44"/>
                </a:solidFill>
              </a:rPr>
              <a:t>After this hint, only the required number of Tens/Ones blocks should remain tappable, while the remaining blocks should be disabled to guide the child toward the correct answer.</a:t>
            </a:r>
            <a:r>
              <a:rPr lang="hi-IN" sz="1200" dirty="0">
                <a:solidFill>
                  <a:srgbClr val="1B2A44"/>
                </a:solidFill>
              </a:rPr>
              <a:t>]</a:t>
            </a:r>
          </a:p>
          <a:p>
            <a:endParaRPr lang="hi-IN" sz="1200" b="0" i="0" dirty="0">
              <a:solidFill>
                <a:srgbClr val="1B2A44"/>
              </a:solidFill>
            </a:endParaRPr>
          </a:p>
          <a:p>
            <a:r>
              <a:rPr lang="hi-IN" sz="1200" dirty="0">
                <a:solidFill>
                  <a:srgbClr val="1B2A44"/>
                </a:solidFill>
              </a:rPr>
              <a:t>अब </a:t>
            </a:r>
            <a:r>
              <a:rPr lang="hi-IN" sz="1200" b="0" i="0" dirty="0">
                <a:solidFill>
                  <a:srgbClr val="1B2A44"/>
                </a:solidFill>
              </a:rPr>
              <a:t>कितने बचे? सही संख्या चुनिए।</a:t>
            </a:r>
          </a:p>
          <a:p>
            <a:endParaRPr lang="en-US" sz="1200" b="0" i="0" dirty="0">
              <a:solidFill>
                <a:srgbClr val="1B2A44"/>
              </a:solidFill>
            </a:endParaRPr>
          </a:p>
          <a:p>
            <a:r>
              <a:rPr lang="en-US" sz="1200" b="0" i="0" dirty="0">
                <a:solidFill>
                  <a:srgbClr val="1B2A44"/>
                </a:solidFill>
              </a:rPr>
              <a:t>Hint: If the child choose </a:t>
            </a:r>
            <a:r>
              <a:rPr lang="hi-IN" sz="1200" b="0" i="0" dirty="0">
                <a:solidFill>
                  <a:srgbClr val="1B2A44"/>
                </a:solidFill>
              </a:rPr>
              <a:t>27</a:t>
            </a:r>
            <a:r>
              <a:rPr lang="en-US" sz="1200" b="0" i="0" dirty="0">
                <a:solidFill>
                  <a:srgbClr val="1B2A44"/>
                </a:solidFill>
              </a:rPr>
              <a:t>, the VO</a:t>
            </a:r>
          </a:p>
          <a:p>
            <a:r>
              <a:rPr lang="hi-IN" sz="1200" b="0" i="0" dirty="0">
                <a:solidFill>
                  <a:srgbClr val="1B2A44"/>
                </a:solidFill>
              </a:rPr>
              <a:t>शाबाश! 47 में से </a:t>
            </a:r>
            <a:r>
              <a:rPr lang="en-US" sz="1200" b="0" i="0" dirty="0">
                <a:solidFill>
                  <a:srgbClr val="1B2A44"/>
                </a:solidFill>
              </a:rPr>
              <a:t>2</a:t>
            </a:r>
            <a:r>
              <a:rPr lang="hi-IN" sz="1200" b="0" i="0" dirty="0">
                <a:solidFill>
                  <a:srgbClr val="1B2A44"/>
                </a:solidFill>
              </a:rPr>
              <a:t>0 घटाने पर हमें मिलीं </a:t>
            </a:r>
            <a:r>
              <a:rPr lang="en-US" sz="1200" b="0" i="0" dirty="0">
                <a:solidFill>
                  <a:srgbClr val="1B2A44"/>
                </a:solidFill>
              </a:rPr>
              <a:t>2</a:t>
            </a:r>
            <a:r>
              <a:rPr lang="hi-IN" sz="1200" b="0" i="0" dirty="0">
                <a:solidFill>
                  <a:srgbClr val="1B2A44"/>
                </a:solidFill>
              </a:rPr>
              <a:t> दहाई और 7 इकाई, यानी </a:t>
            </a:r>
            <a:r>
              <a:rPr lang="hi-IN" sz="1200" dirty="0">
                <a:solidFill>
                  <a:srgbClr val="1B2A44"/>
                </a:solidFill>
              </a:rPr>
              <a:t>27</a:t>
            </a:r>
            <a:r>
              <a:rPr lang="en-US" sz="1200" b="0" i="0" dirty="0">
                <a:solidFill>
                  <a:srgbClr val="1B2A44"/>
                </a:solidFill>
              </a:rPr>
              <a:t>. </a:t>
            </a:r>
            <a:endParaRPr lang="hi-IN" sz="1200" b="0" i="0" dirty="0">
              <a:solidFill>
                <a:srgbClr val="1B2A44"/>
              </a:solidFill>
            </a:endParaRPr>
          </a:p>
          <a:p>
            <a:r>
              <a:rPr lang="hi-IN" sz="1200" b="0" i="0" dirty="0">
                <a:solidFill>
                  <a:srgbClr val="1B2A44"/>
                </a:solidFill>
              </a:rPr>
              <a:t>इसलिए 47 घटा </a:t>
            </a:r>
            <a:r>
              <a:rPr lang="hi-IN" sz="1200" dirty="0">
                <a:solidFill>
                  <a:srgbClr val="1B2A44"/>
                </a:solidFill>
              </a:rPr>
              <a:t>20</a:t>
            </a:r>
            <a:r>
              <a:rPr lang="hi-IN" sz="1200" b="0" i="0" dirty="0">
                <a:solidFill>
                  <a:srgbClr val="1B2A44"/>
                </a:solidFill>
              </a:rPr>
              <a:t> बराबर 27</a:t>
            </a:r>
            <a:r>
              <a:rPr lang="en-US" sz="1200" b="0" i="0" dirty="0">
                <a:solidFill>
                  <a:srgbClr val="1B2A44"/>
                </a:solidFill>
              </a:rPr>
              <a:t> [Number Sync with VO]</a:t>
            </a:r>
            <a:endParaRPr lang="hi-IN" sz="1200" b="0" i="0" dirty="0">
              <a:solidFill>
                <a:srgbClr val="1B2A44"/>
              </a:solidFill>
            </a:endParaRPr>
          </a:p>
          <a:p>
            <a:endParaRPr lang="en-US" sz="1200" dirty="0">
              <a:solidFill>
                <a:srgbClr val="1B2A44"/>
              </a:solidFill>
            </a:endParaRPr>
          </a:p>
          <a:p>
            <a:r>
              <a:rPr lang="en-US" sz="1200" b="0" i="0" dirty="0">
                <a:solidFill>
                  <a:srgbClr val="1B2A44"/>
                </a:solidFill>
              </a:rPr>
              <a:t>If the child choose 72 </a:t>
            </a:r>
            <a:r>
              <a:rPr lang="hi-IN" sz="1200" dirty="0">
                <a:solidFill>
                  <a:srgbClr val="1B2A44"/>
                </a:solidFill>
              </a:rPr>
              <a:t>or</a:t>
            </a:r>
            <a:r>
              <a:rPr lang="en-US" sz="1200" b="0" i="0" dirty="0">
                <a:solidFill>
                  <a:srgbClr val="1B2A44"/>
                </a:solidFill>
              </a:rPr>
              <a:t> 67, the VO: </a:t>
            </a:r>
            <a:r>
              <a:rPr lang="hi-IN" sz="1200" b="0" i="0" dirty="0">
                <a:solidFill>
                  <a:srgbClr val="1B2A44"/>
                </a:solidFill>
              </a:rPr>
              <a:t>फिर से सोचिए, कितने बचे। </a:t>
            </a:r>
          </a:p>
          <a:p>
            <a:r>
              <a:rPr lang="en-US" sz="1200" dirty="0">
                <a:solidFill>
                  <a:srgbClr val="1B2A44"/>
                </a:solidFill>
              </a:rPr>
              <a:t>If the child choose 72 </a:t>
            </a:r>
            <a:r>
              <a:rPr lang="hi-IN" sz="1200" dirty="0">
                <a:solidFill>
                  <a:srgbClr val="1B2A44"/>
                </a:solidFill>
              </a:rPr>
              <a:t>or</a:t>
            </a:r>
            <a:r>
              <a:rPr lang="en-US" sz="1200" dirty="0">
                <a:solidFill>
                  <a:srgbClr val="1B2A44"/>
                </a:solidFill>
              </a:rPr>
              <a:t> 67, the VO: </a:t>
            </a:r>
            <a:r>
              <a:rPr lang="hi-IN" sz="1200" dirty="0">
                <a:solidFill>
                  <a:srgbClr val="1B2A44"/>
                </a:solidFill>
              </a:rPr>
              <a:t>47 मे से 20 घटाने पर 27 बचता है। तो सही संख्या यह है। </a:t>
            </a:r>
            <a:endParaRPr lang="en-US" sz="1200" dirty="0">
              <a:solidFill>
                <a:srgbClr val="1B2A44"/>
              </a:solidFill>
            </a:endParaRPr>
          </a:p>
          <a:p>
            <a:r>
              <a:rPr lang="en-US" sz="1200" b="0" i="0" dirty="0">
                <a:solidFill>
                  <a:srgbClr val="1B2A44"/>
                </a:solidFill>
              </a:rPr>
              <a:t>Glow number </a:t>
            </a:r>
            <a:r>
              <a:rPr lang="hi-IN" sz="1200" b="0" i="0" dirty="0">
                <a:solidFill>
                  <a:srgbClr val="1B2A44"/>
                </a:solidFill>
              </a:rPr>
              <a:t>27</a:t>
            </a:r>
            <a:r>
              <a:rPr lang="en-US" sz="1200" b="0" i="0" dirty="0">
                <a:solidFill>
                  <a:srgbClr val="1B2A44"/>
                </a:solidFill>
              </a:rPr>
              <a:t> and Hand nudge will appear on the number and other two non-clickable.</a:t>
            </a:r>
            <a:endParaRPr lang="hi-IN" sz="1200" b="0" i="0" dirty="0">
              <a:solidFill>
                <a:srgbClr val="1B2A44"/>
              </a:solidFill>
            </a:endParaRPr>
          </a:p>
        </p:txBody>
      </p:sp>
      <p:pic>
        <p:nvPicPr>
          <p:cNvPr id="4" name="Picture 9" descr="A green rectangular object with black background&#10;&#10;AI-generated content may be incorrect.">
            <a:extLst>
              <a:ext uri="{FF2B5EF4-FFF2-40B4-BE49-F238E27FC236}">
                <a16:creationId xmlns:a16="http://schemas.microsoft.com/office/drawing/2014/main" id="{FB75A8B6-2E9D-20DF-9C7B-0E382F2A977B}"/>
              </a:ext>
            </a:extLst>
          </p:cNvPr>
          <p:cNvPicPr>
            <a:picLocks noChangeAspect="1"/>
          </p:cNvPicPr>
          <p:nvPr/>
        </p:nvPicPr>
        <p:blipFill>
          <a:blip r:embed="rId3">
            <a:alphaModFix amt="28000"/>
          </a:blip>
          <a:srcRect l="32916" r="35816"/>
          <a:stretch>
            <a:fillRect/>
          </a:stretch>
        </p:blipFill>
        <p:spPr>
          <a:xfrm>
            <a:off x="1618977" y="2852928"/>
            <a:ext cx="246888" cy="1179576"/>
          </a:xfrm>
          <a:prstGeom prst="rect">
            <a:avLst/>
          </a:prstGeom>
        </p:spPr>
      </p:pic>
      <p:pic>
        <p:nvPicPr>
          <p:cNvPr id="10" name="Picture 16" descr="A yellow cube with black background&#10;&#10;AI-generated content may be incorrect.">
            <a:extLst>
              <a:ext uri="{FF2B5EF4-FFF2-40B4-BE49-F238E27FC236}">
                <a16:creationId xmlns:a16="http://schemas.microsoft.com/office/drawing/2014/main" id="{5712E5F5-685E-6422-8E09-3F233C21BC70}"/>
              </a:ext>
            </a:extLst>
          </p:cNvPr>
          <p:cNvPicPr>
            <a:picLocks noChangeAspect="1"/>
          </p:cNvPicPr>
          <p:nvPr/>
        </p:nvPicPr>
        <p:blipFill>
          <a:blip r:embed="rId4"/>
          <a:stretch>
            <a:fillRect/>
          </a:stretch>
        </p:blipFill>
        <p:spPr>
          <a:xfrm>
            <a:off x="3054095" y="3419856"/>
            <a:ext cx="256032" cy="219456"/>
          </a:xfrm>
          <a:prstGeom prst="rect">
            <a:avLst/>
          </a:prstGeom>
        </p:spPr>
      </p:pic>
      <p:pic>
        <p:nvPicPr>
          <p:cNvPr id="22" name="Picture 16" descr="A yellow cube with black background&#10;&#10;AI-generated content may be incorrect.">
            <a:extLst>
              <a:ext uri="{FF2B5EF4-FFF2-40B4-BE49-F238E27FC236}">
                <a16:creationId xmlns:a16="http://schemas.microsoft.com/office/drawing/2014/main" id="{3883E2F4-45D9-79EF-6697-3879B618E885}"/>
              </a:ext>
            </a:extLst>
          </p:cNvPr>
          <p:cNvPicPr>
            <a:picLocks noChangeAspect="1"/>
          </p:cNvPicPr>
          <p:nvPr/>
        </p:nvPicPr>
        <p:blipFill>
          <a:blip r:embed="rId4"/>
          <a:stretch>
            <a:fillRect/>
          </a:stretch>
        </p:blipFill>
        <p:spPr>
          <a:xfrm>
            <a:off x="3298183" y="3438145"/>
            <a:ext cx="256032" cy="219456"/>
          </a:xfrm>
          <a:prstGeom prst="rect">
            <a:avLst/>
          </a:prstGeom>
        </p:spPr>
      </p:pic>
      <p:pic>
        <p:nvPicPr>
          <p:cNvPr id="33" name="Picture 16" descr="A yellow cube with black background&#10;&#10;AI-generated content may be incorrect.">
            <a:extLst>
              <a:ext uri="{FF2B5EF4-FFF2-40B4-BE49-F238E27FC236}">
                <a16:creationId xmlns:a16="http://schemas.microsoft.com/office/drawing/2014/main" id="{E7D34D23-B640-7594-F0A1-B98A37441AFC}"/>
              </a:ext>
            </a:extLst>
          </p:cNvPr>
          <p:cNvPicPr>
            <a:picLocks noChangeAspect="1"/>
          </p:cNvPicPr>
          <p:nvPr/>
        </p:nvPicPr>
        <p:blipFill>
          <a:blip r:embed="rId4"/>
          <a:stretch>
            <a:fillRect/>
          </a:stretch>
        </p:blipFill>
        <p:spPr>
          <a:xfrm>
            <a:off x="6687050" y="3503646"/>
            <a:ext cx="256032" cy="219456"/>
          </a:xfrm>
          <a:prstGeom prst="rect">
            <a:avLst/>
          </a:prstGeom>
        </p:spPr>
      </p:pic>
      <p:pic>
        <p:nvPicPr>
          <p:cNvPr id="34" name="Picture 16" descr="A yellow cube with black background&#10;&#10;AI-generated content may be incorrect.">
            <a:extLst>
              <a:ext uri="{FF2B5EF4-FFF2-40B4-BE49-F238E27FC236}">
                <a16:creationId xmlns:a16="http://schemas.microsoft.com/office/drawing/2014/main" id="{3D2D173C-841C-14A6-A680-1E5F8D100D03}"/>
              </a:ext>
            </a:extLst>
          </p:cNvPr>
          <p:cNvPicPr>
            <a:picLocks noChangeAspect="1"/>
          </p:cNvPicPr>
          <p:nvPr/>
        </p:nvPicPr>
        <p:blipFill>
          <a:blip r:embed="rId4"/>
          <a:stretch>
            <a:fillRect/>
          </a:stretch>
        </p:blipFill>
        <p:spPr>
          <a:xfrm>
            <a:off x="6931138" y="3521935"/>
            <a:ext cx="256032" cy="2194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8 · 08_PICK_SET_BY_NUMBER.png</a:t>
            </a:r>
          </a:p>
        </p:txBody>
      </p:sp>
      <p:pic>
        <p:nvPicPr>
          <p:cNvPr id="3" name="Picture 2" descr="08_PICK_SET_BY_NUMBER.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graphicFrame>
        <p:nvGraphicFramePr>
          <p:cNvPr id="7" name="Table 6"/>
          <p:cNvGraphicFramePr>
            <a:graphicFrameLocks noGrp="1"/>
          </p:cNvGraphicFramePr>
          <p:nvPr>
            <p:extLst>
              <p:ext uri="{D42A27DB-BD31-4B8C-83A1-F6EECF244321}">
                <p14:modId xmlns:p14="http://schemas.microsoft.com/office/powerpoint/2010/main" val="2943699042"/>
              </p:ext>
            </p:extLst>
          </p:nvPr>
        </p:nvGraphicFramePr>
        <p:xfrm>
          <a:off x="841248" y="2368296"/>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9" descr="A green rectangular object with black background&#10;&#10;AI-generated content may be incorrect."/>
          <p:cNvPicPr>
            <a:picLocks noChangeAspect="1"/>
          </p:cNvPicPr>
          <p:nvPr/>
        </p:nvPicPr>
        <p:blipFill>
          <a:blip r:embed="rId3"/>
          <a:srcRect l="32916" r="35816"/>
          <a:stretch>
            <a:fillRect/>
          </a:stretch>
        </p:blipFill>
        <p:spPr>
          <a:xfrm>
            <a:off x="1097828" y="2852928"/>
            <a:ext cx="246888" cy="1179576"/>
          </a:xfrm>
          <a:prstGeom prst="rect">
            <a:avLst/>
          </a:prstGeom>
        </p:spPr>
      </p:pic>
      <p:pic>
        <p:nvPicPr>
          <p:cNvPr id="9" name="Picture 9" descr="A green rectangular object with black background&#10;&#10;AI-generated content may be incorrect."/>
          <p:cNvPicPr>
            <a:picLocks noChangeAspect="1"/>
          </p:cNvPicPr>
          <p:nvPr/>
        </p:nvPicPr>
        <p:blipFill>
          <a:blip r:embed="rId3"/>
          <a:srcRect l="32916" r="35816"/>
          <a:stretch>
            <a:fillRect/>
          </a:stretch>
        </p:blipFill>
        <p:spPr>
          <a:xfrm>
            <a:off x="1310152" y="2852928"/>
            <a:ext cx="246888" cy="1179576"/>
          </a:xfrm>
          <a:prstGeom prst="rect">
            <a:avLst/>
          </a:prstGeom>
        </p:spPr>
      </p:pic>
      <p:pic>
        <p:nvPicPr>
          <p:cNvPr id="10"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522476" y="2852928"/>
            <a:ext cx="246888" cy="1179576"/>
          </a:xfrm>
          <a:prstGeom prst="rect">
            <a:avLst/>
          </a:prstGeom>
        </p:spPr>
      </p:pic>
      <p:pic>
        <p:nvPicPr>
          <p:cNvPr id="11"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734799" y="2852928"/>
            <a:ext cx="246888" cy="1179576"/>
          </a:xfrm>
          <a:prstGeom prst="rect">
            <a:avLst/>
          </a:prstGeom>
        </p:spPr>
      </p:pic>
      <p:pic>
        <p:nvPicPr>
          <p:cNvPr id="12"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947123" y="2852928"/>
            <a:ext cx="246888" cy="1179576"/>
          </a:xfrm>
          <a:prstGeom prst="rect">
            <a:avLst/>
          </a:prstGeom>
        </p:spPr>
      </p:pic>
      <p:pic>
        <p:nvPicPr>
          <p:cNvPr id="13" name="Picture 16" descr="A yellow cube with black background&#10;&#10;AI-generated content may be incorrect."/>
          <p:cNvPicPr>
            <a:picLocks noChangeAspect="1"/>
          </p:cNvPicPr>
          <p:nvPr/>
        </p:nvPicPr>
        <p:blipFill>
          <a:blip r:embed="rId4"/>
          <a:stretch>
            <a:fillRect/>
          </a:stretch>
        </p:blipFill>
        <p:spPr>
          <a:xfrm>
            <a:off x="2715768" y="3200400"/>
            <a:ext cx="256032" cy="219456"/>
          </a:xfrm>
          <a:prstGeom prst="rect">
            <a:avLst/>
          </a:prstGeom>
        </p:spPr>
      </p:pic>
      <p:pic>
        <p:nvPicPr>
          <p:cNvPr id="14" name="Picture 16" descr="A yellow cube with black background&#10;&#10;AI-generated content may be incorrect."/>
          <p:cNvPicPr>
            <a:picLocks noChangeAspect="1"/>
          </p:cNvPicPr>
          <p:nvPr/>
        </p:nvPicPr>
        <p:blipFill>
          <a:blip r:embed="rId4"/>
          <a:stretch>
            <a:fillRect/>
          </a:stretch>
        </p:blipFill>
        <p:spPr>
          <a:xfrm>
            <a:off x="2926079" y="3200400"/>
            <a:ext cx="256032" cy="219456"/>
          </a:xfrm>
          <a:prstGeom prst="rect">
            <a:avLst/>
          </a:prstGeom>
        </p:spPr>
      </p:pic>
      <p:pic>
        <p:nvPicPr>
          <p:cNvPr id="15" name="Picture 16" descr="A yellow cube with black background&#10;&#10;AI-generated content may be incorrect."/>
          <p:cNvPicPr>
            <a:picLocks noChangeAspect="1"/>
          </p:cNvPicPr>
          <p:nvPr/>
        </p:nvPicPr>
        <p:blipFill>
          <a:blip r:embed="rId4"/>
          <a:stretch>
            <a:fillRect/>
          </a:stretch>
        </p:blipFill>
        <p:spPr>
          <a:xfrm>
            <a:off x="3136391" y="3200400"/>
            <a:ext cx="256032" cy="219456"/>
          </a:xfrm>
          <a:prstGeom prst="rect">
            <a:avLst/>
          </a:prstGeom>
        </p:spPr>
      </p:pic>
      <p:pic>
        <p:nvPicPr>
          <p:cNvPr id="16" name="Picture 16" descr="A yellow cube with black background&#10;&#10;AI-generated content may be incorrect."/>
          <p:cNvPicPr>
            <a:picLocks noChangeAspect="1"/>
          </p:cNvPicPr>
          <p:nvPr/>
        </p:nvPicPr>
        <p:blipFill>
          <a:blip r:embed="rId4"/>
          <a:stretch>
            <a:fillRect/>
          </a:stretch>
        </p:blipFill>
        <p:spPr>
          <a:xfrm>
            <a:off x="3346703" y="3200400"/>
            <a:ext cx="256032" cy="219456"/>
          </a:xfrm>
          <a:prstGeom prst="rect">
            <a:avLst/>
          </a:prstGeom>
        </p:spPr>
      </p:pic>
      <p:pic>
        <p:nvPicPr>
          <p:cNvPr id="17" name="Picture 16" descr="A yellow cube with black background&#10;&#10;AI-generated content may be incorrect."/>
          <p:cNvPicPr>
            <a:picLocks noChangeAspect="1"/>
          </p:cNvPicPr>
          <p:nvPr/>
        </p:nvPicPr>
        <p:blipFill>
          <a:blip r:embed="rId4"/>
          <a:stretch>
            <a:fillRect/>
          </a:stretch>
        </p:blipFill>
        <p:spPr>
          <a:xfrm>
            <a:off x="3557015" y="3200400"/>
            <a:ext cx="256032" cy="219456"/>
          </a:xfrm>
          <a:prstGeom prst="rect">
            <a:avLst/>
          </a:prstGeom>
        </p:spPr>
      </p:pic>
      <p:pic>
        <p:nvPicPr>
          <p:cNvPr id="18" name="Picture 16" descr="A yellow cube with black background&#10;&#10;AI-generated content may be incorrect."/>
          <p:cNvPicPr>
            <a:picLocks noChangeAspect="1"/>
          </p:cNvPicPr>
          <p:nvPr/>
        </p:nvPicPr>
        <p:blipFill>
          <a:blip r:embed="rId4"/>
          <a:stretch>
            <a:fillRect/>
          </a:stretch>
        </p:blipFill>
        <p:spPr>
          <a:xfrm>
            <a:off x="2926079" y="3447288"/>
            <a:ext cx="256032" cy="219456"/>
          </a:xfrm>
          <a:prstGeom prst="rect">
            <a:avLst/>
          </a:prstGeom>
        </p:spPr>
      </p:pic>
      <p:pic>
        <p:nvPicPr>
          <p:cNvPr id="19" name="Picture 16" descr="A yellow cube with black background&#10;&#10;AI-generated content may be incorrect."/>
          <p:cNvPicPr>
            <a:picLocks noChangeAspect="1"/>
          </p:cNvPicPr>
          <p:nvPr/>
        </p:nvPicPr>
        <p:blipFill>
          <a:blip r:embed="rId4"/>
          <a:stretch>
            <a:fillRect/>
          </a:stretch>
        </p:blipFill>
        <p:spPr>
          <a:xfrm>
            <a:off x="3136391" y="3447288"/>
            <a:ext cx="256032" cy="219456"/>
          </a:xfrm>
          <a:prstGeom prst="rect">
            <a:avLst/>
          </a:prstGeom>
        </p:spPr>
      </p:pic>
      <p:pic>
        <p:nvPicPr>
          <p:cNvPr id="20" name="Picture 16" descr="A yellow cube with black background&#10;&#10;AI-generated content may be incorrect."/>
          <p:cNvPicPr>
            <a:picLocks noChangeAspect="1"/>
          </p:cNvPicPr>
          <p:nvPr/>
        </p:nvPicPr>
        <p:blipFill>
          <a:blip r:embed="rId4"/>
          <a:stretch>
            <a:fillRect/>
          </a:stretch>
        </p:blipFill>
        <p:spPr>
          <a:xfrm>
            <a:off x="3346703" y="3447288"/>
            <a:ext cx="256032" cy="219456"/>
          </a:xfrm>
          <a:prstGeom prst="rect">
            <a:avLst/>
          </a:prstGeom>
        </p:spPr>
      </p:pic>
      <p:graphicFrame>
        <p:nvGraphicFramePr>
          <p:cNvPr id="21" name="Table 6"/>
          <p:cNvGraphicFramePr>
            <a:graphicFrameLocks noGrp="1"/>
          </p:cNvGraphicFramePr>
          <p:nvPr>
            <p:extLst>
              <p:ext uri="{D42A27DB-BD31-4B8C-83A1-F6EECF244321}">
                <p14:modId xmlns:p14="http://schemas.microsoft.com/office/powerpoint/2010/main" val="2943699042"/>
              </p:ext>
            </p:extLst>
          </p:nvPr>
        </p:nvGraphicFramePr>
        <p:xfrm>
          <a:off x="4443984" y="2368296"/>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22" name="Picture 9" descr="A green rectangular object with black background&#10;&#10;AI-generated content may be incorrect."/>
          <p:cNvPicPr>
            <a:picLocks noChangeAspect="1"/>
          </p:cNvPicPr>
          <p:nvPr/>
        </p:nvPicPr>
        <p:blipFill>
          <a:blip r:embed="rId3"/>
          <a:srcRect l="32916" r="35816"/>
          <a:stretch>
            <a:fillRect/>
          </a:stretch>
        </p:blipFill>
        <p:spPr>
          <a:xfrm>
            <a:off x="5019050" y="2852928"/>
            <a:ext cx="246888" cy="1179576"/>
          </a:xfrm>
          <a:prstGeom prst="rect">
            <a:avLst/>
          </a:prstGeom>
        </p:spPr>
      </p:pic>
      <p:pic>
        <p:nvPicPr>
          <p:cNvPr id="23" name="Picture 9" descr="A green rectangular object with black background&#10;&#10;AI-generated content may be incorrect."/>
          <p:cNvPicPr>
            <a:picLocks noChangeAspect="1"/>
          </p:cNvPicPr>
          <p:nvPr/>
        </p:nvPicPr>
        <p:blipFill>
          <a:blip r:embed="rId3"/>
          <a:srcRect l="32916" r="35816"/>
          <a:stretch>
            <a:fillRect/>
          </a:stretch>
        </p:blipFill>
        <p:spPr>
          <a:xfrm>
            <a:off x="5231373" y="2852928"/>
            <a:ext cx="246888" cy="1179576"/>
          </a:xfrm>
          <a:prstGeom prst="rect">
            <a:avLst/>
          </a:prstGeom>
        </p:spPr>
      </p:pic>
      <p:pic>
        <p:nvPicPr>
          <p:cNvPr id="24" name="Picture 16" descr="A yellow cube with black background&#10;&#10;AI-generated content may be incorrect."/>
          <p:cNvPicPr>
            <a:picLocks noChangeAspect="1"/>
          </p:cNvPicPr>
          <p:nvPr/>
        </p:nvPicPr>
        <p:blipFill>
          <a:blip r:embed="rId4"/>
          <a:stretch>
            <a:fillRect/>
          </a:stretch>
        </p:blipFill>
        <p:spPr>
          <a:xfrm>
            <a:off x="6318504" y="3200400"/>
            <a:ext cx="256032" cy="219456"/>
          </a:xfrm>
          <a:prstGeom prst="rect">
            <a:avLst/>
          </a:prstGeom>
        </p:spPr>
      </p:pic>
      <p:pic>
        <p:nvPicPr>
          <p:cNvPr id="25" name="Picture 16" descr="A yellow cube with black background&#10;&#10;AI-generated content may be incorrect."/>
          <p:cNvPicPr>
            <a:picLocks noChangeAspect="1"/>
          </p:cNvPicPr>
          <p:nvPr/>
        </p:nvPicPr>
        <p:blipFill>
          <a:blip r:embed="rId4"/>
          <a:stretch>
            <a:fillRect/>
          </a:stretch>
        </p:blipFill>
        <p:spPr>
          <a:xfrm>
            <a:off x="6528816" y="3200400"/>
            <a:ext cx="256032" cy="219456"/>
          </a:xfrm>
          <a:prstGeom prst="rect">
            <a:avLst/>
          </a:prstGeom>
        </p:spPr>
      </p:pic>
      <p:pic>
        <p:nvPicPr>
          <p:cNvPr id="26" name="Picture 16" descr="A yellow cube with black background&#10;&#10;AI-generated content may be incorrect."/>
          <p:cNvPicPr>
            <a:picLocks noChangeAspect="1"/>
          </p:cNvPicPr>
          <p:nvPr/>
        </p:nvPicPr>
        <p:blipFill>
          <a:blip r:embed="rId4"/>
          <a:stretch>
            <a:fillRect/>
          </a:stretch>
        </p:blipFill>
        <p:spPr>
          <a:xfrm>
            <a:off x="6739128" y="3200400"/>
            <a:ext cx="256032" cy="219456"/>
          </a:xfrm>
          <a:prstGeom prst="rect">
            <a:avLst/>
          </a:prstGeom>
        </p:spPr>
      </p:pic>
      <p:pic>
        <p:nvPicPr>
          <p:cNvPr id="27" name="Picture 16" descr="A yellow cube with black background&#10;&#10;AI-generated content may be incorrect."/>
          <p:cNvPicPr>
            <a:picLocks noChangeAspect="1"/>
          </p:cNvPicPr>
          <p:nvPr/>
        </p:nvPicPr>
        <p:blipFill>
          <a:blip r:embed="rId4"/>
          <a:stretch>
            <a:fillRect/>
          </a:stretch>
        </p:blipFill>
        <p:spPr>
          <a:xfrm>
            <a:off x="6949440" y="3200400"/>
            <a:ext cx="256032" cy="219456"/>
          </a:xfrm>
          <a:prstGeom prst="rect">
            <a:avLst/>
          </a:prstGeom>
        </p:spPr>
      </p:pic>
      <p:pic>
        <p:nvPicPr>
          <p:cNvPr id="28" name="Picture 16" descr="A yellow cube with black background&#10;&#10;AI-generated content may be incorrect."/>
          <p:cNvPicPr>
            <a:picLocks noChangeAspect="1"/>
          </p:cNvPicPr>
          <p:nvPr/>
        </p:nvPicPr>
        <p:blipFill>
          <a:blip r:embed="rId4"/>
          <a:stretch>
            <a:fillRect/>
          </a:stretch>
        </p:blipFill>
        <p:spPr>
          <a:xfrm>
            <a:off x="7159752" y="3200400"/>
            <a:ext cx="256032" cy="219456"/>
          </a:xfrm>
          <a:prstGeom prst="rect">
            <a:avLst/>
          </a:prstGeom>
        </p:spPr>
      </p:pic>
      <p:pic>
        <p:nvPicPr>
          <p:cNvPr id="29" name="Picture 16" descr="A yellow cube with black background&#10;&#10;AI-generated content may be incorrect."/>
          <p:cNvPicPr>
            <a:picLocks noChangeAspect="1"/>
          </p:cNvPicPr>
          <p:nvPr/>
        </p:nvPicPr>
        <p:blipFill>
          <a:blip r:embed="rId4"/>
          <a:stretch>
            <a:fillRect/>
          </a:stretch>
        </p:blipFill>
        <p:spPr>
          <a:xfrm>
            <a:off x="6528816" y="3447288"/>
            <a:ext cx="256032" cy="219456"/>
          </a:xfrm>
          <a:prstGeom prst="rect">
            <a:avLst/>
          </a:prstGeom>
        </p:spPr>
      </p:pic>
      <p:pic>
        <p:nvPicPr>
          <p:cNvPr id="30" name="Picture 16" descr="A yellow cube with black background&#10;&#10;AI-generated content may be incorrect."/>
          <p:cNvPicPr>
            <a:picLocks noChangeAspect="1"/>
          </p:cNvPicPr>
          <p:nvPr/>
        </p:nvPicPr>
        <p:blipFill>
          <a:blip r:embed="rId4"/>
          <a:stretch>
            <a:fillRect/>
          </a:stretch>
        </p:blipFill>
        <p:spPr>
          <a:xfrm>
            <a:off x="6739128" y="3447288"/>
            <a:ext cx="256032" cy="219456"/>
          </a:xfrm>
          <a:prstGeom prst="rect">
            <a:avLst/>
          </a:prstGeom>
        </p:spPr>
      </p:pic>
      <p:pic>
        <p:nvPicPr>
          <p:cNvPr id="31" name="Picture 16" descr="A yellow cube with black background&#10;&#10;AI-generated content may be incorrect."/>
          <p:cNvPicPr>
            <a:picLocks noChangeAspect="1"/>
          </p:cNvPicPr>
          <p:nvPr/>
        </p:nvPicPr>
        <p:blipFill>
          <a:blip r:embed="rId4"/>
          <a:stretch>
            <a:fillRect/>
          </a:stretch>
        </p:blipFill>
        <p:spPr>
          <a:xfrm>
            <a:off x="6949440" y="3447288"/>
            <a:ext cx="256032" cy="219456"/>
          </a:xfrm>
          <a:prstGeom prst="rect">
            <a:avLst/>
          </a:prstGeom>
        </p:spPr>
      </p:pic>
      <p:sp>
        <p:nvSpPr>
          <p:cNvPr id="32" name="Rectangle: Rounded Corners 10"/>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58  −  30  =  ?</a:t>
            </a:r>
            <a:endParaRPr lang="en-IN" sz="3200" b="1" dirty="0"/>
          </a:p>
        </p:txBody>
      </p:sp>
      <p:sp>
        <p:nvSpPr>
          <p:cNvPr id="33" name="Rectangle: Rounded Corners 24"/>
          <p:cNvSpPr/>
          <p:nvPr/>
        </p:nvSpPr>
        <p:spPr>
          <a:xfrm>
            <a:off x="1828800"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88</a:t>
            </a:r>
            <a:endParaRPr lang="en-IN" sz="4000" b="1" dirty="0"/>
          </a:p>
        </p:txBody>
      </p:sp>
      <p:sp>
        <p:nvSpPr>
          <p:cNvPr id="34" name="Rectangle: Rounded Corners 24"/>
          <p:cNvSpPr/>
          <p:nvPr/>
        </p:nvSpPr>
        <p:spPr>
          <a:xfrm>
            <a:off x="3712463"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28</a:t>
            </a:r>
            <a:endParaRPr lang="en-IN" sz="4000" b="1" dirty="0"/>
          </a:p>
        </p:txBody>
      </p:sp>
      <p:sp>
        <p:nvSpPr>
          <p:cNvPr id="35" name="Rectangle: Rounded Corners 24"/>
          <p:cNvSpPr/>
          <p:nvPr/>
        </p:nvSpPr>
        <p:spPr>
          <a:xfrm>
            <a:off x="5586984"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82</a:t>
            </a:r>
            <a:endParaRPr lang="en-IN" sz="4000" b="1" dirty="0"/>
          </a:p>
        </p:txBody>
      </p:sp>
      <p:sp>
        <p:nvSpPr>
          <p:cNvPr id="36" name="TextBox 35"/>
          <p:cNvSpPr txBox="1"/>
          <p:nvPr/>
        </p:nvSpPr>
        <p:spPr>
          <a:xfrm>
            <a:off x="7924800" y="10160"/>
            <a:ext cx="4267200" cy="627864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B3D8C"/>
                </a:solidFill>
                <a:effectLst/>
                <a:uLnTx/>
                <a:uFillTx/>
                <a:latin typeface="Calibri"/>
                <a:ea typeface="+mn-ea"/>
                <a:cs typeface="+mn-cs"/>
              </a:rPr>
              <a:t>Recommendations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B2A44"/>
                </a:solidFill>
                <a:effectLst/>
                <a:uLnTx/>
                <a:uFillTx/>
                <a:latin typeface="Calibri"/>
                <a:ea typeface="+mn-ea"/>
                <a:cs typeface="+mn-cs"/>
              </a:rPr>
              <a:t>Instruction: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संख्याएँ घटाइए।</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Replace the pick set by number with the Equation: 58 − 38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Left table: the child builds 58 and removes 30 (removed blocks stay greyed-out). Right table: the remaining blocks move here. Then the child picks the answer.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B2A44"/>
                </a:solidFill>
                <a:effectLst/>
                <a:uLnTx/>
                <a:uFillTx/>
                <a:latin typeface="Calibri"/>
                <a:ea typeface="+mn-ea"/>
                <a:cs typeface="+mn-cs"/>
              </a:rPr>
              <a:t>Voice-over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58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में से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30</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घटाइए।</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सबसे पहले ब्लॉक्स की सहायता से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बनाइए।</a:t>
            </a:r>
            <a:r>
              <a:rPr kumimoji="0" lang="hi-IN" sz="1200" b="0" i="0" u="none" strike="noStrike" kern="1200" cap="none" spc="0" normalizeH="0" baseline="0" noProof="0" dirty="0">
                <a:ln>
                  <a:noFill/>
                </a:ln>
                <a:solidFill>
                  <a:srgbClr val="1B2A44"/>
                </a:solidFill>
                <a:effectLst/>
                <a:uLnTx/>
                <a:uFillTx/>
                <a:latin typeface="Calibri"/>
                <a:ea typeface="+mn-ea"/>
                <a:cs typeface="+mn-cs"/>
              </a:rPr>
              <a:t>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जिसमे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दहाई और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इकाई होते है।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Tap and insert tens and ones block</a:t>
            </a:r>
            <a:endPar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और अब </a:t>
            </a:r>
            <a:r>
              <a:rPr kumimoji="0" lang="en-US" sz="1200" b="0" i="0" u="none" strike="noStrike" kern="1200" cap="none" spc="0" normalizeH="0" baseline="0" noProof="0" dirty="0" err="1">
                <a:ln>
                  <a:noFill/>
                </a:ln>
                <a:solidFill>
                  <a:srgbClr val="1B2A44"/>
                </a:solidFill>
                <a:effectLst/>
                <a:uLnTx/>
                <a:uFillTx/>
                <a:latin typeface="Calibri"/>
                <a:ea typeface="+mn-ea"/>
                <a:cs typeface="Mangal" panose="02040503050203030202" pitchFamily="18" charset="0"/>
              </a:rPr>
              <a:t>isme</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se 30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घटाते है,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30</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में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3</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दहाई और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0</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इकाई हैं।</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पहले इकाइयाँ घटाइए।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n-cs"/>
              </a:rPr>
              <a:t>0 इकाई मतलब कुछ नहीं घटाएंगे इकाई मे से।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अब दहाइयाँ घटाइए। 5  दहाई में से 3  दहाई हटाइए।</a:t>
            </a:r>
            <a:endParaRPr kumimoji="0" lang="hi-IN"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Child will tap and remove the </a:t>
            </a:r>
            <a:r>
              <a:rPr kumimoji="0" lang="hi-IN" sz="1200" b="0" i="0" u="none" strike="noStrike" kern="1200" cap="none" spc="0" normalizeH="0" baseline="0" noProof="0" dirty="0">
                <a:ln>
                  <a:noFill/>
                </a:ln>
                <a:solidFill>
                  <a:srgbClr val="1B2A44"/>
                </a:solidFill>
                <a:effectLst/>
                <a:uLnTx/>
                <a:uFillTx/>
                <a:latin typeface="Calibri"/>
                <a:ea typeface="+mn-ea"/>
                <a:cs typeface="+mn-cs"/>
              </a:rPr>
              <a:t>3 </a:t>
            </a:r>
            <a:r>
              <a:rPr kumimoji="0" lang="en-GB" sz="1200" b="0" i="0" u="none" strike="noStrike" kern="1200" cap="none" spc="0" normalizeH="0" baseline="0" noProof="0" dirty="0">
                <a:ln>
                  <a:noFill/>
                </a:ln>
                <a:solidFill>
                  <a:srgbClr val="1B2A44"/>
                </a:solidFill>
                <a:effectLst/>
                <a:uLnTx/>
                <a:uFillTx/>
                <a:latin typeface="Calibri"/>
                <a:ea typeface="+mn-ea"/>
                <a:cs typeface="+mn-cs"/>
              </a:rPr>
              <a:t> tens rods.</a:t>
            </a:r>
            <a:endPar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अब कितने बचे? सही संख्या चुनिए।</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i-IN"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Hint: If the child choose </a:t>
            </a:r>
            <a:r>
              <a:rPr kumimoji="0" lang="en-US" sz="1200" b="0" i="0" u="none" strike="noStrike" kern="1200" cap="none" spc="0" normalizeH="0" baseline="0" noProof="0" dirty="0">
                <a:ln>
                  <a:noFill/>
                </a:ln>
                <a:solidFill>
                  <a:srgbClr val="1B2A44"/>
                </a:solidFill>
                <a:effectLst/>
                <a:uLnTx/>
                <a:uFillTx/>
                <a:latin typeface="Calibri"/>
                <a:ea typeface="+mn-ea"/>
                <a:cs typeface="+mn-cs"/>
              </a:rPr>
              <a:t>28</a:t>
            </a:r>
            <a:r>
              <a:rPr kumimoji="0" lang="en-GB" sz="1200" b="0" i="0" u="none" strike="noStrike" kern="1200" cap="none" spc="0" normalizeH="0" baseline="0" noProof="0" dirty="0">
                <a:ln>
                  <a:noFill/>
                </a:ln>
                <a:solidFill>
                  <a:srgbClr val="1B2A44"/>
                </a:solidFill>
                <a:effectLst/>
                <a:uLnTx/>
                <a:uFillTx/>
                <a:latin typeface="Calibri"/>
                <a:ea typeface="+mn-ea"/>
                <a:cs typeface="+mn-cs"/>
              </a:rPr>
              <a:t>, the VO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शाबाश!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में से </a:t>
            </a:r>
            <a:r>
              <a:rPr kumimoji="0" lang="en-US" sz="1200" b="0" i="0" u="none" strike="noStrike" kern="1200" cap="none" spc="0" normalizeH="0" baseline="0" noProof="0" dirty="0">
                <a:ln>
                  <a:noFill/>
                </a:ln>
                <a:solidFill>
                  <a:srgbClr val="1B2A44"/>
                </a:solidFill>
                <a:effectLst/>
                <a:uLnTx/>
                <a:uFillTx/>
                <a:latin typeface="Calibri"/>
                <a:ea typeface="+mn-ea"/>
                <a:cs typeface="+mn-cs"/>
              </a:rPr>
              <a:t>30</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घटाने पर हमें मिलीं </a:t>
            </a:r>
            <a:r>
              <a:rPr kumimoji="0" lang="hi-IN" sz="1200" b="0" i="0" u="none" strike="noStrike" kern="1200" cap="none" spc="0" normalizeH="0" baseline="0" noProof="0" dirty="0">
                <a:ln>
                  <a:noFill/>
                </a:ln>
                <a:solidFill>
                  <a:srgbClr val="1B2A44"/>
                </a:solidFill>
                <a:effectLst/>
                <a:uLnTx/>
                <a:uFillTx/>
                <a:latin typeface="Calibri"/>
                <a:ea typeface="+mn-ea"/>
                <a:cs typeface="+mn-cs"/>
              </a:rPr>
              <a:t>2</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दहाई और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इकाई, यानी </a:t>
            </a:r>
            <a:r>
              <a:rPr kumimoji="0" lang="hi-IN" sz="1200" b="0" i="0" u="none" strike="noStrike" kern="1200" cap="none" spc="0" normalizeH="0" baseline="0" noProof="0" dirty="0">
                <a:ln>
                  <a:noFill/>
                </a:ln>
                <a:solidFill>
                  <a:srgbClr val="1B2A44"/>
                </a:solidFill>
                <a:effectLst/>
                <a:uLnTx/>
                <a:uFillTx/>
                <a:latin typeface="Calibri"/>
                <a:ea typeface="+mn-ea"/>
                <a:cs typeface="+mn-cs"/>
              </a:rPr>
              <a:t>2</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8</a:t>
            </a:r>
            <a:r>
              <a:rPr kumimoji="0" lang="hi-IN" sz="1200" b="0" i="0" u="none" strike="noStrike" kern="1200" cap="none" spc="0" normalizeH="0" baseline="0" noProof="0" dirty="0">
                <a:ln>
                  <a:noFill/>
                </a:ln>
                <a:solidFill>
                  <a:srgbClr val="1B2A44"/>
                </a:solidFill>
                <a:effectLst/>
                <a:uLnTx/>
                <a:uFillTx/>
                <a:latin typeface="Calibri"/>
                <a:ea typeface="+mn-ea"/>
                <a:cs typeface="+mn-cs"/>
              </a:rPr>
              <a:t>. </a:t>
            </a:r>
            <a:endPar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इसलिए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घटा </a:t>
            </a:r>
            <a:r>
              <a:rPr kumimoji="0" lang="en-US" sz="1200" b="0" i="0" u="none" strike="noStrike" kern="1200" cap="none" spc="0" normalizeH="0" baseline="0" noProof="0" dirty="0">
                <a:ln>
                  <a:noFill/>
                </a:ln>
                <a:solidFill>
                  <a:srgbClr val="1B2A44"/>
                </a:solidFill>
                <a:effectLst/>
                <a:uLnTx/>
                <a:uFillTx/>
                <a:latin typeface="Calibri"/>
                <a:ea typeface="+mn-ea"/>
                <a:cs typeface="+mn-cs"/>
              </a:rPr>
              <a:t>30</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बराबर </a:t>
            </a:r>
            <a:r>
              <a:rPr kumimoji="0" lang="en-US" sz="1200" b="0" i="0" u="none" strike="noStrike" kern="1200" cap="none" spc="0" normalizeH="0" baseline="0" noProof="0" dirty="0">
                <a:ln>
                  <a:noFill/>
                </a:ln>
                <a:solidFill>
                  <a:srgbClr val="1B2A44"/>
                </a:solidFill>
                <a:effectLst/>
                <a:uLnTx/>
                <a:uFillTx/>
                <a:latin typeface="Calibri"/>
                <a:ea typeface="+mn-ea"/>
                <a:cs typeface="+mn-cs"/>
              </a:rPr>
              <a:t>28</a:t>
            </a:r>
            <a:r>
              <a:rPr kumimoji="0" lang="hi-IN" sz="1200" b="0" i="0" u="none" strike="noStrike" kern="1200" cap="none" spc="0" normalizeH="0" baseline="0" noProof="0" dirty="0">
                <a:ln>
                  <a:noFill/>
                </a:ln>
                <a:solidFill>
                  <a:srgbClr val="1B2A44"/>
                </a:solidFill>
                <a:effectLst/>
                <a:uLnTx/>
                <a:uFillTx/>
                <a:latin typeface="Calibri"/>
                <a:ea typeface="+mn-ea"/>
                <a:cs typeface="+mn-cs"/>
              </a:rPr>
              <a:t> [</a:t>
            </a:r>
            <a:r>
              <a:rPr kumimoji="0" lang="en-GB" sz="1200" b="0" i="0" u="none" strike="noStrike" kern="1200" cap="none" spc="0" normalizeH="0" baseline="0" noProof="0" dirty="0">
                <a:ln>
                  <a:noFill/>
                </a:ln>
                <a:solidFill>
                  <a:srgbClr val="1B2A44"/>
                </a:solidFill>
                <a:effectLst/>
                <a:uLnTx/>
                <a:uFillTx/>
                <a:latin typeface="Calibri"/>
                <a:ea typeface="+mn-ea"/>
                <a:cs typeface="+mn-cs"/>
              </a:rPr>
              <a:t>Number Sync with VO]</a:t>
            </a:r>
            <a:endPar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B2A44"/>
              </a:solidFill>
              <a:effectLst/>
              <a:uLnTx/>
              <a:uFillTx/>
              <a:latin typeface="Calibri"/>
              <a:ea typeface="+mn-ea"/>
              <a:cs typeface="+mn-cs"/>
            </a:endParaRPr>
          </a:p>
          <a:p>
            <a:pPr lvl="0">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If the child choose 88 </a:t>
            </a:r>
            <a:r>
              <a:rPr lang="hi-IN" sz="1200" dirty="0">
                <a:solidFill>
                  <a:srgbClr val="1B2A44"/>
                </a:solidFill>
              </a:rPr>
              <a:t>or</a:t>
            </a:r>
            <a:r>
              <a:rPr kumimoji="0" lang="en-GB" sz="1200" b="0" i="0" u="none" strike="noStrike" kern="1200" cap="none" spc="0" normalizeH="0" baseline="0" noProof="0" dirty="0">
                <a:ln>
                  <a:noFill/>
                </a:ln>
                <a:solidFill>
                  <a:srgbClr val="1B2A44"/>
                </a:solidFill>
                <a:effectLst/>
                <a:uLnTx/>
                <a:uFillTx/>
                <a:latin typeface="Calibri"/>
                <a:ea typeface="+mn-ea"/>
                <a:cs typeface="+mn-cs"/>
              </a:rPr>
              <a:t> 82, the VO: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फिर से सोचिए, कितने बचे। </a:t>
            </a:r>
          </a:p>
          <a:p>
            <a:pPr lvl="0">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If the child </a:t>
            </a:r>
            <a:r>
              <a:rPr lang="en-GB" sz="1200" dirty="0">
                <a:solidFill>
                  <a:srgbClr val="1B2A44"/>
                </a:solidFill>
              </a:rPr>
              <a:t>choose 88 </a:t>
            </a:r>
            <a:r>
              <a:rPr lang="hi-IN" sz="1200" dirty="0">
                <a:solidFill>
                  <a:srgbClr val="1B2A44"/>
                </a:solidFill>
              </a:rPr>
              <a:t>or</a:t>
            </a:r>
            <a:r>
              <a:rPr lang="en-GB" sz="1200" dirty="0">
                <a:solidFill>
                  <a:srgbClr val="1B2A44"/>
                </a:solidFill>
              </a:rPr>
              <a:t> 82, </a:t>
            </a:r>
            <a:r>
              <a:rPr kumimoji="0" lang="en-GB" sz="1200" b="0" i="0" u="none" strike="noStrike" kern="1200" cap="none" spc="0" normalizeH="0" baseline="0" noProof="0" dirty="0">
                <a:ln>
                  <a:noFill/>
                </a:ln>
                <a:solidFill>
                  <a:srgbClr val="1B2A44"/>
                </a:solidFill>
                <a:effectLst/>
                <a:uLnTx/>
                <a:uFillTx/>
                <a:latin typeface="Calibri"/>
                <a:ea typeface="+mn-ea"/>
                <a:cs typeface="+mn-cs"/>
              </a:rPr>
              <a:t>the VO: </a:t>
            </a:r>
            <a:r>
              <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58 </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मे से </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22</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घटाने पर 2</a:t>
            </a:r>
            <a:r>
              <a:rPr kumimoji="0" lang="en-US"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8</a:t>
            </a:r>
            <a:r>
              <a:rPr kumimoji="0" lang="hi-IN"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rPr>
              <a:t> बचता है। तो सही संख्या यह है। </a:t>
            </a:r>
            <a:endParaRPr kumimoji="0" lang="hi-IN" sz="1200" b="0" i="0" u="none" strike="noStrike" kern="1200" cap="none" spc="0" normalizeH="0" baseline="0" noProof="0" dirty="0">
              <a:ln>
                <a:noFill/>
              </a:ln>
              <a:solidFill>
                <a:srgbClr val="1B2A44"/>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B2A44"/>
                </a:solidFill>
                <a:effectLst/>
                <a:uLnTx/>
                <a:uFillTx/>
                <a:latin typeface="Calibri"/>
                <a:ea typeface="+mn-ea"/>
                <a:cs typeface="+mn-cs"/>
              </a:rPr>
              <a:t>Glow number 28 and other two non-clickable.</a:t>
            </a:r>
            <a:endParaRPr kumimoji="0" lang="en-GB" sz="1200" b="0" i="0" u="none" strike="noStrike" kern="1200" cap="none" spc="0" normalizeH="0" baseline="0" noProof="0" dirty="0">
              <a:ln>
                <a:noFill/>
              </a:ln>
              <a:solidFill>
                <a:srgbClr val="1B2A44"/>
              </a:solidFill>
              <a:effectLst/>
              <a:uLnTx/>
              <a:uFillTx/>
              <a:latin typeface="Calibri"/>
              <a:ea typeface="+mn-ea"/>
              <a:cs typeface="Mangal" panose="02040503050203030202"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09_COUNT_ACTION.png</a:t>
            </a:r>
          </a:p>
        </p:txBody>
      </p:sp>
      <p:pic>
        <p:nvPicPr>
          <p:cNvPr id="3" name="Picture 2" descr="09_COUNT_ACTION.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graphicFrame>
        <p:nvGraphicFramePr>
          <p:cNvPr id="7" name="Table 6"/>
          <p:cNvGraphicFramePr>
            <a:graphicFrameLocks noGrp="1"/>
          </p:cNvGraphicFramePr>
          <p:nvPr>
            <p:extLst>
              <p:ext uri="{D42A27DB-BD31-4B8C-83A1-F6EECF244321}">
                <p14:modId xmlns:p14="http://schemas.microsoft.com/office/powerpoint/2010/main" val="2943699042"/>
              </p:ext>
            </p:extLst>
          </p:nvPr>
        </p:nvGraphicFramePr>
        <p:xfrm>
          <a:off x="841248" y="2368296"/>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9" descr="A green rectangular object with black background&#10;&#10;AI-generated content may be incorrect."/>
          <p:cNvPicPr>
            <a:picLocks noChangeAspect="1"/>
          </p:cNvPicPr>
          <p:nvPr/>
        </p:nvPicPr>
        <p:blipFill>
          <a:blip r:embed="rId3"/>
          <a:srcRect l="32916" r="35816"/>
          <a:stretch>
            <a:fillRect/>
          </a:stretch>
        </p:blipFill>
        <p:spPr>
          <a:xfrm>
            <a:off x="885504" y="2852928"/>
            <a:ext cx="246888" cy="1179576"/>
          </a:xfrm>
          <a:prstGeom prst="rect">
            <a:avLst/>
          </a:prstGeom>
        </p:spPr>
      </p:pic>
      <p:pic>
        <p:nvPicPr>
          <p:cNvPr id="9" name="Picture 9" descr="A green rectangular object with black background&#10;&#10;AI-generated content may be incorrect."/>
          <p:cNvPicPr>
            <a:picLocks noChangeAspect="1"/>
          </p:cNvPicPr>
          <p:nvPr/>
        </p:nvPicPr>
        <p:blipFill>
          <a:blip r:embed="rId3"/>
          <a:srcRect l="32916" r="35816"/>
          <a:stretch>
            <a:fillRect/>
          </a:stretch>
        </p:blipFill>
        <p:spPr>
          <a:xfrm>
            <a:off x="1097828" y="2852928"/>
            <a:ext cx="246888" cy="1179576"/>
          </a:xfrm>
          <a:prstGeom prst="rect">
            <a:avLst/>
          </a:prstGeom>
        </p:spPr>
      </p:pic>
      <p:pic>
        <p:nvPicPr>
          <p:cNvPr id="10" name="Picture 9" descr="A green rectangular object with black background&#10;&#10;AI-generated content may be incorrect."/>
          <p:cNvPicPr>
            <a:picLocks noChangeAspect="1"/>
          </p:cNvPicPr>
          <p:nvPr/>
        </p:nvPicPr>
        <p:blipFill>
          <a:blip r:embed="rId3"/>
          <a:srcRect l="32916" r="35816"/>
          <a:stretch>
            <a:fillRect/>
          </a:stretch>
        </p:blipFill>
        <p:spPr>
          <a:xfrm>
            <a:off x="1310152" y="2852928"/>
            <a:ext cx="246888" cy="1179576"/>
          </a:xfrm>
          <a:prstGeom prst="rect">
            <a:avLst/>
          </a:prstGeom>
        </p:spPr>
      </p:pic>
      <p:pic>
        <p:nvPicPr>
          <p:cNvPr id="11" name="Picture 9" descr="A green rectangular object with black background&#10;&#10;AI-generated content may be incorrect."/>
          <p:cNvPicPr>
            <a:picLocks noChangeAspect="1"/>
          </p:cNvPicPr>
          <p:nvPr/>
        </p:nvPicPr>
        <p:blipFill>
          <a:blip r:embed="rId3"/>
          <a:srcRect l="32916" r="35816"/>
          <a:stretch>
            <a:fillRect/>
          </a:stretch>
        </p:blipFill>
        <p:spPr>
          <a:xfrm>
            <a:off x="1522476" y="2852928"/>
            <a:ext cx="246888" cy="1179576"/>
          </a:xfrm>
          <a:prstGeom prst="rect">
            <a:avLst/>
          </a:prstGeom>
        </p:spPr>
      </p:pic>
      <p:pic>
        <p:nvPicPr>
          <p:cNvPr id="12"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734799" y="2852928"/>
            <a:ext cx="246888" cy="1179576"/>
          </a:xfrm>
          <a:prstGeom prst="rect">
            <a:avLst/>
          </a:prstGeom>
        </p:spPr>
      </p:pic>
      <p:pic>
        <p:nvPicPr>
          <p:cNvPr id="13"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1947123" y="2852928"/>
            <a:ext cx="246888" cy="1179576"/>
          </a:xfrm>
          <a:prstGeom prst="rect">
            <a:avLst/>
          </a:prstGeom>
        </p:spPr>
      </p:pic>
      <p:pic>
        <p:nvPicPr>
          <p:cNvPr id="14" name="Picture 9" descr="A green rectangular object with black background&#10;&#10;AI-generated content may be incorrect."/>
          <p:cNvPicPr>
            <a:picLocks noChangeAspect="1"/>
          </p:cNvPicPr>
          <p:nvPr/>
        </p:nvPicPr>
        <p:blipFill>
          <a:blip r:embed="rId3">
            <a:alphaModFix amt="28000"/>
          </a:blip>
          <a:srcRect l="32916" r="35816"/>
          <a:stretch>
            <a:fillRect/>
          </a:stretch>
        </p:blipFill>
        <p:spPr>
          <a:xfrm>
            <a:off x="2159447" y="2852928"/>
            <a:ext cx="246888" cy="1179576"/>
          </a:xfrm>
          <a:prstGeom prst="rect">
            <a:avLst/>
          </a:prstGeom>
        </p:spPr>
      </p:pic>
      <p:pic>
        <p:nvPicPr>
          <p:cNvPr id="15" name="Picture 16" descr="A yellow cube with black background&#10;&#10;AI-generated content may be incorrect."/>
          <p:cNvPicPr>
            <a:picLocks noChangeAspect="1"/>
          </p:cNvPicPr>
          <p:nvPr/>
        </p:nvPicPr>
        <p:blipFill>
          <a:blip r:embed="rId4"/>
          <a:stretch>
            <a:fillRect/>
          </a:stretch>
        </p:blipFill>
        <p:spPr>
          <a:xfrm>
            <a:off x="2715768" y="3200400"/>
            <a:ext cx="256032" cy="219456"/>
          </a:xfrm>
          <a:prstGeom prst="rect">
            <a:avLst/>
          </a:prstGeom>
        </p:spPr>
      </p:pic>
      <p:pic>
        <p:nvPicPr>
          <p:cNvPr id="16" name="Picture 16" descr="A yellow cube with black background&#10;&#10;AI-generated content may be incorrect."/>
          <p:cNvPicPr>
            <a:picLocks noChangeAspect="1"/>
          </p:cNvPicPr>
          <p:nvPr/>
        </p:nvPicPr>
        <p:blipFill>
          <a:blip r:embed="rId4"/>
          <a:stretch>
            <a:fillRect/>
          </a:stretch>
        </p:blipFill>
        <p:spPr>
          <a:xfrm>
            <a:off x="2926079" y="3200400"/>
            <a:ext cx="256032" cy="219456"/>
          </a:xfrm>
          <a:prstGeom prst="rect">
            <a:avLst/>
          </a:prstGeom>
        </p:spPr>
      </p:pic>
      <p:pic>
        <p:nvPicPr>
          <p:cNvPr id="17" name="Picture 16" descr="A yellow cube with black background&#10;&#10;AI-generated content may be incorrect."/>
          <p:cNvPicPr>
            <a:picLocks noChangeAspect="1"/>
          </p:cNvPicPr>
          <p:nvPr/>
        </p:nvPicPr>
        <p:blipFill>
          <a:blip r:embed="rId4"/>
          <a:stretch>
            <a:fillRect/>
          </a:stretch>
        </p:blipFill>
        <p:spPr>
          <a:xfrm>
            <a:off x="3136391" y="3200400"/>
            <a:ext cx="256032" cy="219456"/>
          </a:xfrm>
          <a:prstGeom prst="rect">
            <a:avLst/>
          </a:prstGeom>
        </p:spPr>
      </p:pic>
      <p:pic>
        <p:nvPicPr>
          <p:cNvPr id="18" name="Picture 16" descr="A yellow cube with black background&#10;&#10;AI-generated content may be incorrect."/>
          <p:cNvPicPr>
            <a:picLocks noChangeAspect="1"/>
          </p:cNvPicPr>
          <p:nvPr/>
        </p:nvPicPr>
        <p:blipFill>
          <a:blip r:embed="rId4"/>
          <a:stretch>
            <a:fillRect/>
          </a:stretch>
        </p:blipFill>
        <p:spPr>
          <a:xfrm>
            <a:off x="3346703" y="3200400"/>
            <a:ext cx="256032" cy="219456"/>
          </a:xfrm>
          <a:prstGeom prst="rect">
            <a:avLst/>
          </a:prstGeom>
        </p:spPr>
      </p:pic>
      <p:pic>
        <p:nvPicPr>
          <p:cNvPr id="19" name="Picture 16" descr="A yellow cube with black background&#10;&#10;AI-generated content may be incorrect."/>
          <p:cNvPicPr>
            <a:picLocks noChangeAspect="1"/>
          </p:cNvPicPr>
          <p:nvPr/>
        </p:nvPicPr>
        <p:blipFill>
          <a:blip r:embed="rId4"/>
          <a:stretch>
            <a:fillRect/>
          </a:stretch>
        </p:blipFill>
        <p:spPr>
          <a:xfrm>
            <a:off x="3557015" y="3200400"/>
            <a:ext cx="256032" cy="219456"/>
          </a:xfrm>
          <a:prstGeom prst="rect">
            <a:avLst/>
          </a:prstGeom>
        </p:spPr>
      </p:pic>
      <p:pic>
        <p:nvPicPr>
          <p:cNvPr id="20" name="Picture 16" descr="A yellow cube with black background&#10;&#10;AI-generated content may be incorrect."/>
          <p:cNvPicPr>
            <a:picLocks noChangeAspect="1"/>
          </p:cNvPicPr>
          <p:nvPr/>
        </p:nvPicPr>
        <p:blipFill>
          <a:blip r:embed="rId4">
            <a:alphaModFix amt="28000"/>
          </a:blip>
          <a:stretch>
            <a:fillRect/>
          </a:stretch>
        </p:blipFill>
        <p:spPr>
          <a:xfrm>
            <a:off x="2820924" y="3447288"/>
            <a:ext cx="256032" cy="219456"/>
          </a:xfrm>
          <a:prstGeom prst="rect">
            <a:avLst/>
          </a:prstGeom>
        </p:spPr>
      </p:pic>
      <p:pic>
        <p:nvPicPr>
          <p:cNvPr id="21" name="Picture 16" descr="A yellow cube with black background&#10;&#10;AI-generated content may be incorrect."/>
          <p:cNvPicPr>
            <a:picLocks noChangeAspect="1"/>
          </p:cNvPicPr>
          <p:nvPr/>
        </p:nvPicPr>
        <p:blipFill>
          <a:blip r:embed="rId4">
            <a:alphaModFix amt="28000"/>
          </a:blip>
          <a:stretch>
            <a:fillRect/>
          </a:stretch>
        </p:blipFill>
        <p:spPr>
          <a:xfrm>
            <a:off x="3031236" y="3447288"/>
            <a:ext cx="256032" cy="219456"/>
          </a:xfrm>
          <a:prstGeom prst="rect">
            <a:avLst/>
          </a:prstGeom>
        </p:spPr>
      </p:pic>
      <p:pic>
        <p:nvPicPr>
          <p:cNvPr id="22" name="Picture 16" descr="A yellow cube with black background&#10;&#10;AI-generated content may be incorrect."/>
          <p:cNvPicPr>
            <a:picLocks noChangeAspect="1"/>
          </p:cNvPicPr>
          <p:nvPr/>
        </p:nvPicPr>
        <p:blipFill>
          <a:blip r:embed="rId4">
            <a:alphaModFix amt="28000"/>
          </a:blip>
          <a:stretch>
            <a:fillRect/>
          </a:stretch>
        </p:blipFill>
        <p:spPr>
          <a:xfrm>
            <a:off x="3241548" y="3447288"/>
            <a:ext cx="256032" cy="219456"/>
          </a:xfrm>
          <a:prstGeom prst="rect">
            <a:avLst/>
          </a:prstGeom>
        </p:spPr>
      </p:pic>
      <p:pic>
        <p:nvPicPr>
          <p:cNvPr id="23" name="Picture 16" descr="A yellow cube with black background&#10;&#10;AI-generated content may be incorrect."/>
          <p:cNvPicPr>
            <a:picLocks noChangeAspect="1"/>
          </p:cNvPicPr>
          <p:nvPr/>
        </p:nvPicPr>
        <p:blipFill>
          <a:blip r:embed="rId4">
            <a:alphaModFix amt="28000"/>
          </a:blip>
          <a:stretch>
            <a:fillRect/>
          </a:stretch>
        </p:blipFill>
        <p:spPr>
          <a:xfrm>
            <a:off x="3451860" y="3447288"/>
            <a:ext cx="256032" cy="219456"/>
          </a:xfrm>
          <a:prstGeom prst="rect">
            <a:avLst/>
          </a:prstGeom>
        </p:spPr>
      </p:pic>
      <p:graphicFrame>
        <p:nvGraphicFramePr>
          <p:cNvPr id="24" name="Table 6"/>
          <p:cNvGraphicFramePr>
            <a:graphicFrameLocks noGrp="1"/>
          </p:cNvGraphicFramePr>
          <p:nvPr>
            <p:extLst>
              <p:ext uri="{D42A27DB-BD31-4B8C-83A1-F6EECF244321}">
                <p14:modId xmlns:p14="http://schemas.microsoft.com/office/powerpoint/2010/main" val="2943699042"/>
              </p:ext>
            </p:extLst>
          </p:nvPr>
        </p:nvGraphicFramePr>
        <p:xfrm>
          <a:off x="4443984" y="2368296"/>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20000"/>
                    </a:ext>
                  </a:extLst>
                </a:gridCol>
                <a:gridCol w="1612898">
                  <a:extLst>
                    <a:ext uri="{9D8B030D-6E8A-4147-A177-3AD203B41FA5}">
                      <a16:colId xmlns:a16="http://schemas.microsoft.com/office/drawing/2014/main" val="20001"/>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10000"/>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10001"/>
                  </a:ext>
                </a:extLst>
              </a:tr>
            </a:tbl>
          </a:graphicData>
        </a:graphic>
      </p:graphicFrame>
      <p:pic>
        <p:nvPicPr>
          <p:cNvPr id="25" name="Picture 9" descr="A green rectangular object with black background&#10;&#10;AI-generated content may be incorrect."/>
          <p:cNvPicPr>
            <a:picLocks noChangeAspect="1"/>
          </p:cNvPicPr>
          <p:nvPr/>
        </p:nvPicPr>
        <p:blipFill>
          <a:blip r:embed="rId3"/>
          <a:srcRect l="32916" r="35816"/>
          <a:stretch>
            <a:fillRect/>
          </a:stretch>
        </p:blipFill>
        <p:spPr>
          <a:xfrm>
            <a:off x="4806726" y="2852928"/>
            <a:ext cx="246888" cy="1179576"/>
          </a:xfrm>
          <a:prstGeom prst="rect">
            <a:avLst/>
          </a:prstGeom>
        </p:spPr>
      </p:pic>
      <p:pic>
        <p:nvPicPr>
          <p:cNvPr id="26" name="Picture 9" descr="A green rectangular object with black background&#10;&#10;AI-generated content may be incorrect."/>
          <p:cNvPicPr>
            <a:picLocks noChangeAspect="1"/>
          </p:cNvPicPr>
          <p:nvPr/>
        </p:nvPicPr>
        <p:blipFill>
          <a:blip r:embed="rId3"/>
          <a:srcRect l="32916" r="35816"/>
          <a:stretch>
            <a:fillRect/>
          </a:stretch>
        </p:blipFill>
        <p:spPr>
          <a:xfrm>
            <a:off x="5019050" y="2852928"/>
            <a:ext cx="246888" cy="1179576"/>
          </a:xfrm>
          <a:prstGeom prst="rect">
            <a:avLst/>
          </a:prstGeom>
        </p:spPr>
      </p:pic>
      <p:pic>
        <p:nvPicPr>
          <p:cNvPr id="27" name="Picture 9" descr="A green rectangular object with black background&#10;&#10;AI-generated content may be incorrect."/>
          <p:cNvPicPr>
            <a:picLocks noChangeAspect="1"/>
          </p:cNvPicPr>
          <p:nvPr/>
        </p:nvPicPr>
        <p:blipFill>
          <a:blip r:embed="rId3"/>
          <a:srcRect l="32916" r="35816"/>
          <a:stretch>
            <a:fillRect/>
          </a:stretch>
        </p:blipFill>
        <p:spPr>
          <a:xfrm>
            <a:off x="5231373" y="2852928"/>
            <a:ext cx="246888" cy="1179576"/>
          </a:xfrm>
          <a:prstGeom prst="rect">
            <a:avLst/>
          </a:prstGeom>
        </p:spPr>
      </p:pic>
      <p:pic>
        <p:nvPicPr>
          <p:cNvPr id="28" name="Picture 9" descr="A green rectangular object with black background&#10;&#10;AI-generated content may be incorrect."/>
          <p:cNvPicPr>
            <a:picLocks noChangeAspect="1"/>
          </p:cNvPicPr>
          <p:nvPr/>
        </p:nvPicPr>
        <p:blipFill>
          <a:blip r:embed="rId3"/>
          <a:srcRect l="32916" r="35816"/>
          <a:stretch>
            <a:fillRect/>
          </a:stretch>
        </p:blipFill>
        <p:spPr>
          <a:xfrm>
            <a:off x="5443697" y="2852928"/>
            <a:ext cx="246888" cy="1179576"/>
          </a:xfrm>
          <a:prstGeom prst="rect">
            <a:avLst/>
          </a:prstGeom>
        </p:spPr>
      </p:pic>
      <p:pic>
        <p:nvPicPr>
          <p:cNvPr id="29" name="Picture 16" descr="A yellow cube with black background&#10;&#10;AI-generated content may be incorrect."/>
          <p:cNvPicPr>
            <a:picLocks noChangeAspect="1"/>
          </p:cNvPicPr>
          <p:nvPr/>
        </p:nvPicPr>
        <p:blipFill>
          <a:blip r:embed="rId4"/>
          <a:stretch>
            <a:fillRect/>
          </a:stretch>
        </p:blipFill>
        <p:spPr>
          <a:xfrm>
            <a:off x="6318504" y="3319272"/>
            <a:ext cx="256032" cy="219456"/>
          </a:xfrm>
          <a:prstGeom prst="rect">
            <a:avLst/>
          </a:prstGeom>
        </p:spPr>
      </p:pic>
      <p:pic>
        <p:nvPicPr>
          <p:cNvPr id="30" name="Picture 16" descr="A yellow cube with black background&#10;&#10;AI-generated content may be incorrect."/>
          <p:cNvPicPr>
            <a:picLocks noChangeAspect="1"/>
          </p:cNvPicPr>
          <p:nvPr/>
        </p:nvPicPr>
        <p:blipFill>
          <a:blip r:embed="rId4"/>
          <a:stretch>
            <a:fillRect/>
          </a:stretch>
        </p:blipFill>
        <p:spPr>
          <a:xfrm>
            <a:off x="6528816" y="3319272"/>
            <a:ext cx="256032" cy="219456"/>
          </a:xfrm>
          <a:prstGeom prst="rect">
            <a:avLst/>
          </a:prstGeom>
        </p:spPr>
      </p:pic>
      <p:pic>
        <p:nvPicPr>
          <p:cNvPr id="31" name="Picture 16" descr="A yellow cube with black background&#10;&#10;AI-generated content may be incorrect."/>
          <p:cNvPicPr>
            <a:picLocks noChangeAspect="1"/>
          </p:cNvPicPr>
          <p:nvPr/>
        </p:nvPicPr>
        <p:blipFill>
          <a:blip r:embed="rId4"/>
          <a:stretch>
            <a:fillRect/>
          </a:stretch>
        </p:blipFill>
        <p:spPr>
          <a:xfrm>
            <a:off x="6739128" y="3319272"/>
            <a:ext cx="256032" cy="219456"/>
          </a:xfrm>
          <a:prstGeom prst="rect">
            <a:avLst/>
          </a:prstGeom>
        </p:spPr>
      </p:pic>
      <p:pic>
        <p:nvPicPr>
          <p:cNvPr id="32" name="Picture 16" descr="A yellow cube with black background&#10;&#10;AI-generated content may be incorrect."/>
          <p:cNvPicPr>
            <a:picLocks noChangeAspect="1"/>
          </p:cNvPicPr>
          <p:nvPr/>
        </p:nvPicPr>
        <p:blipFill>
          <a:blip r:embed="rId4"/>
          <a:stretch>
            <a:fillRect/>
          </a:stretch>
        </p:blipFill>
        <p:spPr>
          <a:xfrm>
            <a:off x="6949440" y="3319272"/>
            <a:ext cx="256032" cy="219456"/>
          </a:xfrm>
          <a:prstGeom prst="rect">
            <a:avLst/>
          </a:prstGeom>
        </p:spPr>
      </p:pic>
      <p:pic>
        <p:nvPicPr>
          <p:cNvPr id="33" name="Picture 16" descr="A yellow cube with black background&#10;&#10;AI-generated content may be incorrect."/>
          <p:cNvPicPr>
            <a:picLocks noChangeAspect="1"/>
          </p:cNvPicPr>
          <p:nvPr/>
        </p:nvPicPr>
        <p:blipFill>
          <a:blip r:embed="rId4"/>
          <a:stretch>
            <a:fillRect/>
          </a:stretch>
        </p:blipFill>
        <p:spPr>
          <a:xfrm>
            <a:off x="7159752" y="3319272"/>
            <a:ext cx="256032" cy="219456"/>
          </a:xfrm>
          <a:prstGeom prst="rect">
            <a:avLst/>
          </a:prstGeom>
        </p:spPr>
      </p:pic>
      <p:sp>
        <p:nvSpPr>
          <p:cNvPr id="34" name="Rectangle: Rounded Corners 10"/>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79  −  34  =  ?</a:t>
            </a:r>
            <a:endParaRPr lang="en-IN" sz="3200" b="1" dirty="0"/>
          </a:p>
        </p:txBody>
      </p:sp>
      <p:sp>
        <p:nvSpPr>
          <p:cNvPr id="35" name="Rectangle: Rounded Corners 20"/>
          <p:cNvSpPr/>
          <p:nvPr/>
        </p:nvSpPr>
        <p:spPr>
          <a:xfrm>
            <a:off x="3630154" y="4392224"/>
            <a:ext cx="1121695"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36" name="Keypad" descr="black and white icons Stock Vector | Adobe Stock"/>
          <p:cNvPicPr>
            <a:picLocks noChangeAspect="1" noChangeArrowheads="1"/>
          </p:cNvPicPr>
          <p:nvPr/>
        </p:nvPicPr>
        <p:blipFill rotWithShape="1">
          <a:blip r:embed="rId5"/>
          <a:srcRect l="16950" t="13066" r="16336" b="14533"/>
          <a:stretch>
            <a:fillRect/>
          </a:stretch>
        </p:blipFill>
        <p:spPr bwMode="auto">
          <a:xfrm>
            <a:off x="3542339" y="5041616"/>
            <a:ext cx="1282082" cy="1391371"/>
          </a:xfrm>
          <a:prstGeom prst="rect">
            <a:avLst/>
          </a:prstGeom>
          <a:noFill/>
        </p:spPr>
      </p:pic>
      <p:sp>
        <p:nvSpPr>
          <p:cNvPr id="37" name="TextBox 36"/>
          <p:cNvSpPr txBox="1"/>
          <p:nvPr/>
        </p:nvSpPr>
        <p:spPr>
          <a:xfrm>
            <a:off x="8000999" y="84162"/>
            <a:ext cx="4124739" cy="6801862"/>
          </a:xfrm>
          <a:prstGeom prst="rect">
            <a:avLst/>
          </a:prstGeom>
          <a:noFill/>
        </p:spPr>
        <p:txBody>
          <a:bodyPr wrap="square">
            <a:spAutoFit/>
          </a:bodyPr>
          <a:lstStyle/>
          <a:p>
            <a:r>
              <a:rPr sz="1600" b="1" dirty="0">
                <a:solidFill>
                  <a:srgbClr val="0B3D8C"/>
                </a:solidFill>
              </a:rPr>
              <a:t>Recommendations</a:t>
            </a:r>
          </a:p>
          <a:p>
            <a:pPr lvl="0">
              <a:defRPr/>
            </a:pPr>
            <a:r>
              <a:rPr lang="en-GB" sz="1200" b="1" dirty="0">
                <a:solidFill>
                  <a:srgbClr val="1B2A44"/>
                </a:solidFill>
              </a:rPr>
              <a:t>Instruction: </a:t>
            </a:r>
            <a:r>
              <a:rPr lang="hi-IN" sz="1200" dirty="0">
                <a:solidFill>
                  <a:srgbClr val="1B2A44"/>
                </a:solidFill>
              </a:rPr>
              <a:t>संख्याएँ घटाइए।</a:t>
            </a:r>
          </a:p>
          <a:p>
            <a:pPr lvl="0">
              <a:defRPr/>
            </a:pPr>
            <a:endParaRPr lang="hi-IN" sz="1200" dirty="0">
              <a:solidFill>
                <a:srgbClr val="1B2A44"/>
              </a:solidFill>
            </a:endParaRPr>
          </a:p>
          <a:p>
            <a:pPr lvl="0">
              <a:defRPr/>
            </a:pPr>
            <a:r>
              <a:rPr lang="en-GB" sz="1200" dirty="0">
                <a:solidFill>
                  <a:srgbClr val="1B2A44"/>
                </a:solidFill>
              </a:rPr>
              <a:t>Replace the pick set by number with the Equation: 79 − 34 = ?</a:t>
            </a:r>
          </a:p>
          <a:p>
            <a:pPr lvl="0">
              <a:defRPr/>
            </a:pPr>
            <a:r>
              <a:rPr lang="en-GB" sz="1200" dirty="0">
                <a:solidFill>
                  <a:srgbClr val="1B2A44"/>
                </a:solidFill>
              </a:rPr>
              <a:t>Left table: the child builds 58 and removes 30 (removed blocks stay greyed-out). Right table: the remaining blocks move here. Then the child picks the answer.</a:t>
            </a:r>
          </a:p>
          <a:p>
            <a:pPr lvl="0">
              <a:defRPr/>
            </a:pPr>
            <a:endParaRPr lang="en-GB" sz="1200" dirty="0">
              <a:solidFill>
                <a:srgbClr val="1B2A44"/>
              </a:solidFill>
            </a:endParaRPr>
          </a:p>
          <a:p>
            <a:pPr lvl="0">
              <a:defRPr/>
            </a:pPr>
            <a:r>
              <a:rPr lang="en-GB" sz="1200" b="1" dirty="0">
                <a:solidFill>
                  <a:srgbClr val="1B2A44"/>
                </a:solidFill>
              </a:rPr>
              <a:t>Voice-over</a:t>
            </a:r>
          </a:p>
          <a:p>
            <a:pPr lvl="0">
              <a:defRPr/>
            </a:pPr>
            <a:endParaRPr lang="en-GB" sz="1200" b="1" dirty="0">
              <a:solidFill>
                <a:srgbClr val="1B2A44"/>
              </a:solidFill>
            </a:endParaRPr>
          </a:p>
          <a:p>
            <a:pPr lvl="0">
              <a:defRPr/>
            </a:pPr>
            <a:r>
              <a:rPr lang="en-GB" sz="1200" dirty="0">
                <a:solidFill>
                  <a:srgbClr val="1B2A44"/>
                </a:solidFill>
                <a:cs typeface="Mangal" panose="02040503050203030202" pitchFamily="18" charset="0"/>
              </a:rPr>
              <a:t>79 </a:t>
            </a:r>
            <a:r>
              <a:rPr lang="hi-IN" sz="1200" dirty="0">
                <a:solidFill>
                  <a:srgbClr val="1B2A44"/>
                </a:solidFill>
              </a:rPr>
              <a:t>में से </a:t>
            </a:r>
            <a:r>
              <a:rPr lang="en-US" sz="1200" dirty="0">
                <a:solidFill>
                  <a:srgbClr val="1B2A44"/>
                </a:solidFill>
                <a:cs typeface="Mangal" panose="02040503050203030202" pitchFamily="18" charset="0"/>
              </a:rPr>
              <a:t>34</a:t>
            </a:r>
            <a:r>
              <a:rPr lang="hi-IN" sz="1200" dirty="0">
                <a:solidFill>
                  <a:srgbClr val="1B2A44"/>
                </a:solidFill>
              </a:rPr>
              <a:t> घटाइए।</a:t>
            </a:r>
          </a:p>
          <a:p>
            <a:pPr lvl="0">
              <a:defRPr/>
            </a:pPr>
            <a:r>
              <a:rPr lang="hi-IN" sz="1200" dirty="0">
                <a:solidFill>
                  <a:srgbClr val="1B2A44"/>
                </a:solidFill>
              </a:rPr>
              <a:t>सबसे पहले ब्लॉक्स की सहायता से </a:t>
            </a:r>
            <a:r>
              <a:rPr lang="en-US" sz="1200" dirty="0">
                <a:solidFill>
                  <a:srgbClr val="1B2A44"/>
                </a:solidFill>
                <a:cs typeface="Mangal" panose="02040503050203030202" pitchFamily="18" charset="0"/>
              </a:rPr>
              <a:t>79</a:t>
            </a:r>
            <a:r>
              <a:rPr lang="hi-IN" sz="1200" dirty="0">
                <a:solidFill>
                  <a:srgbClr val="1B2A44"/>
                </a:solidFill>
              </a:rPr>
              <a:t> बनाइए। जिसमे </a:t>
            </a:r>
            <a:r>
              <a:rPr lang="en-US" sz="1200" dirty="0">
                <a:solidFill>
                  <a:srgbClr val="1B2A44"/>
                </a:solidFill>
                <a:cs typeface="Mangal" panose="02040503050203030202" pitchFamily="18" charset="0"/>
              </a:rPr>
              <a:t>7</a:t>
            </a:r>
            <a:r>
              <a:rPr lang="hi-IN" sz="1200" dirty="0">
                <a:solidFill>
                  <a:srgbClr val="1B2A44"/>
                </a:solidFill>
              </a:rPr>
              <a:t> दहाई और </a:t>
            </a:r>
            <a:r>
              <a:rPr lang="en-US" sz="1200" dirty="0">
                <a:solidFill>
                  <a:srgbClr val="1B2A44"/>
                </a:solidFill>
                <a:cs typeface="Mangal" panose="02040503050203030202" pitchFamily="18" charset="0"/>
              </a:rPr>
              <a:t>9</a:t>
            </a:r>
            <a:r>
              <a:rPr lang="hi-IN" sz="1200" dirty="0">
                <a:solidFill>
                  <a:srgbClr val="1B2A44"/>
                </a:solidFill>
              </a:rPr>
              <a:t> इकाई होते है। </a:t>
            </a:r>
          </a:p>
          <a:p>
            <a:pPr lvl="0">
              <a:defRPr/>
            </a:pPr>
            <a:r>
              <a:rPr lang="en-GB" sz="1200" dirty="0">
                <a:solidFill>
                  <a:srgbClr val="1B2A44"/>
                </a:solidFill>
              </a:rPr>
              <a:t>Tap and insert tens and ones block</a:t>
            </a:r>
            <a:endParaRPr lang="en-GB" sz="1200" dirty="0">
              <a:solidFill>
                <a:srgbClr val="1B2A44"/>
              </a:solidFill>
              <a:cs typeface="Mangal" panose="02040503050203030202" pitchFamily="18" charset="0"/>
            </a:endParaRPr>
          </a:p>
          <a:p>
            <a:pPr lvl="0">
              <a:defRPr/>
            </a:pPr>
            <a:endParaRPr lang="en-GB" sz="1200" dirty="0">
              <a:solidFill>
                <a:srgbClr val="1B2A44"/>
              </a:solidFill>
            </a:endParaRPr>
          </a:p>
          <a:p>
            <a:pPr lvl="0">
              <a:defRPr/>
            </a:pPr>
            <a:r>
              <a:rPr lang="hi-IN" sz="1200" dirty="0">
                <a:solidFill>
                  <a:srgbClr val="1B2A44"/>
                </a:solidFill>
              </a:rPr>
              <a:t>और अब </a:t>
            </a:r>
            <a:r>
              <a:rPr lang="hi-IN" sz="1200" dirty="0">
                <a:solidFill>
                  <a:srgbClr val="1B2A44"/>
                </a:solidFill>
                <a:cs typeface="Mangal" panose="02040503050203030202" pitchFamily="18" charset="0"/>
              </a:rPr>
              <a:t>इसमे से</a:t>
            </a:r>
            <a:r>
              <a:rPr lang="en-US" sz="1200" dirty="0">
                <a:solidFill>
                  <a:srgbClr val="1B2A44"/>
                </a:solidFill>
                <a:cs typeface="Mangal" panose="02040503050203030202" pitchFamily="18" charset="0"/>
              </a:rPr>
              <a:t> 34 </a:t>
            </a:r>
            <a:r>
              <a:rPr lang="hi-IN" sz="1200" dirty="0">
                <a:solidFill>
                  <a:srgbClr val="1B2A44"/>
                </a:solidFill>
              </a:rPr>
              <a:t>घटाते है, </a:t>
            </a:r>
            <a:r>
              <a:rPr lang="en-US" sz="1200" dirty="0">
                <a:solidFill>
                  <a:srgbClr val="1B2A44"/>
                </a:solidFill>
                <a:cs typeface="Mangal" panose="02040503050203030202" pitchFamily="18" charset="0"/>
              </a:rPr>
              <a:t>34</a:t>
            </a:r>
            <a:r>
              <a:rPr lang="hi-IN" sz="1200" dirty="0">
                <a:solidFill>
                  <a:srgbClr val="1B2A44"/>
                </a:solidFill>
              </a:rPr>
              <a:t> में </a:t>
            </a:r>
            <a:r>
              <a:rPr lang="en-US" sz="1200" dirty="0">
                <a:solidFill>
                  <a:srgbClr val="1B2A44"/>
                </a:solidFill>
                <a:cs typeface="Mangal" panose="02040503050203030202" pitchFamily="18" charset="0"/>
              </a:rPr>
              <a:t>3</a:t>
            </a:r>
            <a:r>
              <a:rPr lang="hi-IN" sz="1200" dirty="0">
                <a:solidFill>
                  <a:srgbClr val="1B2A44"/>
                </a:solidFill>
              </a:rPr>
              <a:t> दहाई और </a:t>
            </a:r>
            <a:r>
              <a:rPr lang="en-US" sz="1200" dirty="0">
                <a:solidFill>
                  <a:srgbClr val="1B2A44"/>
                </a:solidFill>
                <a:cs typeface="Mangal" panose="02040503050203030202" pitchFamily="18" charset="0"/>
              </a:rPr>
              <a:t>4</a:t>
            </a:r>
            <a:r>
              <a:rPr lang="hi-IN" sz="1200" dirty="0">
                <a:solidFill>
                  <a:srgbClr val="1B2A44"/>
                </a:solidFill>
              </a:rPr>
              <a:t> इकाई हैं।</a:t>
            </a:r>
          </a:p>
          <a:p>
            <a:pPr lvl="0">
              <a:defRPr/>
            </a:pPr>
            <a:r>
              <a:rPr lang="hi-IN" sz="1200" dirty="0">
                <a:solidFill>
                  <a:srgbClr val="1B2A44"/>
                </a:solidFill>
              </a:rPr>
              <a:t>पहले इकाइयाँ घटाइए। </a:t>
            </a:r>
          </a:p>
          <a:p>
            <a:r>
              <a:rPr lang="en-US" sz="1200" dirty="0">
                <a:solidFill>
                  <a:srgbClr val="1B2A44"/>
                </a:solidFill>
              </a:rPr>
              <a:t>9</a:t>
            </a:r>
            <a:r>
              <a:rPr lang="hi-IN" sz="1200" dirty="0">
                <a:solidFill>
                  <a:srgbClr val="1B2A44"/>
                </a:solidFill>
              </a:rPr>
              <a:t> इकाई में से </a:t>
            </a:r>
            <a:r>
              <a:rPr lang="en-US" sz="1200" dirty="0">
                <a:solidFill>
                  <a:srgbClr val="1B2A44"/>
                </a:solidFill>
              </a:rPr>
              <a:t>4</a:t>
            </a:r>
            <a:r>
              <a:rPr lang="hi-IN" sz="1200" dirty="0">
                <a:solidFill>
                  <a:srgbClr val="1B2A44"/>
                </a:solidFill>
              </a:rPr>
              <a:t> इकाई हटाइए।</a:t>
            </a:r>
          </a:p>
          <a:p>
            <a:r>
              <a:rPr lang="en-US" sz="1200" dirty="0">
                <a:solidFill>
                  <a:srgbClr val="1B2A44"/>
                </a:solidFill>
              </a:rPr>
              <a:t>Child will tap and remove the ones blocks</a:t>
            </a:r>
            <a:endParaRPr lang="hi-IN" sz="1200" dirty="0">
              <a:solidFill>
                <a:srgbClr val="1B2A44"/>
              </a:solidFill>
            </a:endParaRPr>
          </a:p>
          <a:p>
            <a:pPr lvl="0">
              <a:defRPr/>
            </a:pPr>
            <a:endParaRPr lang="en-GB" sz="1200" dirty="0">
              <a:solidFill>
                <a:srgbClr val="1B2A44"/>
              </a:solidFill>
            </a:endParaRPr>
          </a:p>
          <a:p>
            <a:pPr lvl="0">
              <a:defRPr/>
            </a:pPr>
            <a:r>
              <a:rPr lang="hi-IN" sz="1200" dirty="0">
                <a:solidFill>
                  <a:srgbClr val="1B2A44"/>
                </a:solidFill>
              </a:rPr>
              <a:t>अब दहाइयाँ घटाइए। </a:t>
            </a:r>
            <a:r>
              <a:rPr lang="en-US" sz="1200" dirty="0">
                <a:solidFill>
                  <a:srgbClr val="1B2A44"/>
                </a:solidFill>
              </a:rPr>
              <a:t>7</a:t>
            </a:r>
            <a:r>
              <a:rPr lang="hi-IN" sz="1200" dirty="0">
                <a:solidFill>
                  <a:srgbClr val="1B2A44"/>
                </a:solidFill>
              </a:rPr>
              <a:t> दहाई में से </a:t>
            </a:r>
            <a:r>
              <a:rPr lang="en-US" sz="1200" dirty="0">
                <a:solidFill>
                  <a:srgbClr val="1B2A44"/>
                </a:solidFill>
              </a:rPr>
              <a:t>3</a:t>
            </a:r>
            <a:r>
              <a:rPr lang="hi-IN" sz="1200" dirty="0">
                <a:solidFill>
                  <a:srgbClr val="1B2A44"/>
                </a:solidFill>
              </a:rPr>
              <a:t> दहाई हटाइए।</a:t>
            </a:r>
          </a:p>
          <a:p>
            <a:pPr lvl="0">
              <a:defRPr/>
            </a:pPr>
            <a:r>
              <a:rPr lang="en-GB" sz="1200" dirty="0">
                <a:solidFill>
                  <a:srgbClr val="1B2A44"/>
                </a:solidFill>
              </a:rPr>
              <a:t>Child will tap and remove the </a:t>
            </a:r>
            <a:r>
              <a:rPr lang="hi-IN" sz="1200" dirty="0">
                <a:solidFill>
                  <a:srgbClr val="1B2A44"/>
                </a:solidFill>
              </a:rPr>
              <a:t>3 </a:t>
            </a:r>
            <a:r>
              <a:rPr lang="en-GB" sz="1200" dirty="0">
                <a:solidFill>
                  <a:srgbClr val="1B2A44"/>
                </a:solidFill>
              </a:rPr>
              <a:t>tens rods.</a:t>
            </a:r>
            <a:endParaRPr lang="en-GB" sz="1200" dirty="0">
              <a:solidFill>
                <a:srgbClr val="1B2A44"/>
              </a:solidFill>
              <a:cs typeface="Mangal" panose="02040503050203030202" pitchFamily="18" charset="0"/>
            </a:endParaRPr>
          </a:p>
          <a:p>
            <a:pPr lvl="0">
              <a:defRPr/>
            </a:pPr>
            <a:endParaRPr lang="en-GB" sz="1200" dirty="0">
              <a:solidFill>
                <a:srgbClr val="1B2A44"/>
              </a:solidFill>
              <a:cs typeface="Mangal" panose="02040503050203030202" pitchFamily="18" charset="0"/>
            </a:endParaRPr>
          </a:p>
          <a:p>
            <a:pPr lvl="0">
              <a:defRPr/>
            </a:pPr>
            <a:r>
              <a:rPr lang="hi-IN" sz="1200" dirty="0">
                <a:solidFill>
                  <a:srgbClr val="1B2A44"/>
                </a:solidFill>
              </a:rPr>
              <a:t>अब कितने बचे? नीचे डिब्बे पर टैप करके सही संख्या लिखिए।</a:t>
            </a:r>
          </a:p>
          <a:p>
            <a:pPr lvl="0">
              <a:defRPr/>
            </a:pPr>
            <a:r>
              <a:rPr lang="en-US" sz="1200" dirty="0">
                <a:solidFill>
                  <a:srgbClr val="1B2A44"/>
                </a:solidFill>
              </a:rPr>
              <a:t>When the child tap on the box, the number keypad will appear. </a:t>
            </a:r>
          </a:p>
          <a:p>
            <a:pPr lvl="0">
              <a:defRPr/>
            </a:pPr>
            <a:endParaRPr lang="hi-IN" sz="1200" dirty="0">
              <a:solidFill>
                <a:srgbClr val="1B2A44"/>
              </a:solidFill>
            </a:endParaRPr>
          </a:p>
          <a:p>
            <a:pPr lvl="0">
              <a:defRPr/>
            </a:pPr>
            <a:r>
              <a:rPr lang="en-GB" sz="1200" dirty="0">
                <a:solidFill>
                  <a:srgbClr val="1B2A44"/>
                </a:solidFill>
              </a:rPr>
              <a:t>Hint: If the child </a:t>
            </a:r>
            <a:r>
              <a:rPr lang="en-US" sz="1200" dirty="0">
                <a:solidFill>
                  <a:srgbClr val="1B2A44"/>
                </a:solidFill>
              </a:rPr>
              <a:t>enters 45</a:t>
            </a:r>
            <a:r>
              <a:rPr lang="en-GB" sz="1200" dirty="0">
                <a:solidFill>
                  <a:srgbClr val="1B2A44"/>
                </a:solidFill>
              </a:rPr>
              <a:t>, the VO</a:t>
            </a:r>
          </a:p>
          <a:p>
            <a:pPr lvl="0">
              <a:defRPr/>
            </a:pPr>
            <a:r>
              <a:rPr lang="hi-IN" sz="1200" dirty="0">
                <a:solidFill>
                  <a:srgbClr val="1B2A44"/>
                </a:solidFill>
              </a:rPr>
              <a:t>शाबाश! </a:t>
            </a:r>
            <a:r>
              <a:rPr lang="en-US" sz="1200" dirty="0">
                <a:solidFill>
                  <a:srgbClr val="1B2A44"/>
                </a:solidFill>
                <a:cs typeface="Mangal" panose="02040503050203030202" pitchFamily="18" charset="0"/>
              </a:rPr>
              <a:t>79</a:t>
            </a:r>
            <a:r>
              <a:rPr lang="hi-IN" sz="1200" dirty="0">
                <a:solidFill>
                  <a:srgbClr val="1B2A44"/>
                </a:solidFill>
              </a:rPr>
              <a:t> में से </a:t>
            </a:r>
            <a:r>
              <a:rPr lang="en-US" sz="1200" dirty="0">
                <a:solidFill>
                  <a:srgbClr val="1B2A44"/>
                </a:solidFill>
              </a:rPr>
              <a:t>34 </a:t>
            </a:r>
            <a:r>
              <a:rPr lang="hi-IN" sz="1200" dirty="0">
                <a:solidFill>
                  <a:srgbClr val="1B2A44"/>
                </a:solidFill>
              </a:rPr>
              <a:t>घटाने पर हमें मिलीं </a:t>
            </a:r>
            <a:r>
              <a:rPr lang="en-US" sz="1200" dirty="0">
                <a:solidFill>
                  <a:srgbClr val="1B2A44"/>
                </a:solidFill>
              </a:rPr>
              <a:t>4</a:t>
            </a:r>
            <a:r>
              <a:rPr lang="hi-IN" sz="1200" dirty="0">
                <a:solidFill>
                  <a:srgbClr val="1B2A44"/>
                </a:solidFill>
              </a:rPr>
              <a:t> दहाई और </a:t>
            </a:r>
            <a:r>
              <a:rPr lang="en-US" sz="1200" dirty="0">
                <a:solidFill>
                  <a:srgbClr val="1B2A44"/>
                </a:solidFill>
                <a:cs typeface="Mangal" panose="02040503050203030202" pitchFamily="18" charset="0"/>
              </a:rPr>
              <a:t>5</a:t>
            </a:r>
            <a:r>
              <a:rPr lang="hi-IN" sz="1200" dirty="0">
                <a:solidFill>
                  <a:srgbClr val="1B2A44"/>
                </a:solidFill>
              </a:rPr>
              <a:t> इकाई, यानी </a:t>
            </a:r>
            <a:r>
              <a:rPr lang="en-US" sz="1200" dirty="0">
                <a:solidFill>
                  <a:srgbClr val="1B2A44"/>
                </a:solidFill>
              </a:rPr>
              <a:t>45</a:t>
            </a:r>
            <a:r>
              <a:rPr lang="hi-IN" sz="1200" dirty="0">
                <a:solidFill>
                  <a:srgbClr val="1B2A44"/>
                </a:solidFill>
              </a:rPr>
              <a:t>. </a:t>
            </a:r>
          </a:p>
          <a:p>
            <a:pPr lvl="0">
              <a:defRPr/>
            </a:pPr>
            <a:endParaRPr lang="en-GB" sz="1200" dirty="0">
              <a:solidFill>
                <a:srgbClr val="1B2A44"/>
              </a:solidFill>
            </a:endParaRPr>
          </a:p>
          <a:p>
            <a:pPr lvl="0">
              <a:defRPr/>
            </a:pPr>
            <a:r>
              <a:rPr lang="en-GB" sz="1200" dirty="0">
                <a:solidFill>
                  <a:srgbClr val="1B2A44"/>
                </a:solidFill>
              </a:rPr>
              <a:t>If the child enters any number except 45, the VO: </a:t>
            </a:r>
            <a:r>
              <a:rPr lang="hi-IN" sz="1200" dirty="0">
                <a:solidFill>
                  <a:srgbClr val="1B2A44"/>
                </a:solidFill>
              </a:rPr>
              <a:t>फिर से सोचिए, कितने बचे। </a:t>
            </a:r>
          </a:p>
          <a:p>
            <a:pPr lvl="0">
              <a:defRPr/>
            </a:pPr>
            <a:r>
              <a:rPr lang="en-GB" sz="1200" dirty="0">
                <a:solidFill>
                  <a:srgbClr val="1B2A44"/>
                </a:solidFill>
              </a:rPr>
              <a:t>If the child enters any number except 45, the VO: </a:t>
            </a:r>
            <a:r>
              <a:rPr lang="en-GB" sz="1200" dirty="0">
                <a:solidFill>
                  <a:srgbClr val="1B2A44"/>
                </a:solidFill>
                <a:cs typeface="Mangal" panose="02040503050203030202" pitchFamily="18" charset="0"/>
              </a:rPr>
              <a:t>79 </a:t>
            </a:r>
            <a:r>
              <a:rPr lang="hi-IN" sz="1200" dirty="0">
                <a:solidFill>
                  <a:srgbClr val="1B2A44"/>
                </a:solidFill>
              </a:rPr>
              <a:t>मे से </a:t>
            </a:r>
            <a:r>
              <a:rPr lang="en-US" sz="1200" dirty="0">
                <a:solidFill>
                  <a:srgbClr val="1B2A44"/>
                </a:solidFill>
                <a:cs typeface="Mangal" panose="02040503050203030202" pitchFamily="18" charset="0"/>
              </a:rPr>
              <a:t>34</a:t>
            </a:r>
            <a:r>
              <a:rPr lang="hi-IN" sz="1200" dirty="0">
                <a:solidFill>
                  <a:srgbClr val="1B2A44"/>
                </a:solidFill>
              </a:rPr>
              <a:t> घटाने पर </a:t>
            </a:r>
            <a:r>
              <a:rPr lang="en-US" sz="1200" dirty="0">
                <a:solidFill>
                  <a:srgbClr val="1B2A44"/>
                </a:solidFill>
              </a:rPr>
              <a:t>45</a:t>
            </a:r>
            <a:r>
              <a:rPr lang="hi-IN" sz="1200" dirty="0">
                <a:solidFill>
                  <a:srgbClr val="1B2A44"/>
                </a:solidFill>
              </a:rPr>
              <a:t> बचता है। तो सही संख्या यह है। </a:t>
            </a:r>
          </a:p>
          <a:p>
            <a:pPr lvl="0">
              <a:defRPr/>
            </a:pPr>
            <a:r>
              <a:rPr lang="en-GB" sz="1200" dirty="0">
                <a:solidFill>
                  <a:srgbClr val="1B2A44"/>
                </a:solidFill>
              </a:rPr>
              <a:t>Glow number 4 then tap, then 5 and other </a:t>
            </a:r>
            <a:r>
              <a:rPr lang="en-GB" sz="1200" dirty="0" err="1">
                <a:solidFill>
                  <a:srgbClr val="1B2A44"/>
                </a:solidFill>
              </a:rPr>
              <a:t>nos</a:t>
            </a:r>
            <a:r>
              <a:rPr lang="en-GB" sz="1200" dirty="0">
                <a:solidFill>
                  <a:srgbClr val="1B2A44"/>
                </a:solidFill>
              </a:rPr>
              <a:t> non-clickable.</a:t>
            </a:r>
            <a:endParaRPr lang="en-GB" sz="1200" dirty="0">
              <a:solidFill>
                <a:srgbClr val="1B2A44"/>
              </a:solidFill>
              <a:cs typeface="Mangal" panose="02040503050203030202"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10 · 10_MAKE_SET.png</a:t>
            </a:r>
          </a:p>
        </p:txBody>
      </p:sp>
      <p:pic>
        <p:nvPicPr>
          <p:cNvPr id="3" name="Picture 2" descr="10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3592" cy="1107996"/>
          </a:xfrm>
          <a:prstGeom prst="rect">
            <a:avLst/>
          </a:prstGeom>
          <a:noFill/>
        </p:spPr>
        <p:txBody>
          <a:bodyPr wrap="square">
            <a:spAutoFit/>
          </a:bodyPr>
          <a:lstStyle/>
          <a:p>
            <a:r>
              <a:rPr sz="2400" b="1" dirty="0">
                <a:solidFill>
                  <a:srgbClr val="0B3D8C"/>
                </a:solidFill>
              </a:rPr>
              <a:t>Recommendations</a:t>
            </a:r>
          </a:p>
          <a:p>
            <a:endParaRPr sz="2400" b="1" dirty="0">
              <a:solidFill>
                <a:srgbClr val="0B3D8C"/>
              </a:solidFill>
            </a:endParaRPr>
          </a:p>
          <a:p>
            <a:r>
              <a:rPr lang="en-US" b="0" i="0" dirty="0">
                <a:solidFill>
                  <a:srgbClr val="1B2A44"/>
                </a:solidFill>
              </a:rPr>
              <a:t>Delete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11 · 11_COUNT_DRAG_MATCH.png</a:t>
            </a:r>
          </a:p>
        </p:txBody>
      </p:sp>
      <p:pic>
        <p:nvPicPr>
          <p:cNvPr id="3" name="Picture 2" descr="11_COUNT_DRAG_MATCH.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graphicFrame>
        <p:nvGraphicFramePr>
          <p:cNvPr id="8" name="Table 6"/>
          <p:cNvGraphicFramePr>
            <a:graphicFrameLocks noGrp="1"/>
          </p:cNvGraphicFramePr>
          <p:nvPr>
            <p:extLst>
              <p:ext uri="{D42A27DB-BD31-4B8C-83A1-F6EECF244321}">
                <p14:modId xmlns:p14="http://schemas.microsoft.com/office/powerpoint/2010/main" val="729926756"/>
              </p:ext>
            </p:extLst>
          </p:nvPr>
        </p:nvGraphicFramePr>
        <p:xfrm>
          <a:off x="2187428" y="2307005"/>
          <a:ext cx="4094500" cy="2243989"/>
        </p:xfrm>
        <a:graphic>
          <a:graphicData uri="http://schemas.openxmlformats.org/drawingml/2006/table">
            <a:tbl>
              <a:tblPr firstRow="1" bandRow="1">
                <a:tableStyleId>{5C22544A-7EE6-4342-B048-85BDC9FD1C3A}</a:tableStyleId>
              </a:tblPr>
              <a:tblGrid>
                <a:gridCol w="2047250">
                  <a:extLst>
                    <a:ext uri="{9D8B030D-6E8A-4147-A177-3AD203B41FA5}">
                      <a16:colId xmlns:a16="http://schemas.microsoft.com/office/drawing/2014/main" val="20000"/>
                    </a:ext>
                  </a:extLst>
                </a:gridCol>
                <a:gridCol w="2047250">
                  <a:extLst>
                    <a:ext uri="{9D8B030D-6E8A-4147-A177-3AD203B41FA5}">
                      <a16:colId xmlns:a16="http://schemas.microsoft.com/office/drawing/2014/main" val="20001"/>
                    </a:ext>
                  </a:extLst>
                </a:gridCol>
              </a:tblGrid>
              <a:tr h="461209">
                <a:tc>
                  <a:txBody>
                    <a:bodyPr/>
                    <a:lstStyle/>
                    <a:p>
                      <a:pPr algn="ctr"/>
                      <a:r>
                        <a:rPr lang="en-US" sz="1500" dirty="0"/>
                        <a:t>8 </a:t>
                      </a:r>
                      <a:r>
                        <a:rPr lang="hi-IN" sz="1500" dirty="0"/>
                        <a:t>दहाई </a:t>
                      </a:r>
                      <a:endParaRPr lang="en-IN" sz="1500" dirty="0"/>
                    </a:p>
                  </a:txBody>
                  <a:tcPr marL="116065" marR="116065" marT="58032" marB="58032" anchor="ctr"/>
                </a:tc>
                <a:tc>
                  <a:txBody>
                    <a:bodyPr/>
                    <a:lstStyle/>
                    <a:p>
                      <a:pPr algn="ctr"/>
                      <a:r>
                        <a:rPr lang="en-US" sz="1500" dirty="0"/>
                        <a:t>6 </a:t>
                      </a:r>
                      <a:r>
                        <a:rPr lang="hi-IN" sz="1500" dirty="0"/>
                        <a:t>इकाई </a:t>
                      </a:r>
                      <a:endParaRPr lang="en-IN" sz="1500" dirty="0"/>
                    </a:p>
                  </a:txBody>
                  <a:tcPr marL="116065" marR="116065" marT="58032" marB="58032" anchor="ctr"/>
                </a:tc>
                <a:extLst>
                  <a:ext uri="{0D108BD9-81ED-4DB2-BD59-A6C34878D82A}">
                    <a16:rowId xmlns:a16="http://schemas.microsoft.com/office/drawing/2014/main" val="10000"/>
                  </a:ext>
                </a:extLst>
              </a:tr>
              <a:tr h="1782780">
                <a:tc>
                  <a:txBody>
                    <a:bodyPr/>
                    <a:lstStyle/>
                    <a:p>
                      <a:endParaRPr lang="en-IN" sz="2300" dirty="0"/>
                    </a:p>
                  </a:txBody>
                  <a:tcPr marL="116065" marR="116065" marT="58032" marB="58032">
                    <a:solidFill>
                      <a:schemeClr val="accent5">
                        <a:lumMod val="20000"/>
                        <a:lumOff val="80000"/>
                      </a:schemeClr>
                    </a:solidFill>
                  </a:tcPr>
                </a:tc>
                <a:tc>
                  <a:txBody>
                    <a:bodyPr/>
                    <a:lstStyle/>
                    <a:p>
                      <a:endParaRPr lang="en-IN" sz="2300" dirty="0"/>
                    </a:p>
                  </a:txBody>
                  <a:tcPr marL="116065" marR="116065" marT="58032" marB="58032">
                    <a:solidFill>
                      <a:schemeClr val="accent5">
                        <a:lumMod val="20000"/>
                        <a:lumOff val="80000"/>
                      </a:schemeClr>
                    </a:solidFill>
                  </a:tcPr>
                </a:tc>
                <a:extLst>
                  <a:ext uri="{0D108BD9-81ED-4DB2-BD59-A6C34878D82A}">
                    <a16:rowId xmlns:a16="http://schemas.microsoft.com/office/drawing/2014/main" val="10001"/>
                  </a:ext>
                </a:extLst>
              </a:tr>
            </a:tbl>
          </a:graphicData>
        </a:graphic>
      </p:graphicFrame>
      <p:sp>
        <p:nvSpPr>
          <p:cNvPr id="9" name="Rectangle: Rounded Corners 10"/>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86  −  56  =  ?</a:t>
            </a:r>
            <a:endParaRPr lang="en-IN" sz="3200" b="1" dirty="0"/>
          </a:p>
        </p:txBody>
      </p:sp>
      <p:sp>
        <p:nvSpPr>
          <p:cNvPr id="10" name="Rectangle: Rounded Corners 24"/>
          <p:cNvSpPr/>
          <p:nvPr/>
        </p:nvSpPr>
        <p:spPr>
          <a:xfrm>
            <a:off x="1828800"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30</a:t>
            </a:r>
            <a:endParaRPr lang="en-IN" sz="4000" b="1" dirty="0"/>
          </a:p>
        </p:txBody>
      </p:sp>
      <p:sp>
        <p:nvSpPr>
          <p:cNvPr id="11" name="Rectangle: Rounded Corners 24"/>
          <p:cNvSpPr/>
          <p:nvPr/>
        </p:nvSpPr>
        <p:spPr>
          <a:xfrm>
            <a:off x="3712463"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40</a:t>
            </a:r>
            <a:endParaRPr lang="en-IN" sz="4000" b="1" dirty="0"/>
          </a:p>
        </p:txBody>
      </p:sp>
      <p:sp>
        <p:nvSpPr>
          <p:cNvPr id="12" name="Rectangle: Rounded Corners 24"/>
          <p:cNvSpPr/>
          <p:nvPr/>
        </p:nvSpPr>
        <p:spPr>
          <a:xfrm>
            <a:off x="5586984" y="507492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13</a:t>
            </a:r>
            <a:endParaRPr lang="en-IN" sz="4000" b="1" dirty="0"/>
          </a:p>
        </p:txBody>
      </p:sp>
      <p:sp>
        <p:nvSpPr>
          <p:cNvPr id="13" name="TextBox 12"/>
          <p:cNvSpPr txBox="1"/>
          <p:nvPr/>
        </p:nvSpPr>
        <p:spPr>
          <a:xfrm>
            <a:off x="8141221" y="0"/>
            <a:ext cx="3593592" cy="5478423"/>
          </a:xfrm>
          <a:prstGeom prst="rect">
            <a:avLst/>
          </a:prstGeom>
          <a:noFill/>
        </p:spPr>
        <p:txBody>
          <a:bodyPr wrap="square">
            <a:spAutoFit/>
          </a:bodyPr>
          <a:lstStyle/>
          <a:p>
            <a:r>
              <a:rPr sz="1700" b="1" dirty="0">
                <a:solidFill>
                  <a:srgbClr val="0B3D8C"/>
                </a:solidFill>
              </a:rPr>
              <a:t>Recommendations</a:t>
            </a:r>
          </a:p>
          <a:p>
            <a:r>
              <a:rPr lang="en-US" sz="1300" b="1" i="0" dirty="0">
                <a:solidFill>
                  <a:srgbClr val="1B2A44"/>
                </a:solidFill>
              </a:rPr>
              <a:t>Instruction: </a:t>
            </a:r>
            <a:r>
              <a:rPr lang="hi-IN" sz="1400" dirty="0">
                <a:solidFill>
                  <a:srgbClr val="1B2A44"/>
                </a:solidFill>
              </a:rPr>
              <a:t>संख्याएँ</a:t>
            </a:r>
            <a:r>
              <a:rPr lang="hi-IN" sz="1300" b="0" i="0" dirty="0">
                <a:solidFill>
                  <a:srgbClr val="1B2A44"/>
                </a:solidFill>
              </a:rPr>
              <a:t> घटाइए।</a:t>
            </a:r>
          </a:p>
          <a:p>
            <a:endParaRPr lang="hi-IN" sz="1300" b="0" i="0" dirty="0">
              <a:solidFill>
                <a:srgbClr val="1B2A44"/>
              </a:solidFill>
            </a:endParaRPr>
          </a:p>
          <a:p>
            <a:r>
              <a:rPr lang="en-US" sz="1300" b="1" i="0" dirty="0">
                <a:solidFill>
                  <a:srgbClr val="1B2A44"/>
                </a:solidFill>
              </a:rPr>
              <a:t>Equation: </a:t>
            </a:r>
            <a:r>
              <a:rPr lang="en-US" sz="1300" b="0" i="0" dirty="0">
                <a:solidFill>
                  <a:srgbClr val="1B2A44"/>
                </a:solidFill>
              </a:rPr>
              <a:t>86 − 56 = ?</a:t>
            </a:r>
          </a:p>
          <a:p>
            <a:r>
              <a:rPr lang="en-US" sz="1300" b="0" i="0" dirty="0">
                <a:solidFill>
                  <a:srgbClr val="1B2A44"/>
                </a:solidFill>
              </a:rPr>
              <a:t>Show 8 tens and 6 ones The child removes 52 without step-by-step VO, then picks the answer. The hint ladder would be (try again → hint → reveal).</a:t>
            </a:r>
          </a:p>
          <a:p>
            <a:endParaRPr lang="en-US" sz="1300" b="0" i="0" dirty="0">
              <a:solidFill>
                <a:srgbClr val="1B2A44"/>
              </a:solidFill>
            </a:endParaRPr>
          </a:p>
          <a:p>
            <a:r>
              <a:rPr lang="hi-IN" sz="1200" b="0" i="0" dirty="0">
                <a:solidFill>
                  <a:srgbClr val="1B2A44"/>
                </a:solidFill>
              </a:rPr>
              <a:t>86 में से 5</a:t>
            </a:r>
            <a:r>
              <a:rPr lang="en-US" sz="1200" b="0" i="0" dirty="0">
                <a:solidFill>
                  <a:srgbClr val="1B2A44"/>
                </a:solidFill>
              </a:rPr>
              <a:t>6</a:t>
            </a:r>
            <a:r>
              <a:rPr lang="hi-IN" sz="1200" b="0" i="0" dirty="0">
                <a:solidFill>
                  <a:srgbClr val="1B2A44"/>
                </a:solidFill>
              </a:rPr>
              <a:t> घटाइए</a:t>
            </a:r>
            <a:r>
              <a:rPr lang="en-US" sz="1200" b="0" i="0" dirty="0">
                <a:solidFill>
                  <a:srgbClr val="1B2A44"/>
                </a:solidFill>
              </a:rPr>
              <a:t> </a:t>
            </a:r>
            <a:r>
              <a:rPr lang="hi-IN" sz="1200" b="0" i="0" dirty="0">
                <a:solidFill>
                  <a:srgbClr val="1B2A44"/>
                </a:solidFill>
              </a:rPr>
              <a:t> और सही संख्या चुनिए।</a:t>
            </a:r>
          </a:p>
          <a:p>
            <a:pPr lvl="0">
              <a:defRPr/>
            </a:pPr>
            <a:endParaRPr lang="en-GB" sz="1200" dirty="0">
              <a:solidFill>
                <a:srgbClr val="1B2A44"/>
              </a:solidFill>
              <a:cs typeface="Mangal" panose="02040503050203030202" pitchFamily="18" charset="0"/>
            </a:endParaRPr>
          </a:p>
          <a:p>
            <a:pPr lvl="0">
              <a:defRPr/>
            </a:pPr>
            <a:r>
              <a:rPr lang="hi-IN" sz="1200" dirty="0">
                <a:solidFill>
                  <a:srgbClr val="1B2A44"/>
                </a:solidFill>
              </a:rPr>
              <a:t>दिए हुए ब्लॉकस पर टैप करके 56 ब्लॉकस हटाइए। पहले इकाई मे से हटाइए, फिर दहाई मे से।  </a:t>
            </a:r>
          </a:p>
          <a:p>
            <a:pPr lvl="0">
              <a:defRPr/>
            </a:pPr>
            <a:r>
              <a:rPr lang="en-US" sz="1200" dirty="0">
                <a:solidFill>
                  <a:srgbClr val="1B2A44"/>
                </a:solidFill>
              </a:rPr>
              <a:t>When the child removes 6 ones and then 5 tens rods, the table and the text header will reflect the correct remaining numbers. And then the options will appear.</a:t>
            </a:r>
            <a:endParaRPr lang="hi-IN" sz="1200" dirty="0">
              <a:solidFill>
                <a:srgbClr val="1B2A44"/>
              </a:solidFill>
            </a:endParaRPr>
          </a:p>
          <a:p>
            <a:pPr lvl="0">
              <a:defRPr/>
            </a:pPr>
            <a:r>
              <a:rPr lang="en-US" sz="1200" dirty="0">
                <a:solidFill>
                  <a:srgbClr val="1B2A44"/>
                </a:solidFill>
              </a:rPr>
              <a:t>VO: </a:t>
            </a:r>
            <a:r>
              <a:rPr lang="hi-IN" sz="1200" dirty="0">
                <a:solidFill>
                  <a:srgbClr val="1B2A44"/>
                </a:solidFill>
              </a:rPr>
              <a:t>अब कितने बचे? सही संख्या चुनिए।</a:t>
            </a:r>
          </a:p>
          <a:p>
            <a:pPr lvl="0">
              <a:defRPr/>
            </a:pPr>
            <a:endParaRPr lang="hi-IN" sz="1200" dirty="0">
              <a:solidFill>
                <a:srgbClr val="1B2A44"/>
              </a:solidFill>
            </a:endParaRPr>
          </a:p>
          <a:p>
            <a:pPr lvl="0">
              <a:defRPr/>
            </a:pPr>
            <a:r>
              <a:rPr lang="en-GB" sz="1200" dirty="0">
                <a:solidFill>
                  <a:srgbClr val="1B2A44"/>
                </a:solidFill>
              </a:rPr>
              <a:t>Hint: If the child choose </a:t>
            </a:r>
            <a:r>
              <a:rPr lang="en-US" sz="1200" dirty="0">
                <a:solidFill>
                  <a:srgbClr val="1B2A44"/>
                </a:solidFill>
              </a:rPr>
              <a:t>30</a:t>
            </a:r>
            <a:r>
              <a:rPr lang="en-GB" sz="1200" dirty="0">
                <a:solidFill>
                  <a:srgbClr val="1B2A44"/>
                </a:solidFill>
              </a:rPr>
              <a:t>, the VO</a:t>
            </a:r>
          </a:p>
          <a:p>
            <a:pPr lvl="0">
              <a:defRPr/>
            </a:pPr>
            <a:r>
              <a:rPr lang="hi-IN" sz="1200" dirty="0">
                <a:solidFill>
                  <a:srgbClr val="1B2A44"/>
                </a:solidFill>
              </a:rPr>
              <a:t>शाबाश! </a:t>
            </a:r>
            <a:r>
              <a:rPr lang="hi-IN" sz="1200" dirty="0">
                <a:solidFill>
                  <a:srgbClr val="1B2A44"/>
                </a:solidFill>
                <a:cs typeface="Mangal" panose="02040503050203030202" pitchFamily="18" charset="0"/>
              </a:rPr>
              <a:t>आपने सही संख्या चुन ली। 86 </a:t>
            </a:r>
            <a:r>
              <a:rPr lang="hi-IN" sz="1200" dirty="0">
                <a:solidFill>
                  <a:srgbClr val="1B2A44"/>
                </a:solidFill>
              </a:rPr>
              <a:t>घटा 56  बराबर 30।  [</a:t>
            </a:r>
            <a:r>
              <a:rPr lang="en-GB" sz="1200" dirty="0">
                <a:solidFill>
                  <a:srgbClr val="1B2A44"/>
                </a:solidFill>
              </a:rPr>
              <a:t>Number Sync with VO]</a:t>
            </a:r>
            <a:endParaRPr lang="en-GB" sz="1200" dirty="0">
              <a:solidFill>
                <a:srgbClr val="1B2A44"/>
              </a:solidFill>
              <a:cs typeface="Mangal" panose="02040503050203030202" pitchFamily="18" charset="0"/>
            </a:endParaRPr>
          </a:p>
          <a:p>
            <a:pPr lvl="0">
              <a:defRPr/>
            </a:pPr>
            <a:endParaRPr lang="en-GB" sz="1200" dirty="0">
              <a:solidFill>
                <a:srgbClr val="1B2A44"/>
              </a:solidFill>
            </a:endParaRPr>
          </a:p>
          <a:p>
            <a:pPr lvl="0">
              <a:defRPr/>
            </a:pPr>
            <a:r>
              <a:rPr lang="en-GB" sz="1200" dirty="0">
                <a:solidFill>
                  <a:srgbClr val="1B2A44"/>
                </a:solidFill>
              </a:rPr>
              <a:t>If the child choose </a:t>
            </a:r>
            <a:r>
              <a:rPr lang="hi-IN" sz="1200" dirty="0">
                <a:solidFill>
                  <a:srgbClr val="1B2A44"/>
                </a:solidFill>
              </a:rPr>
              <a:t>40 or 13</a:t>
            </a:r>
            <a:r>
              <a:rPr lang="en-GB" sz="1200" dirty="0">
                <a:solidFill>
                  <a:srgbClr val="1B2A44"/>
                </a:solidFill>
              </a:rPr>
              <a:t>, the VO: </a:t>
            </a:r>
            <a:r>
              <a:rPr lang="hi-IN" sz="1200" dirty="0">
                <a:solidFill>
                  <a:srgbClr val="1B2A44"/>
                </a:solidFill>
              </a:rPr>
              <a:t>फिर से सोचिए, कितने बचे। </a:t>
            </a:r>
          </a:p>
          <a:p>
            <a:pPr lvl="0">
              <a:defRPr/>
            </a:pPr>
            <a:r>
              <a:rPr lang="en-GB" sz="1200" dirty="0">
                <a:solidFill>
                  <a:srgbClr val="1B2A44"/>
                </a:solidFill>
              </a:rPr>
              <a:t>If the child choose </a:t>
            </a:r>
            <a:r>
              <a:rPr lang="hi-IN" sz="1200" dirty="0">
                <a:solidFill>
                  <a:srgbClr val="1B2A44"/>
                </a:solidFill>
              </a:rPr>
              <a:t>40 or 13</a:t>
            </a:r>
            <a:r>
              <a:rPr lang="en-GB" sz="1200" dirty="0">
                <a:solidFill>
                  <a:srgbClr val="1B2A44"/>
                </a:solidFill>
              </a:rPr>
              <a:t>, the VO: </a:t>
            </a:r>
            <a:r>
              <a:rPr lang="hi-IN" sz="1200" dirty="0">
                <a:solidFill>
                  <a:srgbClr val="1B2A44"/>
                </a:solidFill>
                <a:cs typeface="Mangal" panose="02040503050203030202" pitchFamily="18" charset="0"/>
              </a:rPr>
              <a:t>86 </a:t>
            </a:r>
            <a:r>
              <a:rPr lang="en-GB" sz="1200" dirty="0">
                <a:solidFill>
                  <a:srgbClr val="1B2A44"/>
                </a:solidFill>
                <a:cs typeface="Mangal" panose="02040503050203030202" pitchFamily="18" charset="0"/>
              </a:rPr>
              <a:t> </a:t>
            </a:r>
            <a:r>
              <a:rPr lang="hi-IN" sz="1200" dirty="0">
                <a:solidFill>
                  <a:srgbClr val="1B2A44"/>
                </a:solidFill>
              </a:rPr>
              <a:t>मे से </a:t>
            </a:r>
            <a:r>
              <a:rPr lang="hi-IN" sz="1200" dirty="0">
                <a:solidFill>
                  <a:srgbClr val="1B2A44"/>
                </a:solidFill>
                <a:cs typeface="Mangal" panose="02040503050203030202" pitchFamily="18" charset="0"/>
              </a:rPr>
              <a:t>56 </a:t>
            </a:r>
            <a:r>
              <a:rPr lang="hi-IN" sz="1200" dirty="0">
                <a:solidFill>
                  <a:srgbClr val="1B2A44"/>
                </a:solidFill>
              </a:rPr>
              <a:t>घटाने पर 30 बचता है। तो सही संख्या यह है। </a:t>
            </a:r>
          </a:p>
          <a:p>
            <a:pPr lvl="0">
              <a:defRPr/>
            </a:pPr>
            <a:r>
              <a:rPr lang="en-GB" sz="1200" dirty="0">
                <a:solidFill>
                  <a:srgbClr val="1B2A44"/>
                </a:solidFill>
              </a:rPr>
              <a:t>Glow number 28 and other two non-clickable.</a:t>
            </a:r>
            <a:endParaRPr lang="en-US" sz="1200" b="0" i="0" dirty="0">
              <a:solidFill>
                <a:srgbClr val="1B2A44"/>
              </a:solidFill>
            </a:endParaRPr>
          </a:p>
        </p:txBody>
      </p:sp>
      <p:pic>
        <p:nvPicPr>
          <p:cNvPr id="4" name="Picture 9" descr="A green rectangular object with black background&#10;&#10;AI-generated content may be incorrect.">
            <a:extLst>
              <a:ext uri="{FF2B5EF4-FFF2-40B4-BE49-F238E27FC236}">
                <a16:creationId xmlns:a16="http://schemas.microsoft.com/office/drawing/2014/main" id="{FFE01C02-B2DE-A0F2-5FD8-3A8712A49E3E}"/>
              </a:ext>
            </a:extLst>
          </p:cNvPr>
          <p:cNvPicPr>
            <a:picLocks noChangeAspect="1"/>
          </p:cNvPicPr>
          <p:nvPr/>
        </p:nvPicPr>
        <p:blipFill>
          <a:blip r:embed="rId3"/>
          <a:srcRect l="32916" r="35816"/>
          <a:stretch>
            <a:fillRect/>
          </a:stretch>
        </p:blipFill>
        <p:spPr>
          <a:xfrm>
            <a:off x="3537698" y="3081528"/>
            <a:ext cx="246888" cy="1179576"/>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918C1D62-D376-D1A0-6A10-F140CB419260}"/>
              </a:ext>
            </a:extLst>
          </p:cNvPr>
          <p:cNvPicPr>
            <a:picLocks noChangeAspect="1"/>
          </p:cNvPicPr>
          <p:nvPr/>
        </p:nvPicPr>
        <p:blipFill>
          <a:blip r:embed="rId4"/>
          <a:stretch>
            <a:fillRect/>
          </a:stretch>
        </p:blipFill>
        <p:spPr>
          <a:xfrm>
            <a:off x="4573510" y="3429000"/>
            <a:ext cx="256032" cy="219456"/>
          </a:xfrm>
          <a:prstGeom prst="rect">
            <a:avLst/>
          </a:prstGeom>
        </p:spPr>
      </p:pic>
      <p:pic>
        <p:nvPicPr>
          <p:cNvPr id="15" name="Picture 9" descr="A green rectangular object with black background&#10;&#10;AI-generated content may be incorrect.">
            <a:extLst>
              <a:ext uri="{FF2B5EF4-FFF2-40B4-BE49-F238E27FC236}">
                <a16:creationId xmlns:a16="http://schemas.microsoft.com/office/drawing/2014/main" id="{5C817257-7B29-7FDB-598B-6C1AF62ACF23}"/>
              </a:ext>
            </a:extLst>
          </p:cNvPr>
          <p:cNvPicPr>
            <a:picLocks noChangeAspect="1"/>
          </p:cNvPicPr>
          <p:nvPr/>
        </p:nvPicPr>
        <p:blipFill>
          <a:blip r:embed="rId3"/>
          <a:srcRect l="32916" r="35816"/>
          <a:stretch>
            <a:fillRect/>
          </a:stretch>
        </p:blipFill>
        <p:spPr>
          <a:xfrm>
            <a:off x="3107930" y="3081528"/>
            <a:ext cx="246888" cy="1179576"/>
          </a:xfrm>
          <a:prstGeom prst="rect">
            <a:avLst/>
          </a:prstGeom>
        </p:spPr>
      </p:pic>
      <p:pic>
        <p:nvPicPr>
          <p:cNvPr id="16" name="Picture 9" descr="A green rectangular object with black background&#10;&#10;AI-generated content may be incorrect.">
            <a:extLst>
              <a:ext uri="{FF2B5EF4-FFF2-40B4-BE49-F238E27FC236}">
                <a16:creationId xmlns:a16="http://schemas.microsoft.com/office/drawing/2014/main" id="{3D40E118-52BC-454B-8733-5DC4ED2EAA36}"/>
              </a:ext>
            </a:extLst>
          </p:cNvPr>
          <p:cNvPicPr>
            <a:picLocks noChangeAspect="1"/>
          </p:cNvPicPr>
          <p:nvPr/>
        </p:nvPicPr>
        <p:blipFill>
          <a:blip r:embed="rId3"/>
          <a:srcRect l="32916" r="35816"/>
          <a:stretch>
            <a:fillRect/>
          </a:stretch>
        </p:blipFill>
        <p:spPr>
          <a:xfrm>
            <a:off x="3322307" y="3081528"/>
            <a:ext cx="246888" cy="1179576"/>
          </a:xfrm>
          <a:prstGeom prst="rect">
            <a:avLst/>
          </a:prstGeom>
        </p:spPr>
      </p:pic>
      <p:pic>
        <p:nvPicPr>
          <p:cNvPr id="17" name="Picture 9" descr="A green rectangular object with black background&#10;&#10;AI-generated content may be incorrect.">
            <a:extLst>
              <a:ext uri="{FF2B5EF4-FFF2-40B4-BE49-F238E27FC236}">
                <a16:creationId xmlns:a16="http://schemas.microsoft.com/office/drawing/2014/main" id="{B7391EE3-4CC6-7FD7-E2DD-15E4220615A7}"/>
              </a:ext>
            </a:extLst>
          </p:cNvPr>
          <p:cNvPicPr>
            <a:picLocks noChangeAspect="1"/>
          </p:cNvPicPr>
          <p:nvPr/>
        </p:nvPicPr>
        <p:blipFill>
          <a:blip r:embed="rId3"/>
          <a:srcRect l="32916" r="35816"/>
          <a:stretch>
            <a:fillRect/>
          </a:stretch>
        </p:blipFill>
        <p:spPr>
          <a:xfrm>
            <a:off x="2893046" y="3081528"/>
            <a:ext cx="246888" cy="1179576"/>
          </a:xfrm>
          <a:prstGeom prst="rect">
            <a:avLst/>
          </a:prstGeom>
        </p:spPr>
      </p:pic>
      <p:pic>
        <p:nvPicPr>
          <p:cNvPr id="18" name="Picture 9" descr="A green rectangular object with black background&#10;&#10;AI-generated content may be incorrect.">
            <a:extLst>
              <a:ext uri="{FF2B5EF4-FFF2-40B4-BE49-F238E27FC236}">
                <a16:creationId xmlns:a16="http://schemas.microsoft.com/office/drawing/2014/main" id="{1EE6F94D-F3BB-57CC-33F3-C200748846CF}"/>
              </a:ext>
            </a:extLst>
          </p:cNvPr>
          <p:cNvPicPr>
            <a:picLocks noChangeAspect="1"/>
          </p:cNvPicPr>
          <p:nvPr/>
        </p:nvPicPr>
        <p:blipFill>
          <a:blip r:embed="rId3"/>
          <a:srcRect l="32916" r="35816"/>
          <a:stretch>
            <a:fillRect/>
          </a:stretch>
        </p:blipFill>
        <p:spPr>
          <a:xfrm>
            <a:off x="2679192" y="3085526"/>
            <a:ext cx="246888" cy="1179576"/>
          </a:xfrm>
          <a:prstGeom prst="rect">
            <a:avLst/>
          </a:prstGeom>
        </p:spPr>
      </p:pic>
      <p:pic>
        <p:nvPicPr>
          <p:cNvPr id="19" name="Picture 9" descr="A green rectangular object with black background&#10;&#10;AI-generated content may be incorrect.">
            <a:extLst>
              <a:ext uri="{FF2B5EF4-FFF2-40B4-BE49-F238E27FC236}">
                <a16:creationId xmlns:a16="http://schemas.microsoft.com/office/drawing/2014/main" id="{B16C9EE1-1536-9BEB-1B32-DDB064FF8E43}"/>
              </a:ext>
            </a:extLst>
          </p:cNvPr>
          <p:cNvPicPr>
            <a:picLocks noChangeAspect="1"/>
          </p:cNvPicPr>
          <p:nvPr/>
        </p:nvPicPr>
        <p:blipFill>
          <a:blip r:embed="rId3"/>
          <a:srcRect l="32916" r="35816"/>
          <a:stretch>
            <a:fillRect/>
          </a:stretch>
        </p:blipFill>
        <p:spPr>
          <a:xfrm>
            <a:off x="2467850" y="3094736"/>
            <a:ext cx="246888" cy="1179576"/>
          </a:xfrm>
          <a:prstGeom prst="rect">
            <a:avLst/>
          </a:prstGeom>
        </p:spPr>
      </p:pic>
      <p:pic>
        <p:nvPicPr>
          <p:cNvPr id="20" name="Picture 9" descr="A green rectangular object with black background&#10;&#10;AI-generated content may be incorrect.">
            <a:extLst>
              <a:ext uri="{FF2B5EF4-FFF2-40B4-BE49-F238E27FC236}">
                <a16:creationId xmlns:a16="http://schemas.microsoft.com/office/drawing/2014/main" id="{051F03BA-B986-F2EE-BC95-AC0770DBCE5D}"/>
              </a:ext>
            </a:extLst>
          </p:cNvPr>
          <p:cNvPicPr>
            <a:picLocks noChangeAspect="1"/>
          </p:cNvPicPr>
          <p:nvPr/>
        </p:nvPicPr>
        <p:blipFill>
          <a:blip r:embed="rId3"/>
          <a:srcRect l="32916" r="35816"/>
          <a:stretch>
            <a:fillRect/>
          </a:stretch>
        </p:blipFill>
        <p:spPr>
          <a:xfrm>
            <a:off x="3752062" y="3088574"/>
            <a:ext cx="246888" cy="1179576"/>
          </a:xfrm>
          <a:prstGeom prst="rect">
            <a:avLst/>
          </a:prstGeom>
        </p:spPr>
      </p:pic>
      <p:pic>
        <p:nvPicPr>
          <p:cNvPr id="21" name="Picture 9" descr="A green rectangular object with black background&#10;&#10;AI-generated content may be incorrect.">
            <a:extLst>
              <a:ext uri="{FF2B5EF4-FFF2-40B4-BE49-F238E27FC236}">
                <a16:creationId xmlns:a16="http://schemas.microsoft.com/office/drawing/2014/main" id="{53F58C28-5FB5-9121-C7AF-13277F9F6DE7}"/>
              </a:ext>
            </a:extLst>
          </p:cNvPr>
          <p:cNvPicPr>
            <a:picLocks noChangeAspect="1"/>
          </p:cNvPicPr>
          <p:nvPr/>
        </p:nvPicPr>
        <p:blipFill>
          <a:blip r:embed="rId3"/>
          <a:srcRect l="32916" r="35816"/>
          <a:stretch>
            <a:fillRect/>
          </a:stretch>
        </p:blipFill>
        <p:spPr>
          <a:xfrm>
            <a:off x="2252446" y="3096702"/>
            <a:ext cx="246888" cy="1179576"/>
          </a:xfrm>
          <a:prstGeom prst="rect">
            <a:avLst/>
          </a:prstGeom>
        </p:spPr>
      </p:pic>
      <p:pic>
        <p:nvPicPr>
          <p:cNvPr id="24" name="Picture 16" descr="A yellow cube with black background&#10;&#10;AI-generated content may be incorrect.">
            <a:extLst>
              <a:ext uri="{FF2B5EF4-FFF2-40B4-BE49-F238E27FC236}">
                <a16:creationId xmlns:a16="http://schemas.microsoft.com/office/drawing/2014/main" id="{F297C331-93CF-590B-E4D3-4939864698AB}"/>
              </a:ext>
            </a:extLst>
          </p:cNvPr>
          <p:cNvPicPr>
            <a:picLocks noChangeAspect="1"/>
          </p:cNvPicPr>
          <p:nvPr/>
        </p:nvPicPr>
        <p:blipFill>
          <a:blip r:embed="rId4"/>
          <a:stretch>
            <a:fillRect/>
          </a:stretch>
        </p:blipFill>
        <p:spPr>
          <a:xfrm>
            <a:off x="4842229" y="3445652"/>
            <a:ext cx="256032" cy="219456"/>
          </a:xfrm>
          <a:prstGeom prst="rect">
            <a:avLst/>
          </a:prstGeom>
        </p:spPr>
      </p:pic>
      <p:pic>
        <p:nvPicPr>
          <p:cNvPr id="25" name="Picture 16" descr="A yellow cube with black background&#10;&#10;AI-generated content may be incorrect.">
            <a:extLst>
              <a:ext uri="{FF2B5EF4-FFF2-40B4-BE49-F238E27FC236}">
                <a16:creationId xmlns:a16="http://schemas.microsoft.com/office/drawing/2014/main" id="{8024924E-54CA-58BF-C596-B2074A7C7D81}"/>
              </a:ext>
            </a:extLst>
          </p:cNvPr>
          <p:cNvPicPr>
            <a:picLocks noChangeAspect="1"/>
          </p:cNvPicPr>
          <p:nvPr/>
        </p:nvPicPr>
        <p:blipFill>
          <a:blip r:embed="rId4"/>
          <a:stretch>
            <a:fillRect/>
          </a:stretch>
        </p:blipFill>
        <p:spPr>
          <a:xfrm>
            <a:off x="5313633" y="3437919"/>
            <a:ext cx="256032" cy="219456"/>
          </a:xfrm>
          <a:prstGeom prst="rect">
            <a:avLst/>
          </a:prstGeom>
        </p:spPr>
      </p:pic>
      <p:pic>
        <p:nvPicPr>
          <p:cNvPr id="26" name="Picture 16" descr="A yellow cube with black background&#10;&#10;AI-generated content may be incorrect.">
            <a:extLst>
              <a:ext uri="{FF2B5EF4-FFF2-40B4-BE49-F238E27FC236}">
                <a16:creationId xmlns:a16="http://schemas.microsoft.com/office/drawing/2014/main" id="{31E0443E-6CB1-F653-D7F3-D5E547C3BD62}"/>
              </a:ext>
            </a:extLst>
          </p:cNvPr>
          <p:cNvPicPr>
            <a:picLocks noChangeAspect="1"/>
          </p:cNvPicPr>
          <p:nvPr/>
        </p:nvPicPr>
        <p:blipFill>
          <a:blip r:embed="rId4"/>
          <a:stretch>
            <a:fillRect/>
          </a:stretch>
        </p:blipFill>
        <p:spPr>
          <a:xfrm>
            <a:off x="5105367" y="3453780"/>
            <a:ext cx="256032" cy="219456"/>
          </a:xfrm>
          <a:prstGeom prst="rect">
            <a:avLst/>
          </a:prstGeom>
        </p:spPr>
      </p:pic>
      <p:pic>
        <p:nvPicPr>
          <p:cNvPr id="27" name="Picture 16" descr="A yellow cube with black background&#10;&#10;AI-generated content may be incorrect.">
            <a:extLst>
              <a:ext uri="{FF2B5EF4-FFF2-40B4-BE49-F238E27FC236}">
                <a16:creationId xmlns:a16="http://schemas.microsoft.com/office/drawing/2014/main" id="{54A47006-BE01-B9B9-F468-B15B4399F36B}"/>
              </a:ext>
            </a:extLst>
          </p:cNvPr>
          <p:cNvPicPr>
            <a:picLocks noChangeAspect="1"/>
          </p:cNvPicPr>
          <p:nvPr/>
        </p:nvPicPr>
        <p:blipFill>
          <a:blip r:embed="rId4"/>
          <a:stretch>
            <a:fillRect/>
          </a:stretch>
        </p:blipFill>
        <p:spPr>
          <a:xfrm>
            <a:off x="5569665" y="3435887"/>
            <a:ext cx="256032" cy="219456"/>
          </a:xfrm>
          <a:prstGeom prst="rect">
            <a:avLst/>
          </a:prstGeom>
        </p:spPr>
      </p:pic>
      <p:pic>
        <p:nvPicPr>
          <p:cNvPr id="28" name="Picture 16" descr="A yellow cube with black background&#10;&#10;AI-generated content may be incorrect.">
            <a:extLst>
              <a:ext uri="{FF2B5EF4-FFF2-40B4-BE49-F238E27FC236}">
                <a16:creationId xmlns:a16="http://schemas.microsoft.com/office/drawing/2014/main" id="{5D182299-3C11-73C1-A83C-C68250BA25AB}"/>
              </a:ext>
            </a:extLst>
          </p:cNvPr>
          <p:cNvPicPr>
            <a:picLocks noChangeAspect="1"/>
          </p:cNvPicPr>
          <p:nvPr/>
        </p:nvPicPr>
        <p:blipFill>
          <a:blip r:embed="rId4"/>
          <a:stretch>
            <a:fillRect/>
          </a:stretch>
        </p:blipFill>
        <p:spPr>
          <a:xfrm>
            <a:off x="5810504" y="3432048"/>
            <a:ext cx="256032" cy="2194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12 · 12_MAKE_SET.png</a:t>
            </a:r>
          </a:p>
        </p:txBody>
      </p:sp>
      <p:pic>
        <p:nvPicPr>
          <p:cNvPr id="3" name="Picture 2" descr="12_MAKE_SET.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3592" cy="815608"/>
          </a:xfrm>
          <a:prstGeom prst="rect">
            <a:avLst/>
          </a:prstGeom>
          <a:noFill/>
        </p:spPr>
        <p:txBody>
          <a:bodyPr wrap="square">
            <a:spAutoFit/>
          </a:bodyPr>
          <a:lstStyle/>
          <a:p>
            <a:r>
              <a:rPr sz="1700" b="1" dirty="0">
                <a:solidFill>
                  <a:srgbClr val="0B3D8C"/>
                </a:solidFill>
              </a:rPr>
              <a:t>Recommendations</a:t>
            </a:r>
          </a:p>
          <a:p>
            <a:endParaRPr sz="1700" b="1" dirty="0">
              <a:solidFill>
                <a:srgbClr val="0B3D8C"/>
              </a:solidFill>
            </a:endParaRPr>
          </a:p>
          <a:p>
            <a:r>
              <a:rPr lang="en-US" sz="1300" b="0" i="0" dirty="0">
                <a:solidFill>
                  <a:srgbClr val="1B2A44"/>
                </a:solidFill>
              </a:rPr>
              <a:t>Delete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13 · 13_COUNT_ACTION.png</a:t>
            </a:r>
          </a:p>
        </p:txBody>
      </p:sp>
      <p:pic>
        <p:nvPicPr>
          <p:cNvPr id="3" name="Picture 2" descr="13_COUNT_ACTION.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90974" y="1607820"/>
            <a:ext cx="7220466" cy="284988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dirty="0">
                <a:solidFill>
                  <a:srgbClr val="1B2A44"/>
                </a:solidFill>
              </a:rPr>
              <a:t>संख्याएँ</a:t>
            </a:r>
            <a:r>
              <a:rPr lang="hi-IN" sz="1800" dirty="0">
                <a:solidFill>
                  <a:srgbClr val="1B2A44"/>
                </a:solidFill>
              </a:rPr>
              <a:t> घटाइए।</a:t>
            </a:r>
          </a:p>
        </p:txBody>
      </p:sp>
      <p:sp>
        <p:nvSpPr>
          <p:cNvPr id="7" name="Rectangle: Rounded Corners 10"/>
          <p:cNvSpPr/>
          <p:nvPr/>
        </p:nvSpPr>
        <p:spPr>
          <a:xfrm>
            <a:off x="2926080" y="176534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45  −  12  =  ?</a:t>
            </a:r>
            <a:endParaRPr lang="en-IN" sz="3200" b="1" dirty="0"/>
          </a:p>
        </p:txBody>
      </p:sp>
      <p:sp>
        <p:nvSpPr>
          <p:cNvPr id="8" name="Rectangle: Rounded Corners 24"/>
          <p:cNvSpPr/>
          <p:nvPr/>
        </p:nvSpPr>
        <p:spPr>
          <a:xfrm>
            <a:off x="1828800" y="342900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57</a:t>
            </a:r>
            <a:endParaRPr lang="en-IN" sz="4000" b="1" dirty="0"/>
          </a:p>
        </p:txBody>
      </p:sp>
      <p:sp>
        <p:nvSpPr>
          <p:cNvPr id="9" name="Rectangle: Rounded Corners 24"/>
          <p:cNvSpPr/>
          <p:nvPr/>
        </p:nvSpPr>
        <p:spPr>
          <a:xfrm>
            <a:off x="3712463" y="342900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23</a:t>
            </a:r>
            <a:endParaRPr lang="en-IN" sz="4000" b="1" dirty="0"/>
          </a:p>
        </p:txBody>
      </p:sp>
      <p:sp>
        <p:nvSpPr>
          <p:cNvPr id="10" name="Rectangle: Rounded Corners 24"/>
          <p:cNvSpPr/>
          <p:nvPr/>
        </p:nvSpPr>
        <p:spPr>
          <a:xfrm>
            <a:off x="5586984" y="342900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33</a:t>
            </a:r>
            <a:endParaRPr lang="en-IN" sz="4000" b="1" dirty="0"/>
          </a:p>
        </p:txBody>
      </p:sp>
      <p:sp>
        <p:nvSpPr>
          <p:cNvPr id="11" name="TextBox 10"/>
          <p:cNvSpPr txBox="1"/>
          <p:nvPr/>
        </p:nvSpPr>
        <p:spPr>
          <a:xfrm>
            <a:off x="8229600" y="731520"/>
            <a:ext cx="3593592" cy="4108817"/>
          </a:xfrm>
          <a:prstGeom prst="rect">
            <a:avLst/>
          </a:prstGeom>
          <a:noFill/>
        </p:spPr>
        <p:txBody>
          <a:bodyPr wrap="square">
            <a:spAutoFit/>
          </a:bodyPr>
          <a:lstStyle/>
          <a:p>
            <a:r>
              <a:rPr sz="1700" b="1" dirty="0">
                <a:solidFill>
                  <a:srgbClr val="0B3D8C"/>
                </a:solidFill>
              </a:rPr>
              <a:t>Recommendations</a:t>
            </a:r>
          </a:p>
          <a:p>
            <a:r>
              <a:rPr lang="en-US" sz="1300" b="1" i="0" dirty="0">
                <a:solidFill>
                  <a:srgbClr val="1B2A44"/>
                </a:solidFill>
              </a:rPr>
              <a:t>Instruction: </a:t>
            </a:r>
            <a:r>
              <a:rPr lang="hi-IN" sz="1200" dirty="0">
                <a:solidFill>
                  <a:srgbClr val="1B2A44"/>
                </a:solidFill>
              </a:rPr>
              <a:t>संख्याएँ</a:t>
            </a:r>
            <a:r>
              <a:rPr lang="hi-IN" sz="1300" b="0" i="0" dirty="0">
                <a:solidFill>
                  <a:srgbClr val="1B2A44"/>
                </a:solidFill>
              </a:rPr>
              <a:t> घटाइए।</a:t>
            </a:r>
          </a:p>
          <a:p>
            <a:endParaRPr lang="hi-IN" sz="1300" b="0" i="0" dirty="0">
              <a:solidFill>
                <a:srgbClr val="1B2A44"/>
              </a:solidFill>
            </a:endParaRPr>
          </a:p>
          <a:p>
            <a:r>
              <a:rPr lang="en-US" sz="1300" b="1" i="0" dirty="0">
                <a:solidFill>
                  <a:srgbClr val="1B2A44"/>
                </a:solidFill>
              </a:rPr>
              <a:t>Equation: replace this screen with the shown screen:</a:t>
            </a:r>
          </a:p>
          <a:p>
            <a:endParaRPr lang="hi-IN" sz="1300" b="0" i="0" dirty="0">
              <a:solidFill>
                <a:srgbClr val="1B2A44"/>
              </a:solidFill>
            </a:endParaRPr>
          </a:p>
          <a:p>
            <a:r>
              <a:rPr lang="en-US" sz="1300" b="0" i="0" dirty="0">
                <a:solidFill>
                  <a:srgbClr val="1B2A44"/>
                </a:solidFill>
              </a:rPr>
              <a:t>VO: </a:t>
            </a:r>
            <a:r>
              <a:rPr lang="hi-IN" sz="1300" b="0" i="0" dirty="0">
                <a:solidFill>
                  <a:srgbClr val="1B2A44"/>
                </a:solidFill>
              </a:rPr>
              <a:t>45 में से 12 घटाइए</a:t>
            </a:r>
            <a:r>
              <a:rPr lang="en-US" sz="1300" b="0" i="0" dirty="0">
                <a:solidFill>
                  <a:srgbClr val="1B2A44"/>
                </a:solidFill>
              </a:rPr>
              <a:t> </a:t>
            </a:r>
            <a:r>
              <a:rPr lang="hi-IN" sz="1300" b="0" i="0" dirty="0">
                <a:solidFill>
                  <a:srgbClr val="1B2A44"/>
                </a:solidFill>
              </a:rPr>
              <a:t>और सही संख्या चुनिए।</a:t>
            </a:r>
          </a:p>
          <a:p>
            <a:endParaRPr lang="hi-IN" sz="1300" b="0" i="0" dirty="0">
              <a:solidFill>
                <a:srgbClr val="1B2A44"/>
              </a:solidFill>
            </a:endParaRPr>
          </a:p>
          <a:p>
            <a:endParaRPr lang="hi-IN" sz="1300" b="0" i="0" dirty="0">
              <a:solidFill>
                <a:srgbClr val="1B2A44"/>
              </a:solidFill>
            </a:endParaRPr>
          </a:p>
          <a:p>
            <a:pPr lvl="0">
              <a:defRPr/>
            </a:pPr>
            <a:r>
              <a:rPr lang="en-GB" sz="1400" dirty="0">
                <a:solidFill>
                  <a:srgbClr val="1B2A44"/>
                </a:solidFill>
              </a:rPr>
              <a:t>Hint: If the child choose </a:t>
            </a:r>
            <a:r>
              <a:rPr lang="hi-IN" sz="1400" dirty="0">
                <a:solidFill>
                  <a:srgbClr val="1B2A44"/>
                </a:solidFill>
              </a:rPr>
              <a:t>33</a:t>
            </a:r>
            <a:r>
              <a:rPr lang="en-GB" sz="1400" dirty="0">
                <a:solidFill>
                  <a:srgbClr val="1B2A44"/>
                </a:solidFill>
              </a:rPr>
              <a:t>, the VO</a:t>
            </a:r>
          </a:p>
          <a:p>
            <a:pPr lvl="0">
              <a:defRPr/>
            </a:pPr>
            <a:r>
              <a:rPr lang="hi-IN" sz="1400" dirty="0">
                <a:solidFill>
                  <a:srgbClr val="1B2A44"/>
                </a:solidFill>
              </a:rPr>
              <a:t>शाबाश! आपने सही संख्या चुन ली। 45 घटा 12 बराबर 33।  [</a:t>
            </a:r>
            <a:r>
              <a:rPr lang="en-GB" sz="1400" dirty="0">
                <a:solidFill>
                  <a:srgbClr val="1B2A44"/>
                </a:solidFill>
              </a:rPr>
              <a:t>Number Sync with VO]</a:t>
            </a:r>
            <a:endParaRPr lang="en-GB" sz="1400" dirty="0">
              <a:solidFill>
                <a:srgbClr val="1B2A44"/>
              </a:solidFill>
              <a:cs typeface="Mangal" panose="02040503050203030202" pitchFamily="18" charset="0"/>
            </a:endParaRPr>
          </a:p>
          <a:p>
            <a:pPr lvl="0">
              <a:defRPr/>
            </a:pPr>
            <a:endParaRPr lang="en-GB" sz="1400" dirty="0">
              <a:solidFill>
                <a:srgbClr val="1B2A44"/>
              </a:solidFill>
            </a:endParaRPr>
          </a:p>
          <a:p>
            <a:pPr lvl="0">
              <a:defRPr/>
            </a:pPr>
            <a:r>
              <a:rPr lang="en-GB" sz="1400" dirty="0">
                <a:solidFill>
                  <a:srgbClr val="1B2A44"/>
                </a:solidFill>
              </a:rPr>
              <a:t>If the child choose </a:t>
            </a:r>
            <a:r>
              <a:rPr lang="hi-IN" sz="1400" dirty="0">
                <a:solidFill>
                  <a:srgbClr val="1B2A44"/>
                </a:solidFill>
              </a:rPr>
              <a:t>57 or 23</a:t>
            </a:r>
            <a:r>
              <a:rPr lang="en-GB" sz="1400" dirty="0">
                <a:solidFill>
                  <a:srgbClr val="1B2A44"/>
                </a:solidFill>
              </a:rPr>
              <a:t>, the VO: </a:t>
            </a:r>
            <a:r>
              <a:rPr lang="hi-IN" sz="1400" dirty="0">
                <a:solidFill>
                  <a:srgbClr val="1B2A44"/>
                </a:solidFill>
              </a:rPr>
              <a:t>फिर से घटाइए। </a:t>
            </a:r>
          </a:p>
          <a:p>
            <a:pPr lvl="0">
              <a:defRPr/>
            </a:pPr>
            <a:r>
              <a:rPr lang="en-GB" sz="1400" dirty="0">
                <a:solidFill>
                  <a:srgbClr val="1B2A44"/>
                </a:solidFill>
              </a:rPr>
              <a:t>If the child choose </a:t>
            </a:r>
            <a:r>
              <a:rPr lang="hi-IN" sz="1400" dirty="0">
                <a:solidFill>
                  <a:srgbClr val="1B2A44"/>
                </a:solidFill>
              </a:rPr>
              <a:t>57 or 23</a:t>
            </a:r>
            <a:r>
              <a:rPr lang="en-GB" sz="1400" dirty="0">
                <a:solidFill>
                  <a:srgbClr val="1B2A44"/>
                </a:solidFill>
              </a:rPr>
              <a:t>, the VO: </a:t>
            </a:r>
            <a:r>
              <a:rPr lang="hi-IN" sz="1400" dirty="0">
                <a:solidFill>
                  <a:srgbClr val="1B2A44"/>
                </a:solidFill>
              </a:rPr>
              <a:t>45 मे से 12 घटाने पर 33 बचता है। तो सही संख्या यह है। </a:t>
            </a:r>
          </a:p>
          <a:p>
            <a:pPr lvl="0">
              <a:defRPr/>
            </a:pPr>
            <a:r>
              <a:rPr lang="en-GB" sz="1400" dirty="0">
                <a:solidFill>
                  <a:srgbClr val="1B2A44"/>
                </a:solidFill>
              </a:rPr>
              <a:t>Glow number </a:t>
            </a:r>
            <a:r>
              <a:rPr lang="hi-IN" sz="1400" dirty="0">
                <a:solidFill>
                  <a:srgbClr val="1B2A44"/>
                </a:solidFill>
              </a:rPr>
              <a:t>33 </a:t>
            </a:r>
            <a:r>
              <a:rPr lang="en-GB" sz="1400" dirty="0">
                <a:solidFill>
                  <a:srgbClr val="1B2A44"/>
                </a:solidFill>
              </a:rPr>
              <a:t>and other two non-clickable.</a:t>
            </a:r>
            <a:endParaRPr lang="hi-IN" sz="1300" b="0" i="0" dirty="0">
              <a:solidFill>
                <a:srgbClr val="1B2A4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14 · 14_PICK_SET_BY_NUMBER.png</a:t>
            </a:r>
          </a:p>
        </p:txBody>
      </p:sp>
      <p:pic>
        <p:nvPicPr>
          <p:cNvPr id="3" name="Picture 2" descr="14_PICK_SET_BY_NUMBER.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3592" cy="815608"/>
          </a:xfrm>
          <a:prstGeom prst="rect">
            <a:avLst/>
          </a:prstGeom>
          <a:noFill/>
        </p:spPr>
        <p:txBody>
          <a:bodyPr wrap="square">
            <a:spAutoFit/>
          </a:bodyPr>
          <a:lstStyle/>
          <a:p>
            <a:r>
              <a:rPr sz="1700" b="1" dirty="0">
                <a:solidFill>
                  <a:srgbClr val="0B3D8C"/>
                </a:solidFill>
              </a:rPr>
              <a:t>Recommendations</a:t>
            </a:r>
          </a:p>
          <a:p>
            <a:endParaRPr sz="1700" b="1" dirty="0">
              <a:solidFill>
                <a:srgbClr val="0B3D8C"/>
              </a:solidFill>
            </a:endParaRPr>
          </a:p>
          <a:p>
            <a:r>
              <a:rPr lang="en-US" sz="1300" b="0" i="0" dirty="0">
                <a:solidFill>
                  <a:srgbClr val="1B2A44"/>
                </a:solidFill>
              </a:rPr>
              <a:t>Delete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15 · 15_COUNT_DRAG_MATCH.png</a:t>
            </a:r>
          </a:p>
        </p:txBody>
      </p:sp>
      <p:pic>
        <p:nvPicPr>
          <p:cNvPr id="3" name="Picture 2" descr="15_COUNT_DRAG_MATCH.png"/>
          <p:cNvPicPr>
            <a:picLocks noChangeAspect="1"/>
          </p:cNvPicPr>
          <p:nvPr/>
        </p:nvPicPr>
        <p:blipFill>
          <a:blip r:embed="rId2"/>
          <a:stretch>
            <a:fillRect/>
          </a:stretch>
        </p:blipFill>
        <p:spPr>
          <a:xfrm>
            <a:off x="365760" y="731520"/>
            <a:ext cx="7680960" cy="4310096"/>
          </a:xfrm>
          <a:prstGeom prst="rect">
            <a:avLst/>
          </a:prstGeom>
        </p:spPr>
      </p:pic>
      <p:sp>
        <p:nvSpPr>
          <p:cNvPr id="5" name="Rectangle 4"/>
          <p:cNvSpPr/>
          <p:nvPr/>
        </p:nvSpPr>
        <p:spPr>
          <a:xfrm>
            <a:off x="411480" y="1417320"/>
            <a:ext cx="7589520" cy="3063240"/>
          </a:xfrm>
          <a:prstGeom prst="rect">
            <a:avLst/>
          </a:prstGeom>
          <a:solidFill>
            <a:srgbClr val="FA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44168" y="1051560"/>
            <a:ext cx="4937760" cy="369332"/>
          </a:xfrm>
          <a:prstGeom prst="rect">
            <a:avLst/>
          </a:prstGeom>
          <a:solidFill>
            <a:schemeClr val="accent1">
              <a:lumMod val="20000"/>
              <a:lumOff val="80000"/>
            </a:schemeClr>
          </a:solidFill>
        </p:spPr>
        <p:txBody>
          <a:bodyPr wrap="square">
            <a:spAutoFit/>
          </a:bodyPr>
          <a:lstStyle/>
          <a:p>
            <a:r>
              <a:rPr lang="hi-IN" sz="1800" dirty="0">
                <a:solidFill>
                  <a:srgbClr val="1B2A44"/>
                </a:solidFill>
              </a:rPr>
              <a:t>संख्याएं घटाइए।</a:t>
            </a:r>
          </a:p>
        </p:txBody>
      </p:sp>
      <p:sp>
        <p:nvSpPr>
          <p:cNvPr id="7" name="Rectangle: Rounded Corners 10"/>
          <p:cNvSpPr/>
          <p:nvPr/>
        </p:nvSpPr>
        <p:spPr>
          <a:xfrm>
            <a:off x="2926080" y="2377440"/>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90  −  40  =  ?</a:t>
            </a:r>
            <a:endParaRPr lang="en-IN" sz="3200" b="1" dirty="0"/>
          </a:p>
        </p:txBody>
      </p:sp>
      <p:sp>
        <p:nvSpPr>
          <p:cNvPr id="8" name="Rectangle: Rounded Corners 20"/>
          <p:cNvSpPr/>
          <p:nvPr/>
        </p:nvSpPr>
        <p:spPr>
          <a:xfrm>
            <a:off x="3831336" y="4379976"/>
            <a:ext cx="914400"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9" name="Keypad" descr="black and white icons Stock Vector | Adobe Stock"/>
          <p:cNvPicPr>
            <a:picLocks noChangeAspect="1" noChangeArrowheads="1"/>
          </p:cNvPicPr>
          <p:nvPr/>
        </p:nvPicPr>
        <p:blipFill rotWithShape="1">
          <a:blip r:embed="rId3"/>
          <a:srcRect l="16950" t="13066" r="16336" b="14533"/>
          <a:stretch>
            <a:fillRect/>
          </a:stretch>
        </p:blipFill>
        <p:spPr bwMode="auto">
          <a:xfrm>
            <a:off x="3648456" y="5074920"/>
            <a:ext cx="1282082" cy="1391371"/>
          </a:xfrm>
          <a:prstGeom prst="rect">
            <a:avLst/>
          </a:prstGeom>
          <a:noFill/>
        </p:spPr>
      </p:pic>
      <p:sp>
        <p:nvSpPr>
          <p:cNvPr id="10" name="TextBox 9"/>
          <p:cNvSpPr txBox="1"/>
          <p:nvPr/>
        </p:nvSpPr>
        <p:spPr>
          <a:xfrm>
            <a:off x="8229600" y="731520"/>
            <a:ext cx="3593592" cy="5232202"/>
          </a:xfrm>
          <a:prstGeom prst="rect">
            <a:avLst/>
          </a:prstGeom>
          <a:noFill/>
        </p:spPr>
        <p:txBody>
          <a:bodyPr wrap="square">
            <a:spAutoFit/>
          </a:bodyPr>
          <a:lstStyle/>
          <a:p>
            <a:r>
              <a:rPr sz="1700" b="1" dirty="0">
                <a:solidFill>
                  <a:srgbClr val="0B3D8C"/>
                </a:solidFill>
              </a:rPr>
              <a:t>Recommendations</a:t>
            </a:r>
          </a:p>
          <a:p>
            <a:r>
              <a:rPr lang="en-US" sz="1300" b="1" i="0" dirty="0">
                <a:solidFill>
                  <a:srgbClr val="1B2A44"/>
                </a:solidFill>
              </a:rPr>
              <a:t>Instruction: </a:t>
            </a:r>
            <a:r>
              <a:rPr lang="hi-IN" sz="1300" b="0" i="0" dirty="0">
                <a:solidFill>
                  <a:srgbClr val="1B2A44"/>
                </a:solidFill>
              </a:rPr>
              <a:t>संख्याएं घटाइए।</a:t>
            </a:r>
          </a:p>
          <a:p>
            <a:endParaRPr lang="hi-IN" sz="1300" b="0" i="0" dirty="0">
              <a:solidFill>
                <a:srgbClr val="1B2A44"/>
              </a:solidFill>
            </a:endParaRPr>
          </a:p>
          <a:p>
            <a:r>
              <a:rPr lang="en-US" sz="1300" b="1" i="0" dirty="0">
                <a:solidFill>
                  <a:srgbClr val="1B2A44"/>
                </a:solidFill>
              </a:rPr>
              <a:t>Equation: </a:t>
            </a:r>
            <a:r>
              <a:rPr lang="en-US" sz="1300" b="0" i="0" dirty="0">
                <a:solidFill>
                  <a:srgbClr val="1B2A44"/>
                </a:solidFill>
              </a:rPr>
              <a:t>96 − 40 = ?</a:t>
            </a:r>
          </a:p>
          <a:p>
            <a:r>
              <a:rPr lang="en-US" sz="1300" b="0" i="0" dirty="0">
                <a:solidFill>
                  <a:srgbClr val="1B2A44"/>
                </a:solidFill>
              </a:rPr>
              <a:t>Last item: no blocks. The child types the answer on the number pad (55).</a:t>
            </a:r>
          </a:p>
          <a:p>
            <a:endParaRPr lang="en-US" sz="1300" b="0" i="0" dirty="0">
              <a:solidFill>
                <a:srgbClr val="1B2A44"/>
              </a:solidFill>
            </a:endParaRPr>
          </a:p>
          <a:p>
            <a:r>
              <a:rPr lang="hi-IN" sz="1300" b="0" i="0" dirty="0">
                <a:solidFill>
                  <a:srgbClr val="1B2A44"/>
                </a:solidFill>
              </a:rPr>
              <a:t>96 में से 4</a:t>
            </a:r>
            <a:r>
              <a:rPr lang="en-US" sz="1300" b="0" i="0" dirty="0">
                <a:solidFill>
                  <a:srgbClr val="1B2A44"/>
                </a:solidFill>
              </a:rPr>
              <a:t>0</a:t>
            </a:r>
            <a:r>
              <a:rPr lang="hi-IN" sz="1300" b="0" i="0" dirty="0">
                <a:solidFill>
                  <a:srgbClr val="1B2A44"/>
                </a:solidFill>
              </a:rPr>
              <a:t> घटाइए</a:t>
            </a:r>
            <a:r>
              <a:rPr lang="en-US" sz="1300" b="0" i="0" dirty="0">
                <a:solidFill>
                  <a:srgbClr val="1B2A44"/>
                </a:solidFill>
              </a:rPr>
              <a:t> </a:t>
            </a:r>
            <a:r>
              <a:rPr lang="hi-IN" sz="1300" b="0" i="0" dirty="0">
                <a:solidFill>
                  <a:srgbClr val="1B2A44"/>
                </a:solidFill>
              </a:rPr>
              <a:t>और डिब्बे पर टैप करके सही संख्या लिखिए।</a:t>
            </a:r>
          </a:p>
          <a:p>
            <a:endParaRPr lang="en-US" sz="1300" b="0" i="0" dirty="0">
              <a:solidFill>
                <a:srgbClr val="1B2A44"/>
              </a:solidFill>
            </a:endParaRPr>
          </a:p>
          <a:p>
            <a:r>
              <a:rPr lang="en-US" sz="1300" dirty="0">
                <a:solidFill>
                  <a:srgbClr val="1B2A44"/>
                </a:solidFill>
              </a:rPr>
              <a:t>Hint: If the child enter the correct answer 50, VO:</a:t>
            </a:r>
          </a:p>
          <a:p>
            <a:r>
              <a:rPr lang="hi-IN" sz="1300" b="0" i="0" dirty="0">
                <a:solidFill>
                  <a:srgbClr val="1B2A44"/>
                </a:solidFill>
              </a:rPr>
              <a:t>शाबाश! 9</a:t>
            </a:r>
            <a:r>
              <a:rPr lang="en-US" sz="1300" b="0" i="0" dirty="0">
                <a:solidFill>
                  <a:srgbClr val="1B2A44"/>
                </a:solidFill>
              </a:rPr>
              <a:t>0</a:t>
            </a:r>
            <a:r>
              <a:rPr lang="hi-IN" sz="1300" b="0" i="0" dirty="0">
                <a:solidFill>
                  <a:srgbClr val="1B2A44"/>
                </a:solidFill>
              </a:rPr>
              <a:t> घटा 4</a:t>
            </a:r>
            <a:r>
              <a:rPr lang="en-US" sz="1300" b="0" i="0" dirty="0">
                <a:solidFill>
                  <a:srgbClr val="1B2A44"/>
                </a:solidFill>
              </a:rPr>
              <a:t>0</a:t>
            </a:r>
            <a:r>
              <a:rPr lang="hi-IN" sz="1300" b="0" i="0" dirty="0">
                <a:solidFill>
                  <a:srgbClr val="1B2A44"/>
                </a:solidFill>
              </a:rPr>
              <a:t> बराबर 5</a:t>
            </a:r>
            <a:r>
              <a:rPr lang="en-US" sz="1300" b="0" i="0" dirty="0">
                <a:solidFill>
                  <a:srgbClr val="1B2A44"/>
                </a:solidFill>
              </a:rPr>
              <a:t>0.</a:t>
            </a:r>
          </a:p>
          <a:p>
            <a:r>
              <a:rPr lang="en-US" sz="1300" b="0" i="0" dirty="0">
                <a:solidFill>
                  <a:srgbClr val="1B2A44"/>
                </a:solidFill>
              </a:rPr>
              <a:t>If the child enter any number, the VO: </a:t>
            </a:r>
            <a:r>
              <a:rPr lang="hi-IN" sz="1300" b="0" i="0" dirty="0">
                <a:solidFill>
                  <a:srgbClr val="1B2A44"/>
                </a:solidFill>
              </a:rPr>
              <a:t>फिर से कोशिश करिए। </a:t>
            </a:r>
          </a:p>
          <a:p>
            <a:r>
              <a:rPr lang="en-US" sz="1300" dirty="0">
                <a:solidFill>
                  <a:srgbClr val="1B2A44"/>
                </a:solidFill>
              </a:rPr>
              <a:t>If the child enter any other number, the VO: </a:t>
            </a:r>
            <a:r>
              <a:rPr lang="hi-IN" sz="1300" dirty="0">
                <a:solidFill>
                  <a:srgbClr val="1B2A44"/>
                </a:solidFill>
              </a:rPr>
              <a:t> </a:t>
            </a:r>
          </a:p>
          <a:p>
            <a:r>
              <a:rPr lang="hi-IN" sz="1300" b="0" i="0" dirty="0">
                <a:solidFill>
                  <a:srgbClr val="1B2A44"/>
                </a:solidFill>
              </a:rPr>
              <a:t>संख्याओं मे पहले इकाई के स्थान से घटाइए, फिर दहाई के स्थान से घटाइए।</a:t>
            </a:r>
          </a:p>
          <a:p>
            <a:pPr lvl="0">
              <a:defRPr/>
            </a:pPr>
            <a:r>
              <a:rPr lang="en-US" sz="1300" dirty="0">
                <a:solidFill>
                  <a:srgbClr val="1B2A44"/>
                </a:solidFill>
              </a:rPr>
              <a:t>If the child enter any other number, the VO: </a:t>
            </a:r>
            <a:r>
              <a:rPr lang="hi-IN" sz="1300" dirty="0">
                <a:solidFill>
                  <a:srgbClr val="1B2A44"/>
                </a:solidFill>
              </a:rPr>
              <a:t> </a:t>
            </a:r>
            <a:r>
              <a:rPr lang="hi-IN" sz="1400" dirty="0">
                <a:solidFill>
                  <a:srgbClr val="1B2A44"/>
                </a:solidFill>
                <a:cs typeface="Mangal" panose="02040503050203030202" pitchFamily="18" charset="0"/>
              </a:rPr>
              <a:t>90 </a:t>
            </a:r>
            <a:r>
              <a:rPr lang="en-GB" sz="1400" dirty="0">
                <a:solidFill>
                  <a:srgbClr val="1B2A44"/>
                </a:solidFill>
                <a:cs typeface="Mangal" panose="02040503050203030202" pitchFamily="18" charset="0"/>
              </a:rPr>
              <a:t> </a:t>
            </a:r>
            <a:r>
              <a:rPr lang="hi-IN" sz="1400" dirty="0">
                <a:solidFill>
                  <a:srgbClr val="1B2A44"/>
                </a:solidFill>
              </a:rPr>
              <a:t>मे से </a:t>
            </a:r>
            <a:r>
              <a:rPr lang="hi-IN" sz="1400" dirty="0">
                <a:solidFill>
                  <a:srgbClr val="1B2A44"/>
                </a:solidFill>
                <a:cs typeface="Mangal" panose="02040503050203030202" pitchFamily="18" charset="0"/>
              </a:rPr>
              <a:t>40 </a:t>
            </a:r>
            <a:r>
              <a:rPr lang="hi-IN" sz="1400" dirty="0">
                <a:solidFill>
                  <a:srgbClr val="1B2A44"/>
                </a:solidFill>
              </a:rPr>
              <a:t>घटाने पर 50 बचता है। तो सही संख्या यह है। </a:t>
            </a:r>
          </a:p>
          <a:p>
            <a:pPr lvl="0">
              <a:defRPr/>
            </a:pPr>
            <a:r>
              <a:rPr lang="en-GB" sz="1400" dirty="0">
                <a:solidFill>
                  <a:srgbClr val="1B2A44"/>
                </a:solidFill>
              </a:rPr>
              <a:t>Glow number </a:t>
            </a:r>
            <a:r>
              <a:rPr lang="hi-IN" sz="1400" dirty="0">
                <a:solidFill>
                  <a:srgbClr val="1B2A44"/>
                </a:solidFill>
              </a:rPr>
              <a:t>5 </a:t>
            </a:r>
            <a:r>
              <a:rPr lang="en-GB" sz="1400" dirty="0">
                <a:solidFill>
                  <a:srgbClr val="1B2A44"/>
                </a:solidFill>
              </a:rPr>
              <a:t>then tap, then </a:t>
            </a:r>
            <a:r>
              <a:rPr lang="hi-IN" sz="1400" dirty="0">
                <a:solidFill>
                  <a:srgbClr val="1B2A44"/>
                </a:solidFill>
              </a:rPr>
              <a:t>0</a:t>
            </a:r>
            <a:r>
              <a:rPr lang="en-GB" sz="1400" dirty="0">
                <a:solidFill>
                  <a:srgbClr val="1B2A44"/>
                </a:solidFill>
              </a:rPr>
              <a:t> and other </a:t>
            </a:r>
            <a:r>
              <a:rPr lang="en-GB" sz="1400" dirty="0" err="1">
                <a:solidFill>
                  <a:srgbClr val="1B2A44"/>
                </a:solidFill>
              </a:rPr>
              <a:t>nos</a:t>
            </a:r>
            <a:r>
              <a:rPr lang="en-GB" sz="1400" dirty="0">
                <a:solidFill>
                  <a:srgbClr val="1B2A44"/>
                </a:solidFill>
              </a:rPr>
              <a:t> non-clickable.</a:t>
            </a:r>
            <a:endParaRPr lang="en-GB" sz="1400" dirty="0">
              <a:solidFill>
                <a:srgbClr val="1B2A44"/>
              </a:solidFill>
              <a:cs typeface="Mangal" panose="02040503050203030202" pitchFamily="18" charset="0"/>
            </a:endParaRPr>
          </a:p>
          <a:p>
            <a:endParaRPr lang="hi-IN" sz="1300" dirty="0">
              <a:solidFill>
                <a:srgbClr val="1B2A44"/>
              </a:solidFill>
            </a:endParaRPr>
          </a:p>
          <a:p>
            <a:endParaRPr lang="hi-IN" sz="1300" dirty="0">
              <a:solidFill>
                <a:srgbClr val="1B2A44"/>
              </a:solidFill>
            </a:endParaRPr>
          </a:p>
          <a:p>
            <a:endParaRPr lang="hi-IN" sz="1300" b="0" i="0" dirty="0">
              <a:solidFill>
                <a:srgbClr val="1B2A4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BA0AE-BE1A-F03E-67EC-1B71BE17B813}"/>
              </a:ext>
            </a:extLst>
          </p:cNvPr>
          <p:cNvPicPr>
            <a:picLocks noChangeAspect="1"/>
          </p:cNvPicPr>
          <p:nvPr/>
        </p:nvPicPr>
        <p:blipFill>
          <a:blip r:embed="rId3"/>
          <a:stretch>
            <a:fillRect/>
          </a:stretch>
        </p:blipFill>
        <p:spPr>
          <a:xfrm>
            <a:off x="0" y="952017"/>
            <a:ext cx="8802369" cy="4953965"/>
          </a:xfrm>
          <a:prstGeom prst="rect">
            <a:avLst/>
          </a:prstGeom>
        </p:spPr>
      </p:pic>
      <p:sp>
        <p:nvSpPr>
          <p:cNvPr id="6" name="TextBox 5">
            <a:extLst>
              <a:ext uri="{FF2B5EF4-FFF2-40B4-BE49-F238E27FC236}">
                <a16:creationId xmlns:a16="http://schemas.microsoft.com/office/drawing/2014/main" id="{731B0CD4-F187-CEE5-3173-98A84B99F114}"/>
              </a:ext>
            </a:extLst>
          </p:cNvPr>
          <p:cNvSpPr txBox="1"/>
          <p:nvPr/>
        </p:nvSpPr>
        <p:spPr>
          <a:xfrm>
            <a:off x="3554235" y="952017"/>
            <a:ext cx="2949934" cy="523220"/>
          </a:xfrm>
          <a:prstGeom prst="rect">
            <a:avLst/>
          </a:prstGeom>
          <a:noFill/>
        </p:spPr>
        <p:txBody>
          <a:bodyPr wrap="square" rtlCol="0">
            <a:spAutoFit/>
          </a:bodyPr>
          <a:lstStyle/>
          <a:p>
            <a:r>
              <a:rPr lang="en-US" sz="2800" b="1" dirty="0"/>
              <a:t>34 – 13 = ?</a:t>
            </a:r>
          </a:p>
        </p:txBody>
      </p:sp>
      <p:pic>
        <p:nvPicPr>
          <p:cNvPr id="7" name="Picture 16" descr="A yellow cube with black background&#10;&#10;AI-generated content may be incorrect.">
            <a:extLst>
              <a:ext uri="{FF2B5EF4-FFF2-40B4-BE49-F238E27FC236}">
                <a16:creationId xmlns:a16="http://schemas.microsoft.com/office/drawing/2014/main" id="{CE3A1B8B-F863-2A29-1C7A-6DE15D7448F5}"/>
              </a:ext>
            </a:extLst>
          </p:cNvPr>
          <p:cNvPicPr>
            <a:picLocks noChangeAspect="1"/>
          </p:cNvPicPr>
          <p:nvPr/>
        </p:nvPicPr>
        <p:blipFill>
          <a:blip r:embed="rId4"/>
          <a:stretch>
            <a:fillRect/>
          </a:stretch>
        </p:blipFill>
        <p:spPr>
          <a:xfrm>
            <a:off x="5119565" y="2010541"/>
            <a:ext cx="256032" cy="219456"/>
          </a:xfrm>
          <a:prstGeom prst="rect">
            <a:avLst/>
          </a:prstGeom>
        </p:spPr>
      </p:pic>
      <p:pic>
        <p:nvPicPr>
          <p:cNvPr id="8" name="Picture 9" descr="A green rectangular object with black background&#10;&#10;AI-generated content may be incorrect.">
            <a:extLst>
              <a:ext uri="{FF2B5EF4-FFF2-40B4-BE49-F238E27FC236}">
                <a16:creationId xmlns:a16="http://schemas.microsoft.com/office/drawing/2014/main" id="{A59B2276-05B5-2272-0317-46A34F422AB4}"/>
              </a:ext>
            </a:extLst>
          </p:cNvPr>
          <p:cNvPicPr>
            <a:picLocks noChangeAspect="1"/>
          </p:cNvPicPr>
          <p:nvPr/>
        </p:nvPicPr>
        <p:blipFill>
          <a:blip r:embed="rId5"/>
          <a:srcRect l="32916" r="35816"/>
          <a:stretch>
            <a:fillRect/>
          </a:stretch>
        </p:blipFill>
        <p:spPr>
          <a:xfrm>
            <a:off x="3628618" y="1475237"/>
            <a:ext cx="246888" cy="1179576"/>
          </a:xfrm>
          <a:prstGeom prst="rect">
            <a:avLst/>
          </a:prstGeom>
        </p:spPr>
      </p:pic>
      <p:pic>
        <p:nvPicPr>
          <p:cNvPr id="9" name="Picture 16" descr="A yellow cube with black background&#10;&#10;AI-generated content may be incorrect.">
            <a:extLst>
              <a:ext uri="{FF2B5EF4-FFF2-40B4-BE49-F238E27FC236}">
                <a16:creationId xmlns:a16="http://schemas.microsoft.com/office/drawing/2014/main" id="{C9FEE50A-AD9D-850F-36D4-56CBF4C5B61B}"/>
              </a:ext>
            </a:extLst>
          </p:cNvPr>
          <p:cNvPicPr>
            <a:picLocks noChangeAspect="1"/>
          </p:cNvPicPr>
          <p:nvPr/>
        </p:nvPicPr>
        <p:blipFill>
          <a:blip r:embed="rId4"/>
          <a:stretch>
            <a:fillRect/>
          </a:stretch>
        </p:blipFill>
        <p:spPr>
          <a:xfrm>
            <a:off x="4901186" y="2010541"/>
            <a:ext cx="256032" cy="219456"/>
          </a:xfrm>
          <a:prstGeom prst="rect">
            <a:avLst/>
          </a:prstGeom>
        </p:spPr>
      </p:pic>
      <p:pic>
        <p:nvPicPr>
          <p:cNvPr id="10" name="Picture 16" descr="A yellow cube with black background&#10;&#10;AI-generated content may be incorrect.">
            <a:extLst>
              <a:ext uri="{FF2B5EF4-FFF2-40B4-BE49-F238E27FC236}">
                <a16:creationId xmlns:a16="http://schemas.microsoft.com/office/drawing/2014/main" id="{254DD5E3-DAAB-8000-B002-E3FD2129FA5E}"/>
              </a:ext>
            </a:extLst>
          </p:cNvPr>
          <p:cNvPicPr>
            <a:picLocks noChangeAspect="1"/>
          </p:cNvPicPr>
          <p:nvPr/>
        </p:nvPicPr>
        <p:blipFill>
          <a:blip r:embed="rId4"/>
          <a:stretch>
            <a:fillRect/>
          </a:stretch>
        </p:blipFill>
        <p:spPr>
          <a:xfrm>
            <a:off x="5339818" y="2014588"/>
            <a:ext cx="256032" cy="219456"/>
          </a:xfrm>
          <a:prstGeom prst="rect">
            <a:avLst/>
          </a:prstGeom>
        </p:spPr>
      </p:pic>
      <p:pic>
        <p:nvPicPr>
          <p:cNvPr id="11" name="Picture 9" descr="A green rectangular object with black background&#10;&#10;AI-generated content may be incorrect.">
            <a:extLst>
              <a:ext uri="{FF2B5EF4-FFF2-40B4-BE49-F238E27FC236}">
                <a16:creationId xmlns:a16="http://schemas.microsoft.com/office/drawing/2014/main" id="{6BDC9010-FA3C-55AD-295E-A7149C6C7F46}"/>
              </a:ext>
            </a:extLst>
          </p:cNvPr>
          <p:cNvPicPr>
            <a:picLocks noChangeAspect="1"/>
          </p:cNvPicPr>
          <p:nvPr/>
        </p:nvPicPr>
        <p:blipFill>
          <a:blip r:embed="rId5"/>
          <a:srcRect l="32916" r="35816"/>
          <a:stretch>
            <a:fillRect/>
          </a:stretch>
        </p:blipFill>
        <p:spPr>
          <a:xfrm>
            <a:off x="3875506" y="1475237"/>
            <a:ext cx="246888" cy="1179576"/>
          </a:xfrm>
          <a:prstGeom prst="rect">
            <a:avLst/>
          </a:prstGeom>
        </p:spPr>
      </p:pic>
      <p:pic>
        <p:nvPicPr>
          <p:cNvPr id="13" name="Picture 9" descr="A green rectangular object with black background&#10;&#10;AI-generated content may be incorrect.">
            <a:extLst>
              <a:ext uri="{FF2B5EF4-FFF2-40B4-BE49-F238E27FC236}">
                <a16:creationId xmlns:a16="http://schemas.microsoft.com/office/drawing/2014/main" id="{84C810C6-520D-4FFE-3C98-2B037FFBBD2C}"/>
              </a:ext>
            </a:extLst>
          </p:cNvPr>
          <p:cNvPicPr>
            <a:picLocks noChangeAspect="1"/>
          </p:cNvPicPr>
          <p:nvPr/>
        </p:nvPicPr>
        <p:blipFill>
          <a:blip r:embed="rId5"/>
          <a:srcRect l="32916" r="35816"/>
          <a:stretch>
            <a:fillRect/>
          </a:stretch>
        </p:blipFill>
        <p:spPr>
          <a:xfrm>
            <a:off x="4127203" y="1475237"/>
            <a:ext cx="246888" cy="1179576"/>
          </a:xfrm>
          <a:prstGeom prst="rect">
            <a:avLst/>
          </a:prstGeom>
        </p:spPr>
      </p:pic>
      <p:pic>
        <p:nvPicPr>
          <p:cNvPr id="14" name="Picture 16" descr="A yellow cube with black background&#10;&#10;AI-generated content may be incorrect.">
            <a:extLst>
              <a:ext uri="{FF2B5EF4-FFF2-40B4-BE49-F238E27FC236}">
                <a16:creationId xmlns:a16="http://schemas.microsoft.com/office/drawing/2014/main" id="{51E24A10-F910-4F4D-51C0-B2B510B84C6D}"/>
              </a:ext>
            </a:extLst>
          </p:cNvPr>
          <p:cNvPicPr>
            <a:picLocks noChangeAspect="1"/>
          </p:cNvPicPr>
          <p:nvPr/>
        </p:nvPicPr>
        <p:blipFill>
          <a:blip r:embed="rId4"/>
          <a:stretch>
            <a:fillRect/>
          </a:stretch>
        </p:blipFill>
        <p:spPr>
          <a:xfrm>
            <a:off x="4667022" y="2010541"/>
            <a:ext cx="256032" cy="219456"/>
          </a:xfrm>
          <a:prstGeom prst="rect">
            <a:avLst/>
          </a:prstGeom>
        </p:spPr>
      </p:pic>
      <p:sp>
        <p:nvSpPr>
          <p:cNvPr id="15" name="TextBox 14">
            <a:extLst>
              <a:ext uri="{FF2B5EF4-FFF2-40B4-BE49-F238E27FC236}">
                <a16:creationId xmlns:a16="http://schemas.microsoft.com/office/drawing/2014/main" id="{FD39E00B-6FE0-44C8-B1C1-095A747BCB4B}"/>
              </a:ext>
            </a:extLst>
          </p:cNvPr>
          <p:cNvSpPr txBox="1"/>
          <p:nvPr/>
        </p:nvSpPr>
        <p:spPr>
          <a:xfrm rot="21433363">
            <a:off x="2823939" y="3772884"/>
            <a:ext cx="2949934" cy="400110"/>
          </a:xfrm>
          <a:prstGeom prst="rect">
            <a:avLst/>
          </a:prstGeom>
          <a:noFill/>
        </p:spPr>
        <p:txBody>
          <a:bodyPr wrap="square" rtlCol="0">
            <a:spAutoFit/>
          </a:bodyPr>
          <a:lstStyle/>
          <a:p>
            <a:r>
              <a:rPr lang="en-US" sz="2000" b="1" dirty="0"/>
              <a:t>12</a:t>
            </a:r>
          </a:p>
        </p:txBody>
      </p:sp>
      <p:sp>
        <p:nvSpPr>
          <p:cNvPr id="16" name="TextBox 15">
            <a:extLst>
              <a:ext uri="{FF2B5EF4-FFF2-40B4-BE49-F238E27FC236}">
                <a16:creationId xmlns:a16="http://schemas.microsoft.com/office/drawing/2014/main" id="{1C80D9A4-6E50-D08F-5823-1E3A68BA5101}"/>
              </a:ext>
            </a:extLst>
          </p:cNvPr>
          <p:cNvSpPr txBox="1"/>
          <p:nvPr/>
        </p:nvSpPr>
        <p:spPr>
          <a:xfrm rot="254350">
            <a:off x="6051094" y="3944205"/>
            <a:ext cx="2949934" cy="400110"/>
          </a:xfrm>
          <a:prstGeom prst="rect">
            <a:avLst/>
          </a:prstGeom>
          <a:noFill/>
        </p:spPr>
        <p:txBody>
          <a:bodyPr wrap="square" rtlCol="0">
            <a:spAutoFit/>
          </a:bodyPr>
          <a:lstStyle/>
          <a:p>
            <a:r>
              <a:rPr lang="en-US" sz="2000" b="1" dirty="0"/>
              <a:t>21</a:t>
            </a:r>
          </a:p>
        </p:txBody>
      </p:sp>
      <p:sp>
        <p:nvSpPr>
          <p:cNvPr id="17" name="TextBox 16">
            <a:extLst>
              <a:ext uri="{FF2B5EF4-FFF2-40B4-BE49-F238E27FC236}">
                <a16:creationId xmlns:a16="http://schemas.microsoft.com/office/drawing/2014/main" id="{979A8193-5E7F-7881-61D8-4A6DBFFD87CA}"/>
              </a:ext>
            </a:extLst>
          </p:cNvPr>
          <p:cNvSpPr txBox="1"/>
          <p:nvPr/>
        </p:nvSpPr>
        <p:spPr>
          <a:xfrm rot="21430803">
            <a:off x="2103121" y="4836321"/>
            <a:ext cx="2949934" cy="461665"/>
          </a:xfrm>
          <a:prstGeom prst="rect">
            <a:avLst/>
          </a:prstGeom>
          <a:noFill/>
        </p:spPr>
        <p:txBody>
          <a:bodyPr wrap="square" rtlCol="0">
            <a:spAutoFit/>
          </a:bodyPr>
          <a:lstStyle/>
          <a:p>
            <a:r>
              <a:rPr lang="en-US" sz="2400" b="1" dirty="0"/>
              <a:t>42</a:t>
            </a:r>
          </a:p>
        </p:txBody>
      </p:sp>
      <p:sp>
        <p:nvSpPr>
          <p:cNvPr id="18" name="TextBox 17">
            <a:extLst>
              <a:ext uri="{FF2B5EF4-FFF2-40B4-BE49-F238E27FC236}">
                <a16:creationId xmlns:a16="http://schemas.microsoft.com/office/drawing/2014/main" id="{C0213194-4755-AA1C-4F2A-BC0F6C7DD281}"/>
              </a:ext>
            </a:extLst>
          </p:cNvPr>
          <p:cNvSpPr txBox="1"/>
          <p:nvPr/>
        </p:nvSpPr>
        <p:spPr>
          <a:xfrm rot="202719">
            <a:off x="6183240" y="5073692"/>
            <a:ext cx="2949934" cy="461665"/>
          </a:xfrm>
          <a:prstGeom prst="rect">
            <a:avLst/>
          </a:prstGeom>
          <a:noFill/>
        </p:spPr>
        <p:txBody>
          <a:bodyPr wrap="square" rtlCol="0">
            <a:spAutoFit/>
          </a:bodyPr>
          <a:lstStyle/>
          <a:p>
            <a:r>
              <a:rPr lang="en-US" sz="2400" b="1" dirty="0"/>
              <a:t>37</a:t>
            </a:r>
          </a:p>
        </p:txBody>
      </p:sp>
      <p:sp>
        <p:nvSpPr>
          <p:cNvPr id="19" name="TextBox 18">
            <a:extLst>
              <a:ext uri="{FF2B5EF4-FFF2-40B4-BE49-F238E27FC236}">
                <a16:creationId xmlns:a16="http://schemas.microsoft.com/office/drawing/2014/main" id="{D7BC2D69-67BA-9166-41CF-95102B8CE6F8}"/>
              </a:ext>
            </a:extLst>
          </p:cNvPr>
          <p:cNvSpPr txBox="1"/>
          <p:nvPr/>
        </p:nvSpPr>
        <p:spPr>
          <a:xfrm>
            <a:off x="8802368" y="4246"/>
            <a:ext cx="3389631" cy="6647974"/>
          </a:xfrm>
          <a:prstGeom prst="rect">
            <a:avLst/>
          </a:prstGeom>
          <a:noFill/>
        </p:spPr>
        <p:txBody>
          <a:bodyPr wrap="square" rtlCol="0">
            <a:spAutoFit/>
          </a:bodyPr>
          <a:lstStyle/>
          <a:p>
            <a:r>
              <a:rPr lang="en-US" sz="2400" b="1" dirty="0"/>
              <a:t>Recommendations:</a:t>
            </a:r>
          </a:p>
          <a:p>
            <a:endParaRPr lang="en-US" sz="1400" dirty="0"/>
          </a:p>
          <a:p>
            <a:r>
              <a:rPr lang="en-US" sz="1600" b="1" dirty="0"/>
              <a:t>Visual</a:t>
            </a:r>
            <a:endParaRPr lang="en-US" sz="1600" dirty="0"/>
          </a:p>
          <a:p>
            <a:r>
              <a:rPr lang="en-US" sz="1600" dirty="0"/>
              <a:t>Show </a:t>
            </a:r>
            <a:r>
              <a:rPr lang="en-US" sz="1600" b="1" dirty="0"/>
              <a:t>34 − 13 = ?</a:t>
            </a:r>
            <a:endParaRPr lang="en-US" sz="1600" dirty="0"/>
          </a:p>
          <a:p>
            <a:r>
              <a:rPr lang="en-US" sz="1600" dirty="0"/>
              <a:t>Under 34:</a:t>
            </a:r>
          </a:p>
          <a:p>
            <a:pPr lvl="1"/>
            <a:r>
              <a:rPr lang="en-US" sz="1600" dirty="0"/>
              <a:t>3 tens rods</a:t>
            </a:r>
          </a:p>
          <a:p>
            <a:pPr lvl="1"/>
            <a:r>
              <a:rPr lang="en-US" sz="1600" dirty="0"/>
              <a:t>4 ones cubes</a:t>
            </a:r>
          </a:p>
          <a:p>
            <a:r>
              <a:rPr lang="en-US" sz="1400" dirty="0"/>
              <a:t>VO“</a:t>
            </a:r>
            <a:r>
              <a:rPr lang="hi-IN" sz="1400" dirty="0"/>
              <a:t>आइए, हम एक गेम खेलते हैं। यहाँ चार नावें हैं। हर नाव पर एक संख्या लिखी हुई है। उस नाव पर उतने ही ब्लॉक्स रखे जा सकते हैं।”</a:t>
            </a:r>
            <a:endParaRPr lang="en-US" sz="1400" dirty="0"/>
          </a:p>
          <a:p>
            <a:r>
              <a:rPr lang="hi-IN" sz="1400" dirty="0"/>
              <a:t>“अभी यहाँ एक संख्या वाक्य दिया हुआ है—34 में से 13 घटाने पर कितना बचेगा? आइए, इसे करके देखते हैं।”</a:t>
            </a:r>
            <a:endParaRPr lang="en-US" sz="1400" dirty="0"/>
          </a:p>
          <a:p>
            <a:r>
              <a:rPr lang="en-US" sz="1400" dirty="0"/>
              <a:t>SFX- </a:t>
            </a:r>
          </a:p>
          <a:p>
            <a:r>
              <a:rPr lang="en-US" sz="1400" dirty="0"/>
              <a:t>	Equation appears: soft pop- 	Boats appear: light whoosh- 	Blocks appear: soft block-pop</a:t>
            </a:r>
          </a:p>
          <a:p>
            <a:r>
              <a:rPr lang="hi-IN" sz="1400" dirty="0"/>
              <a:t>“पहले 3 इकाइयाँ हटाते हैं—1, 2, 3। अब 1 इकाई बची।”</a:t>
            </a:r>
            <a:endParaRPr lang="en-US" sz="1400" dirty="0"/>
          </a:p>
          <a:p>
            <a:r>
              <a:rPr lang="hi-IN" sz="1400" dirty="0"/>
              <a:t>“अब 1 दहाई हटाते हैं। 2 दहाइयाँ बचीं।”</a:t>
            </a:r>
            <a:endParaRPr lang="en-US" sz="1400" dirty="0"/>
          </a:p>
          <a:p>
            <a:r>
              <a:rPr lang="hi-IN" sz="1400" dirty="0"/>
              <a:t>“2 दहाई और 1 इकाई यानी 21। इसलिए 34 − 13 = 21।”</a:t>
            </a:r>
            <a:endParaRPr lang="en-US" sz="1400" dirty="0"/>
          </a:p>
          <a:p>
            <a:r>
              <a:rPr lang="hi-IN" sz="1400" dirty="0"/>
              <a:t>“21 वाली नाव यह है।”</a:t>
            </a:r>
            <a:endParaRPr lang="en-US" sz="1400" dirty="0"/>
          </a:p>
          <a:p>
            <a:r>
              <a:rPr lang="en-GB" sz="1400" b="1" dirty="0"/>
              <a:t>SFX/Action:</a:t>
            </a:r>
            <a:br>
              <a:rPr lang="en-GB" sz="1400" dirty="0"/>
            </a:br>
            <a:r>
              <a:rPr lang="en-GB" sz="1400" dirty="0"/>
              <a:t>Tap 3 ones → tap 1 ten → remaining blocks glow → hand taps boat 21 → 2 tens + 1 one auto-load → boat moves forward with motor/splash SFX.</a:t>
            </a:r>
            <a:endParaRPr lang="en-US" sz="1400" dirty="0"/>
          </a:p>
        </p:txBody>
      </p:sp>
    </p:spTree>
    <p:extLst>
      <p:ext uri="{BB962C8B-B14F-4D97-AF65-F5344CB8AC3E}">
        <p14:creationId xmlns:p14="http://schemas.microsoft.com/office/powerpoint/2010/main" val="517446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16 · 16_CELEBRATION.png</a:t>
            </a:r>
          </a:p>
        </p:txBody>
      </p:sp>
      <p:pic>
        <p:nvPicPr>
          <p:cNvPr id="3" name="Picture 2" descr="16_CELEBRATION.png"/>
          <p:cNvPicPr>
            <a:picLocks noChangeAspect="1"/>
          </p:cNvPicPr>
          <p:nvPr/>
        </p:nvPicPr>
        <p:blipFill>
          <a:blip r:embed="rId2"/>
          <a:stretch>
            <a:fillRect/>
          </a:stretch>
        </p:blipFill>
        <p:spPr>
          <a:xfrm>
            <a:off x="365760" y="731520"/>
            <a:ext cx="7680960" cy="4310096"/>
          </a:xfrm>
          <a:prstGeom prst="rect">
            <a:avLst/>
          </a:prstGeom>
        </p:spPr>
      </p:pic>
      <p:sp>
        <p:nvSpPr>
          <p:cNvPr id="4" name="TextBox 3"/>
          <p:cNvSpPr txBox="1"/>
          <p:nvPr/>
        </p:nvSpPr>
        <p:spPr>
          <a:xfrm>
            <a:off x="8229600" y="731520"/>
            <a:ext cx="3593592" cy="754053"/>
          </a:xfrm>
          <a:prstGeom prst="rect">
            <a:avLst/>
          </a:prstGeom>
          <a:noFill/>
        </p:spPr>
        <p:txBody>
          <a:bodyPr wrap="square">
            <a:spAutoFit/>
          </a:bodyPr>
          <a:lstStyle/>
          <a:p>
            <a:r>
              <a:rPr sz="1700" b="1" dirty="0">
                <a:solidFill>
                  <a:srgbClr val="0B3D8C"/>
                </a:solidFill>
              </a:rPr>
              <a:t>Recommendations</a:t>
            </a:r>
          </a:p>
          <a:p>
            <a:endParaRPr lang="hi-IN" sz="1300" b="0" i="0" dirty="0">
              <a:solidFill>
                <a:srgbClr val="1B2A44"/>
              </a:solidFill>
            </a:endParaRPr>
          </a:p>
          <a:p>
            <a:r>
              <a:rPr lang="en-US" sz="1300" b="1" i="0" dirty="0">
                <a:solidFill>
                  <a:srgbClr val="1B2A44"/>
                </a:solidFill>
              </a:rPr>
              <a:t>VO: </a:t>
            </a:r>
            <a:r>
              <a:rPr lang="hi-IN" sz="1300" b="0" i="0" dirty="0">
                <a:solidFill>
                  <a:srgbClr val="1B2A44"/>
                </a:solidFill>
              </a:rPr>
              <a:t>शाबाश! अब आप संख्याएँ घटाना सीख गए है।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6491</TotalTime>
  <Words>3549</Words>
  <Application>Microsoft Office PowerPoint</Application>
  <PresentationFormat>Widescreen</PresentationFormat>
  <Paragraphs>356</Paragraphs>
  <Slides>19</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ADLaM Display</vt:lpstr>
      <vt:lpstr>Aptos</vt:lpstr>
      <vt:lpstr>Arial</vt:lpstr>
      <vt:lpstr>Calibri</vt:lpstr>
      <vt:lpstr>Mangal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Saifur Rehman</cp:lastModifiedBy>
  <cp:revision>15</cp:revision>
  <dcterms:created xsi:type="dcterms:W3CDTF">2013-01-27T09:14:16Z</dcterms:created>
  <dcterms:modified xsi:type="dcterms:W3CDTF">2026-10-09T05:16:41Z</dcterms:modified>
  <cp:category/>
</cp:coreProperties>
</file>