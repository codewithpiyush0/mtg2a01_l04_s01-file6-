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377440"/>
            <a:ext cx="10728655" cy="2011680"/>
          </a:xfrm>
          <a:prstGeom prst="rect">
            <a:avLst/>
          </a:prstGeom>
          <a:noFill/>
        </p:spPr>
        <p:txBody>
          <a:bodyPr wrap="square">
            <a:spAutoFit/>
          </a:bodyPr>
          <a:lstStyle/>
          <a:p>
            <a:pPr algn="ctr"/>
            <a:r>
              <a:rPr sz="4000" b="1">
                <a:solidFill>
                  <a:srgbClr val="0B3D8C"/>
                </a:solidFill>
              </a:rPr>
              <a:t>MTG2A01_L04_S01 — दहाई और इकाई से घटाइए</a:t>
            </a:r>
          </a:p>
          <a:p>
            <a:pPr algn="ctr"/>
            <a:r>
              <a:rPr sz="1800">
                <a:solidFill>
                  <a:srgbClr val="5A6678"/>
                </a:solidFill>
              </a:rPr>
              <a:t>Page-by-page review · 16 pages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822960"/>
          </a:xfrm>
          <a:prstGeom prst="rect">
            <a:avLst/>
          </a:prstGeom>
          <a:noFill/>
        </p:spPr>
        <p:txBody>
          <a:bodyPr wrap="none">
            <a:spAutoFit/>
          </a:bodyPr>
          <a:lstStyle/>
          <a:p>
            <a:r>
              <a:rPr sz="2800" b="1">
                <a:solidFill>
                  <a:srgbClr val="0B3D8C"/>
                </a:solidFill>
              </a:rPr>
              <a:t>Overall recommendations &amp; open questions</a:t>
            </a:r>
          </a:p>
        </p:txBody>
      </p:sp>
      <p:sp>
        <p:nvSpPr>
          <p:cNvPr id="3" name="TextBox 2"/>
          <p:cNvSpPr txBox="1"/>
          <p:nvPr/>
        </p:nvSpPr>
        <p:spPr>
          <a:xfrm>
            <a:off x="822960" y="1463040"/>
            <a:ext cx="10545775" cy="4937760"/>
          </a:xfrm>
          <a:prstGeom prst="rect">
            <a:avLst/>
          </a:prstGeom>
          <a:noFill/>
        </p:spPr>
        <p:txBody>
          <a:bodyPr wrap="square">
            <a:spAutoFit/>
          </a:bodyPr>
          <a:lstStyle/>
          <a:p>
            <a:pPr>
              <a:spcAft>
                <a:spcPts val="800"/>
              </a:spcAft>
            </a:pPr>
            <a:r>
              <a:rPr sz="1700">
                <a:solidFill>
                  <a:srgbClr val="1B2A44"/>
                </a:solidFill>
              </a:rPr>
              <a:t>• WHAT IT TEACHES — subtracting a 2-digit number from a 2-digit number horizontally, with NO regrouping, using NCERT Grade-2 base-ten blocks: a दहाई is a ten-rod, an इकाई is a single cube. The rule the game drills: दहाई दहाई से, इकाई इकाई से.</a:t>
            </a:r>
          </a:p>
          <a:p>
            <a:pPr>
              <a:spcAft>
                <a:spcPts val="800"/>
              </a:spcAft>
            </a:pPr>
            <a:r>
              <a:rPr sz="1700">
                <a:solidFill>
                  <a:srgbClr val="1B2A44"/>
                </a:solidFill>
              </a:rPr>
              <a:t>• HOW IT IS SHAPED — 3 phases. Phase 1 the game teaches by itself and the child only watches (the shop story from SME pathway 2, told in blocks: 57, take 23, 34 left). Phase 2 the child does it with support. Phase 3 the child works alone with a hint ladder that always ends in a reveal. No score, no timer.</a:t>
            </a:r>
          </a:p>
          <a:p>
            <a:pPr>
              <a:spcAft>
                <a:spcPts val="800"/>
              </a:spcAft>
            </a:pPr>
            <a:r>
              <a:rPr sz="1700">
                <a:solidFill>
                  <a:srgbClr val="1B2A44"/>
                </a:solidFill>
              </a:rPr>
              <a:t>• SIX PROBLEMS, none repeated — teach 57-23=34 · guided 68-25=43 · practice 79-34=45, 86-52=34, 45-12=33, 96-41=55. Each one is finished across TWO screens (the इकाई column, then the दहाई column) and the horizontal sentence is shown and spoken every time.</a:t>
            </a:r>
          </a:p>
          <a:p>
            <a:pPr>
              <a:spcAft>
                <a:spcPts val="800"/>
              </a:spcAft>
            </a:pPr>
            <a:r>
              <a:rPr sz="1700">
                <a:solidFill>
                  <a:srgbClr val="1B2A44"/>
                </a:solidFill>
              </a:rPr>
              <a:t>• FOUR DIFFERENT HAND ACTIONS across 11 test screens, no family over 27% — tap-each-leftover-into-the-tray (ENACT ×3), BUILD the rods that remain (PRODUCE ×3), count-then-record the digit by dragging (DRAG ×3, both drag modes), and pick-the-group (PICK ×2).</a:t>
            </a:r>
          </a:p>
          <a:p>
            <a:pPr>
              <a:spcAft>
                <a:spcPts val="800"/>
              </a:spcAft>
            </a:pPr>
            <a:r>
              <a:rPr sz="1700">
                <a:solidFill>
                  <a:srgbClr val="1B2A44"/>
                </a:solidFill>
              </a:rPr>
              <a:t>• WHY IT WORKS COLUMN BY COLUMN — the row's own pre-skills are 'subtract 1-digit numbers' and 'compose/decompose numbers'. Every screen is therefore exactly one 1-digit subtraction in one place-value column, and the answer is composed back from दहाई + इकाई. It also keeps this skill strictly no-regrouping, which is what separates it from its sibling MTG2A01_L04_S02 (with borrow).</a:t>
            </a:r>
          </a:p>
          <a:p>
            <a:pPr>
              <a:spcAft>
                <a:spcPts val="800"/>
              </a:spcAft>
            </a:pPr>
            <a:r>
              <a:rPr sz="1700">
                <a:solidFill>
                  <a:srgbClr val="1B2A44"/>
                </a:solidFill>
              </a:rPr>
              <a:t>• ✅ FIXED BEFORE YOU SAW IT (self-review pass): the landing title showed only 'घटाओ' (the engine strips text after a ':') and was informal तुम in an आप game — retitled; the collecting tray was rendering as a raw 🧺 emoji — real tray art supplied; and the first cut of the story scenes had the leftmost rod clipped by the picture frame — recomposed with a safe margin.</a:t>
            </a:r>
          </a:p>
          <a:p>
            <a:pPr>
              <a:spcAft>
                <a:spcPts val="800"/>
              </a:spcAft>
            </a:pPr>
            <a:r>
              <a:rPr sz="1700">
                <a:solidFill>
                  <a:srgbClr val="1B2A44"/>
                </a:solidFill>
              </a:rPr>
              <a:t>• ℹ THE STORY PICTURES ARE COMPOSED, NOT AI-DRAWN — they are assembled pixel-by-pixel from the same rod and cube art the interactive screens use. Image models do not reliably draw an exact count, and in this lesson the count is the content, so 5 rods + 7 cubes is guaranteed, not hoped for.</a:t>
            </a:r>
          </a:p>
          <a:p>
            <a:pPr>
              <a:spcAft>
                <a:spcPts val="800"/>
              </a:spcAft>
            </a:pPr>
            <a:r>
              <a:rPr sz="1700">
                <a:solidFill>
                  <a:srgbClr val="1B2A44"/>
                </a:solidFill>
              </a:rPr>
              <a:t>• TWO THINGS THE KIT WOULD NOT LET ME FIX — (a) there is NO take-away/place-value mechanic in this kit: nothing renders rods and cubes together and nothing lets a child REMOVE blocks and watch the remainder compose, so the take-away is enacted in the Phase-1 story art and narrated on the interactive screens while the child handles the REMAINDER; (b) the BUILD screens say 'डालो' (informal) on the chip while the game is polite आप — hardcoded in the shared engine. The engine is read-only in this kit, so both are written up as engine tickets. Proposed mechanic SUBTRACT_BLOCKS is spec'd in the build script header — it would put a whole 2-digit subtraction on ONE enacted screen.</a:t>
            </a:r>
          </a:p>
          <a:p>
            <a:pPr>
              <a:spcAft>
                <a:spcPts val="800"/>
              </a:spcAft>
            </a:pPr>
            <a:r>
              <a:rPr sz="1700">
                <a:solidFill>
                  <a:srgbClr val="1B2A44"/>
                </a:solidFill>
              </a:rPr>
              <a:t>• ❓ FOR YOU TO DECIDE — (1) are दहाई / इकाई the words your Grade 2 classrooms use, or do you prefer 'दस का बंडल / इकाई'? (2) the shop framing is SME pathway 2 but the manipulative is blocks, per your instruction — is dropping the pencils right? (3) is six problems the right amount, or would you ramp further (e.g. to 98-76)?</a:t>
            </a:r>
          </a:p>
          <a:p>
            <a:pPr>
              <a:spcAft>
                <a:spcPts val="800"/>
              </a:spcAft>
            </a:pPr>
            <a:r>
              <a:rPr sz="1700">
                <a:solidFill>
                  <a:srgbClr val="1B2A44"/>
                </a:solidFill>
              </a:rPr>
              <a:t>• कान से जाँचें / EAR-CHECK — all 60 Hindi lines are machine-generated (voice: Kore). One clip needs a specific listen: 'पाँच' (vo_num_5) — the TTS refuses that bare word, so it was cut out of a carrier phrase. Please confirm it sounds clean, and listen to the rest before this reaches children.</a:t>
            </a:r>
          </a:p>
          <a:p>
            <a:pPr>
              <a:spcAft>
                <a:spcPts val="800"/>
              </a:spcAft>
            </a:pPr>
            <a:r>
              <a:rPr sz="1700">
                <a:solidFill>
                  <a:srgbClr val="1B2A44"/>
                </a:solidFill>
              </a:rPr>
              <a:t>• REGISTER — polite आप throughout (देखिए, डालिए, बनाइए, गिनिए, रखिए), matching the kit's standard phase-change lines. Shown text always equals the spoken 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 · 01_landing.png</a:t>
            </a:r>
          </a:p>
        </p:txBody>
      </p:sp>
      <p:pic>
        <p:nvPicPr>
          <p:cNvPr id="3" name="Picture 2" descr="01_landing.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LANDING. The strip is the whole idea at a glance: दहाई rods + इकाई cubes. ✅ FIXED: the title was 'घटाओ: दहाई और इकाई' — the engine strips everything after a ':' so it displayed as a bare 'घटाओ', AND घटाओ is informal तुम while this game is polite आप. Now 'दहाई और इकाई से घटाइए'.</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2 · 02_STORY_SCENE.png</a:t>
            </a:r>
          </a:p>
        </p:txBody>
      </p:sp>
      <p:pic>
        <p:nvPicPr>
          <p:cNvPr id="3" name="Picture 2" descr="02_STORY_SCENE.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PHASE 1 · TEACH — plays BY ITSELF, the child only watches (never a test). The shop has 57 pencils: FIVE tens-rods and SEVEN ones-cubes. The narration names the blocks — 'लंबी छड़ एक दहाई है, छोटा घन एक इकाई है' — before any screen depends on those words.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3 · 03_STORY_SCENE.png</a:t>
            </a:r>
          </a:p>
        </p:txBody>
      </p:sp>
      <p:pic>
        <p:nvPicPr>
          <p:cNvPr id="3" name="Picture 2" descr="03_STORY_SCENE.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PHASE 1 · TEACH — the take-away itself. 23 goes: TWO rods and THREE cubes fade and lift away, the rest stay solid. ℹ These three scenes are composed pixel-by-pixel from the real rod/cube art, NOT AI-generated as a picture — image models do not reliably draw an exact count, and here the count IS the maths.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4 · 04_STORY_SCENE.png</a:t>
            </a:r>
          </a:p>
        </p:txBody>
      </p:sp>
      <p:pic>
        <p:nvPicPr>
          <p:cNvPr id="3" name="Picture 2" descr="04_STORY_SCENE.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PHASE 1 · TEACH — the result: THREE rods and FOUR cubes remain, and the caption is the horizontal sentence '57 - 23 = 34'. The narration states the rule the whole game runs on: दहाई दहाई से, इकाई इकाई से घटाइए.</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5 · 05_COUNT_ACTION.png</a:t>
            </a:r>
          </a:p>
        </p:txBody>
      </p:sp>
      <p:pic>
        <p:nvPicPr>
          <p:cNvPr id="3" name="Picture 2" descr="05_COUNT_ACTION.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PHASE 2 · GUIDED — 68 - 25, इकाई column. 'आठ इकाई में से पाँच गईं' — the child taps each REMAINING cube into the tray and says how many are left (3). ✅ FIXED: the tray was rendering as a raw 🧺 emoji; the engine hardcodes that art key to obj_basket, so the tray art is now supplied.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6 · 06_MAKE_SET.png</a:t>
            </a:r>
          </a:p>
        </p:txBody>
      </p:sp>
      <p:pic>
        <p:nvPicPr>
          <p:cNvPr id="3" name="Picture 2" descr="06_MAKE_SET.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PHASE 2 · GUIDED — 68 - 25, दहाई column. A PRODUCE item: BUILD the four rods that remain. ❓ REGISTER CLASH (engine-level): the goal chip reads 'डालो' / 'और डालो' (informal तुम) while this game is polite आप. Hardcoded in the shared engine, which is read-only in this kit — raised as an engine ticket, same one the capacity game hit.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7 · 07_COUNT_DRAG_MATCH.png</a:t>
            </a:r>
          </a:p>
        </p:txBody>
      </p:sp>
      <p:pic>
        <p:nvPicPr>
          <p:cNvPr id="3" name="Picture 2" descr="07_COUNT_DRAG_MATCH.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PHASE 2 · GUIDED — a DIFFERENT gesture (drag, not tap). 47 - 12: count the remaining इकाई, then drag the number card into the box to RECORD it. This is SME pathway 1's 'record what remains'.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8 · 08_PICK_SET_BY_NUMBER.png</a:t>
            </a:r>
          </a:p>
        </p:txBody>
      </p:sp>
      <p:pic>
        <p:nvPicPr>
          <p:cNvPr id="3" name="Picture 2" descr="08_PICK_SET_BY_NUMBER.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PHASE 2 · GUIDED — reverse direction: the number 4 is the question, pick the group that shows four दहाई. ▲ The rods render thin/small inside the option cards; that sizing is the engine's, not this game's, so I left it — they are still countable.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9 · 09_COUNT_ACTION.png</a:t>
            </a:r>
          </a:p>
        </p:txBody>
      </p:sp>
      <p:pic>
        <p:nvPicPr>
          <p:cNvPr id="3" name="Picture 2" descr="09_COUNT_ACTION.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PHASE 3 · PRACTICE — child alone now, hint ladder as the net (try again → hint → reveal, so nobody gets stuck). 79 - 34, इकाई column: nine take four, five remain.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10 · 10_MAKE_SET.png</a:t>
            </a:r>
          </a:p>
        </p:txBody>
      </p:sp>
      <p:pic>
        <p:nvPicPr>
          <p:cNvPr id="3" name="Picture 2" descr="10_MAKE_SET.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PHASE 3 · PRACTICE — 79 - 34, दहाई column: build the four rods that remain. That completes 79 - 34 = 45.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11 · 11_COUNT_DRAG_MATCH.png</a:t>
            </a:r>
          </a:p>
        </p:txBody>
      </p:sp>
      <p:pic>
        <p:nvPicPr>
          <p:cNvPr id="3" name="Picture 2" descr="11_COUNT_DRAG_MATCH.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PHASE 3 · PRACTICE — 86 - 52, इकाई column, using the OTHER drag mode (drag the cube onto the right number, rather than the number into a box), so the two drag screens are not the same gesture twice.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12 · 12_MAKE_SET.png</a:t>
            </a:r>
          </a:p>
        </p:txBody>
      </p:sp>
      <p:pic>
        <p:nvPicPr>
          <p:cNvPr id="3" name="Picture 2" descr="12_MAKE_SET.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PHASE 3 · PRACTICE — 86 - 52, दहाई column: eight take five, three rods remain. Completes 86 - 52 = 34.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13 · 13_COUNT_ACTION.png</a:t>
            </a:r>
          </a:p>
        </p:txBody>
      </p:sp>
      <p:pic>
        <p:nvPicPr>
          <p:cNvPr id="3" name="Picture 2" descr="13_COUNT_ACTION.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PHASE 3 · PRACTICE — 45 - 12, इकाई column: five take two, three remain.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14 · 14_PICK_SET_BY_NUMBER.png</a:t>
            </a:r>
          </a:p>
        </p:txBody>
      </p:sp>
      <p:pic>
        <p:nvPicPr>
          <p:cNvPr id="3" name="Picture 2" descr="14_PICK_SET_BY_NUMBER.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PHASE 3 · PRACTICE — 45 - 12, दहाई column as a pick: which group shows three दहाई? Completes 45 - 12 = 33.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15 · 15_COUNT_DRAG_MATCH.png</a:t>
            </a:r>
          </a:p>
        </p:txBody>
      </p:sp>
      <p:pic>
        <p:nvPicPr>
          <p:cNvPr id="3" name="Picture 2" descr="15_COUNT_DRAG_MATCH.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PHASE 3 · PRACTICE — the last one, 96 - 41: six इकाई take one, five remain; record it. The reveal states the full sentence 96 - 41 = 55.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16 · 16_CELEBRATION.png</a:t>
            </a:r>
          </a:p>
        </p:txBody>
      </p:sp>
      <p:pic>
        <p:nvPicPr>
          <p:cNvPr id="3" name="Picture 2" descr="16_CELEBRATION.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FINISH. 'शाबाश! अब आप दहाई और इकाई से घटा सकते हैं!' with the rule as the closing line — दहाई दहाई से, इकाई इकाई से. No score, no timer, by design.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